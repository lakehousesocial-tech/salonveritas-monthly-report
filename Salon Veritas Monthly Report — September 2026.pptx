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5138928"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This Period</c:v>
                </c:pt>
              </c:strCache>
            </c:strRef>
          </c:tx>
          <c:spPr>
            <a:ln w="25400">
              <a:solidFill>
                <a:srgbClr val="B8965A"/>
              </a:solidFill>
            </a:ln>
          </c:spPr>
          <c:marker>
            <c:symbol val="none"/>
          </c:marker>
          <c:cat>
            <c:strRef>
              <c:f>Sheet1!$A$2:$A$31</c:f>
              <c:strCache>
                <c:ptCount val="30"/>
                <c:pt idx="0">
                  <c:v>Day 1</c:v>
                </c:pt>
                <c:pt idx="1">
                  <c:v/>
                </c:pt>
                <c:pt idx="2">
                  <c:v/>
                </c:pt>
                <c:pt idx="3">
                  <c:v/>
                </c:pt>
                <c:pt idx="4">
                  <c:v>Day 5</c:v>
                </c:pt>
                <c:pt idx="5">
                  <c:v/>
                </c:pt>
                <c:pt idx="6">
                  <c:v/>
                </c:pt>
                <c:pt idx="7">
                  <c:v/>
                </c:pt>
                <c:pt idx="8">
                  <c:v/>
                </c:pt>
                <c:pt idx="9">
                  <c:v>Day 10</c:v>
                </c:pt>
                <c:pt idx="10">
                  <c:v/>
                </c:pt>
                <c:pt idx="11">
                  <c:v/>
                </c:pt>
                <c:pt idx="12">
                  <c:v/>
                </c:pt>
                <c:pt idx="13">
                  <c:v/>
                </c:pt>
                <c:pt idx="14">
                  <c:v>Day 15</c:v>
                </c:pt>
                <c:pt idx="15">
                  <c:v/>
                </c:pt>
                <c:pt idx="16">
                  <c:v/>
                </c:pt>
                <c:pt idx="17">
                  <c:v/>
                </c:pt>
                <c:pt idx="18">
                  <c:v/>
                </c:pt>
                <c:pt idx="19">
                  <c:v>Day 20</c:v>
                </c:pt>
                <c:pt idx="20">
                  <c:v/>
                </c:pt>
                <c:pt idx="21">
                  <c:v/>
                </c:pt>
                <c:pt idx="22">
                  <c:v/>
                </c:pt>
                <c:pt idx="23">
                  <c:v/>
                </c:pt>
                <c:pt idx="24">
                  <c:v>Day 25</c:v>
                </c:pt>
                <c:pt idx="25">
                  <c:v/>
                </c:pt>
                <c:pt idx="26">
                  <c:v/>
                </c:pt>
                <c:pt idx="27">
                  <c:v/>
                </c:pt>
                <c:pt idx="28">
                  <c:v/>
                </c:pt>
                <c:pt idx="29">
                  <c:v>Day 30</c:v>
                </c:pt>
              </c:strCache>
            </c:strRef>
          </c:cat>
          <c:val>
            <c:numRef>
              <c:f>Sheet1!$B$2:$B$31</c:f>
              <c:numCache>
                <c:formatCode>General</c:formatCode>
                <c:ptCount val="30"/>
                <c:pt idx="0">
                  <c:v>0</c:v>
                </c:pt>
                <c:pt idx="1">
                  <c:v>0</c:v>
                </c:pt>
                <c:pt idx="2">
                  <c:v>0</c:v>
                </c:pt>
                <c:pt idx="3">
                  <c:v>270</c:v>
                </c:pt>
                <c:pt idx="4">
                  <c:v>0</c:v>
                </c:pt>
                <c:pt idx="5">
                  <c:v>0</c:v>
                </c:pt>
                <c:pt idx="6">
                  <c:v>0</c:v>
                </c:pt>
                <c:pt idx="7">
                  <c:v>0</c:v>
                </c:pt>
                <c:pt idx="8">
                  <c:v>0</c:v>
                </c:pt>
                <c:pt idx="9">
                  <c:v>0</c:v>
                </c:pt>
                <c:pt idx="10">
                  <c:v>0</c:v>
                </c:pt>
                <c:pt idx="11">
                  <c:v>0</c:v>
                </c:pt>
                <c:pt idx="12">
                  <c:v>0</c:v>
                </c:pt>
                <c:pt idx="13">
                  <c:v>2150</c:v>
                </c:pt>
                <c:pt idx="14">
                  <c:v>0</c:v>
                </c:pt>
                <c:pt idx="15">
                  <c:v>193</c:v>
                </c:pt>
                <c:pt idx="16">
                  <c:v>0</c:v>
                </c:pt>
                <c:pt idx="17">
                  <c:v>0</c:v>
                </c:pt>
                <c:pt idx="18">
                  <c:v>5367</c:v>
                </c:pt>
                <c:pt idx="19">
                  <c:v>0</c:v>
                </c:pt>
                <c:pt idx="20">
                  <c:v>0</c:v>
                </c:pt>
                <c:pt idx="21">
                  <c:v>381</c:v>
                </c:pt>
                <c:pt idx="22">
                  <c:v>0</c:v>
                </c:pt>
                <c:pt idx="23">
                  <c:v>0</c:v>
                </c:pt>
                <c:pt idx="24">
                  <c:v>227</c:v>
                </c:pt>
                <c:pt idx="25">
                  <c:v>0</c:v>
                </c:pt>
                <c:pt idx="26">
                  <c:v>0</c:v>
                </c:pt>
                <c:pt idx="27">
                  <c:v>210</c:v>
                </c:pt>
                <c:pt idx="28">
                  <c:v>0</c:v>
                </c:pt>
                <c:pt idx="29">
                  <c:v>170</c:v>
                </c:pt>
              </c:numCache>
            </c:numRef>
          </c:val>
          <c:smooth val="0"/>
        </c:ser>
        <c:ser>
          <c:idx val="1"/>
          <c:order val="1"/>
          <c:tx>
            <c:strRef>
              <c:f>Sheet1!$C$1</c:f>
              <c:strCache>
                <c:ptCount val="1"/>
                <c:pt idx="0">
                  <c:v>Last Period</c:v>
                </c:pt>
              </c:strCache>
            </c:strRef>
          </c:tx>
          <c:spPr>
            <a:ln w="25400">
              <a:solidFill>
                <a:srgbClr val="8A7E74"/>
              </a:solidFill>
            </a:ln>
          </c:spPr>
          <c:marker>
            <c:symbol val="none"/>
          </c:marker>
          <c:cat>
            <c:strRef>
              <c:f>Sheet1!$A$2:$A$31</c:f>
              <c:strCache>
                <c:ptCount val="30"/>
                <c:pt idx="0">
                  <c:v>Day 1</c:v>
                </c:pt>
                <c:pt idx="1">
                  <c:v/>
                </c:pt>
                <c:pt idx="2">
                  <c:v/>
                </c:pt>
                <c:pt idx="3">
                  <c:v/>
                </c:pt>
                <c:pt idx="4">
                  <c:v>Day 5</c:v>
                </c:pt>
                <c:pt idx="5">
                  <c:v/>
                </c:pt>
                <c:pt idx="6">
                  <c:v/>
                </c:pt>
                <c:pt idx="7">
                  <c:v/>
                </c:pt>
                <c:pt idx="8">
                  <c:v/>
                </c:pt>
                <c:pt idx="9">
                  <c:v>Day 10</c:v>
                </c:pt>
                <c:pt idx="10">
                  <c:v/>
                </c:pt>
                <c:pt idx="11">
                  <c:v/>
                </c:pt>
                <c:pt idx="12">
                  <c:v/>
                </c:pt>
                <c:pt idx="13">
                  <c:v/>
                </c:pt>
                <c:pt idx="14">
                  <c:v>Day 15</c:v>
                </c:pt>
                <c:pt idx="15">
                  <c:v/>
                </c:pt>
                <c:pt idx="16">
                  <c:v/>
                </c:pt>
                <c:pt idx="17">
                  <c:v/>
                </c:pt>
                <c:pt idx="18">
                  <c:v/>
                </c:pt>
                <c:pt idx="19">
                  <c:v>Day 20</c:v>
                </c:pt>
                <c:pt idx="20">
                  <c:v/>
                </c:pt>
                <c:pt idx="21">
                  <c:v/>
                </c:pt>
                <c:pt idx="22">
                  <c:v/>
                </c:pt>
                <c:pt idx="23">
                  <c:v/>
                </c:pt>
                <c:pt idx="24">
                  <c:v>Day 25</c:v>
                </c:pt>
                <c:pt idx="25">
                  <c:v/>
                </c:pt>
                <c:pt idx="26">
                  <c:v/>
                </c:pt>
                <c:pt idx="27">
                  <c:v/>
                </c:pt>
                <c:pt idx="28">
                  <c:v/>
                </c:pt>
                <c:pt idx="29">
                  <c:v>Day 30</c:v>
                </c:pt>
              </c:strCache>
            </c:strRef>
          </c:cat>
          <c:val>
            <c:numRef>
              <c:f>Sheet1!$C$2:$C$31</c:f>
              <c:numCache>
                <c:formatCode>General</c:formatCode>
                <c:ptCount val="3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609</c:v>
                </c:pt>
                <c:pt idx="22">
                  <c:v>0</c:v>
                </c:pt>
                <c:pt idx="23">
                  <c:v>254</c:v>
                </c:pt>
                <c:pt idx="24">
                  <c:v>0</c:v>
                </c:pt>
                <c:pt idx="25">
                  <c:v>0</c:v>
                </c:pt>
                <c:pt idx="26">
                  <c:v>427</c:v>
                </c:pt>
                <c:pt idx="27">
                  <c:v>0</c:v>
                </c:pt>
                <c:pt idx="28">
                  <c:v>0</c:v>
                </c:pt>
                <c:pt idx="29">
                  <c:v>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2DBD4"/>
            </a:solidFill>
          </a:ln>
        </c:spPr>
        <c:txPr>
          <a:bodyPr/>
          <a:lstStyle/>
          <a:p>
            <a:pPr>
              <a:defRPr sz="900">
                <a:solidFill>
                  <a:srgbClr val="6B5F55"/>
                </a:solidFill>
                <a:latin typeface="DM Sans"/>
              </a:defRPr>
            </a:pPr>
          </a:p>
        </c:txPr>
        <c:crossAx val="2140495176"/>
        <c:crosses val="autoZero"/>
        <c:auto val="1"/>
        <c:lblAlgn val="ctr"/>
        <c:lblOffset val="100"/>
        <c:noMultiLvlLbl val="0"/>
      </c:catAx>
      <c:valAx>
        <c:axId val="2140495176"/>
        <c:scaling/>
        <c:delete val="0"/>
        <c:axPos val="l"/>
        <c:majorGridlines>
          <c:spPr>
            <a:ln w="6350">
              <a:solidFill>
                <a:srgbClr val="E2DBD4"/>
              </a:solidFill>
            </a:ln>
          </c:spPr>
        </c:majorGridlines>
        <c:majorTickMark val="out"/>
        <c:minorTickMark val="none"/>
        <c:tickLblPos val="nextTo"/>
        <c:spPr>
          <a:ln>
            <a:noFill/>
          </a:ln>
        </c:spPr>
        <c:txPr>
          <a:bodyPr/>
          <a:lstStyle/>
          <a:p>
            <a:pPr>
              <a:defRPr sz="900">
                <a:solidFill>
                  <a:srgbClr val="6B5F55"/>
                </a:solidFill>
                <a:latin typeface="DM Sans"/>
              </a:defRPr>
            </a:pPr>
          </a:p>
        </c:txPr>
        <c:crossAx val="2118791784"/>
        <c:crosses val="autoZero"/>
      </c:valAx>
    </c:plotArea>
    <c:legend>
      <c:legendPos val="t"/>
      <c:layout/>
      <c:overlay val="0"/>
      <c:txPr>
        <a:bodyPr/>
        <a:lstStyle/>
        <a:p>
          <a:pPr>
            <a:defRPr sz="900">
              <a:solidFill>
                <a:srgbClr val="6B5F55"/>
              </a:solidFill>
              <a:latin typeface="DM Sans"/>
            </a:defRPr>
          </a:pPr>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This Period</c:v>
                </c:pt>
              </c:strCache>
            </c:strRef>
          </c:tx>
          <c:spPr>
            <a:ln w="25400">
              <a:solidFill>
                <a:srgbClr val="B8965A"/>
              </a:solidFill>
            </a:ln>
          </c:spPr>
          <c:marker>
            <c:symbol val="none"/>
          </c:marker>
          <c:cat>
            <c:strRef>
              <c:f>Sheet1!$A$2:$A$31</c:f>
              <c:strCache>
                <c:ptCount val="30"/>
                <c:pt idx="0">
                  <c:v>Day 1</c:v>
                </c:pt>
                <c:pt idx="1">
                  <c:v/>
                </c:pt>
                <c:pt idx="2">
                  <c:v/>
                </c:pt>
                <c:pt idx="3">
                  <c:v/>
                </c:pt>
                <c:pt idx="4">
                  <c:v>Day 5</c:v>
                </c:pt>
                <c:pt idx="5">
                  <c:v/>
                </c:pt>
                <c:pt idx="6">
                  <c:v/>
                </c:pt>
                <c:pt idx="7">
                  <c:v/>
                </c:pt>
                <c:pt idx="8">
                  <c:v/>
                </c:pt>
                <c:pt idx="9">
                  <c:v>Day 10</c:v>
                </c:pt>
                <c:pt idx="10">
                  <c:v/>
                </c:pt>
                <c:pt idx="11">
                  <c:v/>
                </c:pt>
                <c:pt idx="12">
                  <c:v/>
                </c:pt>
                <c:pt idx="13">
                  <c:v/>
                </c:pt>
                <c:pt idx="14">
                  <c:v>Day 15</c:v>
                </c:pt>
                <c:pt idx="15">
                  <c:v/>
                </c:pt>
                <c:pt idx="16">
                  <c:v/>
                </c:pt>
                <c:pt idx="17">
                  <c:v/>
                </c:pt>
                <c:pt idx="18">
                  <c:v/>
                </c:pt>
                <c:pt idx="19">
                  <c:v>Day 20</c:v>
                </c:pt>
                <c:pt idx="20">
                  <c:v/>
                </c:pt>
                <c:pt idx="21">
                  <c:v/>
                </c:pt>
                <c:pt idx="22">
                  <c:v/>
                </c:pt>
                <c:pt idx="23">
                  <c:v/>
                </c:pt>
                <c:pt idx="24">
                  <c:v>Day 25</c:v>
                </c:pt>
                <c:pt idx="25">
                  <c:v/>
                </c:pt>
                <c:pt idx="26">
                  <c:v/>
                </c:pt>
                <c:pt idx="27">
                  <c:v/>
                </c:pt>
                <c:pt idx="28">
                  <c:v/>
                </c:pt>
                <c:pt idx="29">
                  <c:v>Day 30</c:v>
                </c:pt>
              </c:strCache>
            </c:strRef>
          </c:cat>
          <c:val>
            <c:numRef>
              <c:f>Sheet1!$B$2:$B$31</c:f>
              <c:numCache>
                <c:formatCode>General</c:formatCode>
                <c:ptCount val="3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257</c:v>
                </c:pt>
                <c:pt idx="16">
                  <c:v>0</c:v>
                </c:pt>
                <c:pt idx="17">
                  <c:v>0</c:v>
                </c:pt>
                <c:pt idx="18">
                  <c:v>303</c:v>
                </c:pt>
                <c:pt idx="19">
                  <c:v>0</c:v>
                </c:pt>
                <c:pt idx="20">
                  <c:v>0</c:v>
                </c:pt>
                <c:pt idx="21">
                  <c:v>0</c:v>
                </c:pt>
                <c:pt idx="22">
                  <c:v>0</c:v>
                </c:pt>
                <c:pt idx="23">
                  <c:v>0</c:v>
                </c:pt>
                <c:pt idx="24">
                  <c:v>123</c:v>
                </c:pt>
                <c:pt idx="25">
                  <c:v>0</c:v>
                </c:pt>
                <c:pt idx="26">
                  <c:v>0</c:v>
                </c:pt>
                <c:pt idx="27">
                  <c:v>70</c:v>
                </c:pt>
                <c:pt idx="28">
                  <c:v>0</c:v>
                </c:pt>
                <c:pt idx="29">
                  <c:v>10</c:v>
                </c:pt>
              </c:numCache>
            </c:numRef>
          </c:val>
          <c:smooth val="0"/>
        </c:ser>
        <c:ser>
          <c:idx val="1"/>
          <c:order val="1"/>
          <c:tx>
            <c:strRef>
              <c:f>Sheet1!$C$1</c:f>
              <c:strCache>
                <c:ptCount val="1"/>
                <c:pt idx="0">
                  <c:v>Last Period</c:v>
                </c:pt>
              </c:strCache>
            </c:strRef>
          </c:tx>
          <c:spPr>
            <a:ln w="25400">
              <a:solidFill>
                <a:srgbClr val="8A7E74"/>
              </a:solidFill>
            </a:ln>
          </c:spPr>
          <c:marker>
            <c:symbol val="none"/>
          </c:marker>
          <c:cat>
            <c:strRef>
              <c:f>Sheet1!$A$2:$A$31</c:f>
              <c:strCache>
                <c:ptCount val="30"/>
                <c:pt idx="0">
                  <c:v>Day 1</c:v>
                </c:pt>
                <c:pt idx="1">
                  <c:v/>
                </c:pt>
                <c:pt idx="2">
                  <c:v/>
                </c:pt>
                <c:pt idx="3">
                  <c:v/>
                </c:pt>
                <c:pt idx="4">
                  <c:v>Day 5</c:v>
                </c:pt>
                <c:pt idx="5">
                  <c:v/>
                </c:pt>
                <c:pt idx="6">
                  <c:v/>
                </c:pt>
                <c:pt idx="7">
                  <c:v/>
                </c:pt>
                <c:pt idx="8">
                  <c:v/>
                </c:pt>
                <c:pt idx="9">
                  <c:v>Day 10</c:v>
                </c:pt>
                <c:pt idx="10">
                  <c:v/>
                </c:pt>
                <c:pt idx="11">
                  <c:v/>
                </c:pt>
                <c:pt idx="12">
                  <c:v/>
                </c:pt>
                <c:pt idx="13">
                  <c:v/>
                </c:pt>
                <c:pt idx="14">
                  <c:v>Day 15</c:v>
                </c:pt>
                <c:pt idx="15">
                  <c:v/>
                </c:pt>
                <c:pt idx="16">
                  <c:v/>
                </c:pt>
                <c:pt idx="17">
                  <c:v/>
                </c:pt>
                <c:pt idx="18">
                  <c:v/>
                </c:pt>
                <c:pt idx="19">
                  <c:v>Day 20</c:v>
                </c:pt>
                <c:pt idx="20">
                  <c:v/>
                </c:pt>
                <c:pt idx="21">
                  <c:v/>
                </c:pt>
                <c:pt idx="22">
                  <c:v/>
                </c:pt>
                <c:pt idx="23">
                  <c:v/>
                </c:pt>
                <c:pt idx="24">
                  <c:v>Day 25</c:v>
                </c:pt>
                <c:pt idx="25">
                  <c:v/>
                </c:pt>
                <c:pt idx="26">
                  <c:v/>
                </c:pt>
                <c:pt idx="27">
                  <c:v/>
                </c:pt>
                <c:pt idx="28">
                  <c:v/>
                </c:pt>
                <c:pt idx="29">
                  <c:v>Day 30</c:v>
                </c:pt>
              </c:strCache>
            </c:strRef>
          </c:cat>
          <c:val>
            <c:numRef>
              <c:f>Sheet1!$C$2:$C$31</c:f>
              <c:numCache>
                <c:formatCode>General</c:formatCode>
                <c:ptCount val="30"/>
                <c:pt idx="0">
                  <c:v>0</c:v>
                </c:pt>
                <c:pt idx="1">
                  <c:v>0</c:v>
                </c:pt>
                <c:pt idx="2">
                  <c:v>0</c:v>
                </c:pt>
                <c:pt idx="3">
                  <c:v>0</c:v>
                </c:pt>
                <c:pt idx="4">
                  <c:v>0</c:v>
                </c:pt>
                <c:pt idx="5">
                  <c:v>0</c:v>
                </c:pt>
                <c:pt idx="6">
                  <c:v>0</c:v>
                </c:pt>
                <c:pt idx="7">
                  <c:v>0</c:v>
                </c:pt>
                <c:pt idx="8">
                  <c:v>0</c:v>
                </c:pt>
                <c:pt idx="9">
                  <c:v>0</c:v>
                </c:pt>
                <c:pt idx="10">
                  <c:v>0</c:v>
                </c:pt>
                <c:pt idx="11">
                  <c:v>0</c:v>
                </c:pt>
                <c:pt idx="12">
                  <c:v>0</c:v>
                </c:pt>
                <c:pt idx="13">
                  <c:v>117</c:v>
                </c:pt>
                <c:pt idx="14">
                  <c:v>0</c:v>
                </c:pt>
                <c:pt idx="15">
                  <c:v>0</c:v>
                </c:pt>
                <c:pt idx="16">
                  <c:v>0</c:v>
                </c:pt>
                <c:pt idx="17">
                  <c:v>248</c:v>
                </c:pt>
                <c:pt idx="18">
                  <c:v>0</c:v>
                </c:pt>
                <c:pt idx="19">
                  <c:v>0</c:v>
                </c:pt>
                <c:pt idx="20">
                  <c:v>0</c:v>
                </c:pt>
                <c:pt idx="21">
                  <c:v>0</c:v>
                </c:pt>
                <c:pt idx="22">
                  <c:v>0</c:v>
                </c:pt>
                <c:pt idx="23">
                  <c:v>47</c:v>
                </c:pt>
                <c:pt idx="24">
                  <c:v>0</c:v>
                </c:pt>
                <c:pt idx="25">
                  <c:v>0</c:v>
                </c:pt>
                <c:pt idx="26">
                  <c:v>0</c:v>
                </c:pt>
                <c:pt idx="27">
                  <c:v>0</c:v>
                </c:pt>
                <c:pt idx="28">
                  <c:v>0</c:v>
                </c:pt>
                <c:pt idx="29">
                  <c:v>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2DBD4"/>
            </a:solidFill>
          </a:ln>
        </c:spPr>
        <c:txPr>
          <a:bodyPr/>
          <a:lstStyle/>
          <a:p>
            <a:pPr>
              <a:defRPr sz="900">
                <a:solidFill>
                  <a:srgbClr val="6B5F55"/>
                </a:solidFill>
                <a:latin typeface="DM Sans"/>
              </a:defRPr>
            </a:pPr>
          </a:p>
        </c:txPr>
        <c:crossAx val="2140495176"/>
        <c:crosses val="autoZero"/>
        <c:auto val="1"/>
        <c:lblAlgn val="ctr"/>
        <c:lblOffset val="100"/>
        <c:noMultiLvlLbl val="0"/>
      </c:catAx>
      <c:valAx>
        <c:axId val="2140495176"/>
        <c:scaling/>
        <c:delete val="0"/>
        <c:axPos val="l"/>
        <c:majorGridlines>
          <c:spPr>
            <a:ln w="6350">
              <a:solidFill>
                <a:srgbClr val="E2DBD4"/>
              </a:solidFill>
            </a:ln>
          </c:spPr>
        </c:majorGridlines>
        <c:majorTickMark val="out"/>
        <c:minorTickMark val="none"/>
        <c:tickLblPos val="nextTo"/>
        <c:spPr>
          <a:ln>
            <a:noFill/>
          </a:ln>
        </c:spPr>
        <c:txPr>
          <a:bodyPr/>
          <a:lstStyle/>
          <a:p>
            <a:pPr>
              <a:defRPr sz="900">
                <a:solidFill>
                  <a:srgbClr val="6B5F55"/>
                </a:solidFill>
                <a:latin typeface="DM Sans"/>
              </a:defRPr>
            </a:pPr>
          </a:p>
        </c:txPr>
        <c:crossAx val="2118791784"/>
        <c:crosses val="autoZero"/>
      </c:valAx>
    </c:plotArea>
    <c:legend>
      <c:legendPos val="t"/>
      <c:layout/>
      <c:overlay val="0"/>
      <c:txPr>
        <a:bodyPr/>
        <a:lstStyle/>
        <a:p>
          <a:pPr>
            <a:defRPr sz="900">
              <a:solidFill>
                <a:srgbClr val="6B5F55"/>
              </a:solidFill>
              <a:latin typeface="DM Sans"/>
            </a:defRPr>
          </a:pPr>
        </a:p>
      </c:txPr>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This Period</c:v>
                </c:pt>
              </c:strCache>
            </c:strRef>
          </c:tx>
          <c:spPr>
            <a:ln w="25400">
              <a:solidFill>
                <a:srgbClr val="B8965A"/>
              </a:solidFill>
            </a:ln>
          </c:spPr>
          <c:marker>
            <c:symbol val="none"/>
          </c:marker>
          <c:cat>
            <c:strRef>
              <c:f>Sheet1!$A$2:$A$31</c:f>
              <c:strCache>
                <c:ptCount val="30"/>
                <c:pt idx="0">
                  <c:v>Day 1</c:v>
                </c:pt>
                <c:pt idx="1">
                  <c:v/>
                </c:pt>
                <c:pt idx="2">
                  <c:v/>
                </c:pt>
                <c:pt idx="3">
                  <c:v/>
                </c:pt>
                <c:pt idx="4">
                  <c:v>Day 5</c:v>
                </c:pt>
                <c:pt idx="5">
                  <c:v/>
                </c:pt>
                <c:pt idx="6">
                  <c:v/>
                </c:pt>
                <c:pt idx="7">
                  <c:v/>
                </c:pt>
                <c:pt idx="8">
                  <c:v/>
                </c:pt>
                <c:pt idx="9">
                  <c:v>Day 10</c:v>
                </c:pt>
                <c:pt idx="10">
                  <c:v/>
                </c:pt>
                <c:pt idx="11">
                  <c:v/>
                </c:pt>
                <c:pt idx="12">
                  <c:v/>
                </c:pt>
                <c:pt idx="13">
                  <c:v/>
                </c:pt>
                <c:pt idx="14">
                  <c:v>Day 15</c:v>
                </c:pt>
                <c:pt idx="15">
                  <c:v/>
                </c:pt>
                <c:pt idx="16">
                  <c:v/>
                </c:pt>
                <c:pt idx="17">
                  <c:v/>
                </c:pt>
                <c:pt idx="18">
                  <c:v/>
                </c:pt>
                <c:pt idx="19">
                  <c:v>Day 20</c:v>
                </c:pt>
                <c:pt idx="20">
                  <c:v/>
                </c:pt>
                <c:pt idx="21">
                  <c:v/>
                </c:pt>
                <c:pt idx="22">
                  <c:v/>
                </c:pt>
                <c:pt idx="23">
                  <c:v/>
                </c:pt>
                <c:pt idx="24">
                  <c:v>Day 25</c:v>
                </c:pt>
                <c:pt idx="25">
                  <c:v/>
                </c:pt>
                <c:pt idx="26">
                  <c:v/>
                </c:pt>
                <c:pt idx="27">
                  <c:v/>
                </c:pt>
                <c:pt idx="28">
                  <c:v/>
                </c:pt>
                <c:pt idx="29">
                  <c:v>Day 30</c:v>
                </c:pt>
              </c:strCache>
            </c:strRef>
          </c:cat>
          <c:val>
            <c:numRef>
              <c:f>Sheet1!$B$2:$B$31</c:f>
              <c:numCache>
                <c:formatCode>General</c:formatCode>
                <c:ptCount val="30"/>
                <c:pt idx="0">
                  <c:v>0</c:v>
                </c:pt>
                <c:pt idx="1">
                  <c:v>0</c:v>
                </c:pt>
                <c:pt idx="2">
                  <c:v>0</c:v>
                </c:pt>
                <c:pt idx="3">
                  <c:v>0</c:v>
                </c:pt>
                <c:pt idx="4">
                  <c:v>0</c:v>
                </c:pt>
                <c:pt idx="5">
                  <c:v>0</c:v>
                </c:pt>
                <c:pt idx="6">
                  <c:v>0</c:v>
                </c:pt>
                <c:pt idx="7">
                  <c:v>0</c:v>
                </c:pt>
                <c:pt idx="8">
                  <c:v>0</c:v>
                </c:pt>
                <c:pt idx="9">
                  <c:v>0</c:v>
                </c:pt>
                <c:pt idx="10">
                  <c:v>0</c:v>
                </c:pt>
                <c:pt idx="11">
                  <c:v>0</c:v>
                </c:pt>
                <c:pt idx="12">
                  <c:v>0</c:v>
                </c:pt>
                <c:pt idx="13">
                  <c:v>165</c:v>
                </c:pt>
                <c:pt idx="14">
                  <c:v>0</c:v>
                </c:pt>
                <c:pt idx="15">
                  <c:v>137</c:v>
                </c:pt>
                <c:pt idx="16">
                  <c:v>0</c:v>
                </c:pt>
                <c:pt idx="17">
                  <c:v>0</c:v>
                </c:pt>
                <c:pt idx="18">
                  <c:v>1054</c:v>
                </c:pt>
                <c:pt idx="19">
                  <c:v>0</c:v>
                </c:pt>
                <c:pt idx="20">
                  <c:v>0</c:v>
                </c:pt>
                <c:pt idx="21">
                  <c:v>0</c:v>
                </c:pt>
                <c:pt idx="22">
                  <c:v>0</c:v>
                </c:pt>
                <c:pt idx="23">
                  <c:v>0</c:v>
                </c:pt>
                <c:pt idx="24">
                  <c:v>119</c:v>
                </c:pt>
                <c:pt idx="25">
                  <c:v>0</c:v>
                </c:pt>
                <c:pt idx="26">
                  <c:v>0</c:v>
                </c:pt>
                <c:pt idx="27">
                  <c:v>108</c:v>
                </c:pt>
                <c:pt idx="28">
                  <c:v>0</c:v>
                </c:pt>
                <c:pt idx="29">
                  <c:v>82</c:v>
                </c:pt>
              </c:numCache>
            </c:numRef>
          </c:val>
          <c:smooth val="0"/>
        </c:ser>
        <c:ser>
          <c:idx val="1"/>
          <c:order val="1"/>
          <c:tx>
            <c:strRef>
              <c:f>Sheet1!$C$1</c:f>
              <c:strCache>
                <c:ptCount val="1"/>
                <c:pt idx="0">
                  <c:v>Last Period</c:v>
                </c:pt>
              </c:strCache>
            </c:strRef>
          </c:tx>
          <c:spPr>
            <a:ln w="25400">
              <a:solidFill>
                <a:srgbClr val="8A7E74"/>
              </a:solidFill>
            </a:ln>
          </c:spPr>
          <c:marker>
            <c:symbol val="none"/>
          </c:marker>
          <c:cat>
            <c:strRef>
              <c:f>Sheet1!$A$2:$A$31</c:f>
              <c:strCache>
                <c:ptCount val="30"/>
                <c:pt idx="0">
                  <c:v>Day 1</c:v>
                </c:pt>
                <c:pt idx="1">
                  <c:v/>
                </c:pt>
                <c:pt idx="2">
                  <c:v/>
                </c:pt>
                <c:pt idx="3">
                  <c:v/>
                </c:pt>
                <c:pt idx="4">
                  <c:v>Day 5</c:v>
                </c:pt>
                <c:pt idx="5">
                  <c:v/>
                </c:pt>
                <c:pt idx="6">
                  <c:v/>
                </c:pt>
                <c:pt idx="7">
                  <c:v/>
                </c:pt>
                <c:pt idx="8">
                  <c:v/>
                </c:pt>
                <c:pt idx="9">
                  <c:v>Day 10</c:v>
                </c:pt>
                <c:pt idx="10">
                  <c:v/>
                </c:pt>
                <c:pt idx="11">
                  <c:v/>
                </c:pt>
                <c:pt idx="12">
                  <c:v/>
                </c:pt>
                <c:pt idx="13">
                  <c:v/>
                </c:pt>
                <c:pt idx="14">
                  <c:v>Day 15</c:v>
                </c:pt>
                <c:pt idx="15">
                  <c:v/>
                </c:pt>
                <c:pt idx="16">
                  <c:v/>
                </c:pt>
                <c:pt idx="17">
                  <c:v/>
                </c:pt>
                <c:pt idx="18">
                  <c:v/>
                </c:pt>
                <c:pt idx="19">
                  <c:v>Day 20</c:v>
                </c:pt>
                <c:pt idx="20">
                  <c:v/>
                </c:pt>
                <c:pt idx="21">
                  <c:v/>
                </c:pt>
                <c:pt idx="22">
                  <c:v/>
                </c:pt>
                <c:pt idx="23">
                  <c:v/>
                </c:pt>
                <c:pt idx="24">
                  <c:v>Day 25</c:v>
                </c:pt>
                <c:pt idx="25">
                  <c:v/>
                </c:pt>
                <c:pt idx="26">
                  <c:v/>
                </c:pt>
                <c:pt idx="27">
                  <c:v/>
                </c:pt>
                <c:pt idx="28">
                  <c:v/>
                </c:pt>
                <c:pt idx="29">
                  <c:v>Day 30</c:v>
                </c:pt>
              </c:strCache>
            </c:strRef>
          </c:cat>
          <c:val>
            <c:numRef>
              <c:f>Sheet1!$C$2:$C$31</c:f>
              <c:numCache>
                <c:formatCode>General</c:formatCode>
                <c:ptCount val="30"/>
                <c:pt idx="0">
                  <c:v>0</c:v>
                </c:pt>
                <c:pt idx="1">
                  <c:v>0</c:v>
                </c:pt>
                <c:pt idx="2">
                  <c:v>3495</c:v>
                </c:pt>
                <c:pt idx="3">
                  <c:v>885</c:v>
                </c:pt>
                <c:pt idx="4">
                  <c:v>1855</c:v>
                </c:pt>
                <c:pt idx="5">
                  <c:v>643</c:v>
                </c:pt>
                <c:pt idx="6">
                  <c:v>0</c:v>
                </c:pt>
                <c:pt idx="7">
                  <c:v>0</c:v>
                </c:pt>
                <c:pt idx="8">
                  <c:v>122</c:v>
                </c:pt>
                <c:pt idx="9">
                  <c:v>0</c:v>
                </c:pt>
                <c:pt idx="10">
                  <c:v>0</c:v>
                </c:pt>
                <c:pt idx="11">
                  <c:v>0</c:v>
                </c:pt>
                <c:pt idx="12">
                  <c:v>0</c:v>
                </c:pt>
                <c:pt idx="13">
                  <c:v>743</c:v>
                </c:pt>
                <c:pt idx="14">
                  <c:v>0</c:v>
                </c:pt>
                <c:pt idx="15">
                  <c:v>0</c:v>
                </c:pt>
                <c:pt idx="16">
                  <c:v>0</c:v>
                </c:pt>
                <c:pt idx="17">
                  <c:v>195</c:v>
                </c:pt>
                <c:pt idx="18">
                  <c:v>0</c:v>
                </c:pt>
                <c:pt idx="19">
                  <c:v>0</c:v>
                </c:pt>
                <c:pt idx="20">
                  <c:v>0</c:v>
                </c:pt>
                <c:pt idx="21">
                  <c:v>0</c:v>
                </c:pt>
                <c:pt idx="22">
                  <c:v>0</c:v>
                </c:pt>
                <c:pt idx="23">
                  <c:v>110</c:v>
                </c:pt>
                <c:pt idx="24">
                  <c:v>0</c:v>
                </c:pt>
                <c:pt idx="25">
                  <c:v>0</c:v>
                </c:pt>
                <c:pt idx="26">
                  <c:v>0</c:v>
                </c:pt>
                <c:pt idx="27">
                  <c:v>0</c:v>
                </c:pt>
                <c:pt idx="28">
                  <c:v>0</c:v>
                </c:pt>
                <c:pt idx="29">
                  <c:v>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E2DBD4"/>
            </a:solidFill>
          </a:ln>
        </c:spPr>
        <c:txPr>
          <a:bodyPr/>
          <a:lstStyle/>
          <a:p>
            <a:pPr>
              <a:defRPr sz="900">
                <a:solidFill>
                  <a:srgbClr val="6B5F55"/>
                </a:solidFill>
                <a:latin typeface="DM Sans"/>
              </a:defRPr>
            </a:pPr>
          </a:p>
        </c:txPr>
        <c:crossAx val="2140495176"/>
        <c:crosses val="autoZero"/>
        <c:auto val="1"/>
        <c:lblAlgn val="ctr"/>
        <c:lblOffset val="100"/>
        <c:noMultiLvlLbl val="0"/>
      </c:catAx>
      <c:valAx>
        <c:axId val="2140495176"/>
        <c:scaling/>
        <c:delete val="0"/>
        <c:axPos val="l"/>
        <c:majorGridlines>
          <c:spPr>
            <a:ln w="6350">
              <a:solidFill>
                <a:srgbClr val="E2DBD4"/>
              </a:solidFill>
            </a:ln>
          </c:spPr>
        </c:majorGridlines>
        <c:majorTickMark val="out"/>
        <c:minorTickMark val="none"/>
        <c:tickLblPos val="nextTo"/>
        <c:spPr>
          <a:ln>
            <a:noFill/>
          </a:ln>
        </c:spPr>
        <c:txPr>
          <a:bodyPr/>
          <a:lstStyle/>
          <a:p>
            <a:pPr>
              <a:defRPr sz="900">
                <a:solidFill>
                  <a:srgbClr val="6B5F55"/>
                </a:solidFill>
                <a:latin typeface="DM Sans"/>
              </a:defRPr>
            </a:pPr>
          </a:p>
        </c:txPr>
        <c:crossAx val="2118791784"/>
        <c:crosses val="autoZero"/>
      </c:valAx>
    </c:plotArea>
    <c:legend>
      <c:legendPos val="t"/>
      <c:layout/>
      <c:overlay val="0"/>
      <c:txPr>
        <a:bodyPr/>
        <a:lstStyle/>
        <a:p>
          <a:pPr>
            <a:defRPr sz="900">
              <a:solidFill>
                <a:srgbClr val="6B5F55"/>
              </a:solidFill>
              <a:latin typeface="DM Sans"/>
            </a:defRPr>
          </a:pPr>
        </a:p>
      </c:txPr>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7F4"/>
        </a:solidFill>
        <a:effectLst/>
      </p:bgPr>
    </p:bg>
    <p:spTree>
      <p:nvGrpSpPr>
        <p:cNvPr id="1" name=""/>
        <p:cNvGrpSpPr/>
        <p:nvPr/>
      </p:nvGrpSpPr>
      <p:grpSpPr/>
      <p:sp>
        <p:nvSpPr>
          <p:cNvPr id="2" name="TextBox 1"/>
          <p:cNvSpPr txBox="1"/>
          <p:nvPr/>
        </p:nvSpPr>
        <p:spPr>
          <a:xfrm>
            <a:off x="1078992" y="1463040"/>
            <a:ext cx="6986016" cy="1691640"/>
          </a:xfrm>
          <a:prstGeom prst="rect">
            <a:avLst/>
          </a:prstGeom>
          <a:noFill/>
        </p:spPr>
        <p:txBody>
          <a:bodyPr wrap="square">
            <a:spAutoFit/>
          </a:bodyPr>
          <a:lstStyle/>
          <a:p>
            <a:pPr algn="ctr"/>
            <a:r>
              <a:rPr sz="4800" b="1">
                <a:solidFill>
                  <a:srgbClr val="707252"/>
                </a:solidFill>
                <a:latin typeface="Cormorant Garamond"/>
              </a:rPr>
              <a:t>Monthly Marketing Report</a:t>
            </a:r>
          </a:p>
        </p:txBody>
      </p:sp>
      <p:cxnSp>
        <p:nvCxnSpPr>
          <p:cNvPr id="3" name="Connector 2"/>
          <p:cNvCxnSpPr/>
          <p:nvPr/>
        </p:nvCxnSpPr>
        <p:spPr>
          <a:xfrm>
            <a:off x="3657600" y="3200400"/>
            <a:ext cx="1828800" cy="0"/>
          </a:xfrm>
          <a:prstGeom prst="line">
            <a:avLst/>
          </a:prstGeom>
          <a:ln w="9525">
            <a:solidFill>
              <a:srgbClr val="D99F95"/>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3465576" y="1207008"/>
            <a:ext cx="2212848" cy="438912"/>
          </a:xfrm>
          <a:prstGeom prst="rect">
            <a:avLst/>
          </a:prstGeom>
          <a:noFill/>
        </p:spPr>
        <p:txBody>
          <a:bodyPr wrap="none">
            <a:spAutoFit/>
          </a:bodyPr>
          <a:lstStyle/>
          <a:p>
            <a:pPr algn="ctr"/>
            <a:r>
              <a:rPr sz="1300">
                <a:solidFill>
                  <a:srgbClr val="6B5F55"/>
                </a:solidFill>
                <a:latin typeface="DM Sans"/>
              </a:rPr>
              <a:t>Salon Veritas</a:t>
            </a:r>
          </a:p>
        </p:txBody>
      </p:sp>
      <p:sp>
        <p:nvSpPr>
          <p:cNvPr id="5" name="TextBox 4"/>
          <p:cNvSpPr txBox="1"/>
          <p:nvPr/>
        </p:nvSpPr>
        <p:spPr>
          <a:xfrm>
            <a:off x="3950208" y="3291840"/>
            <a:ext cx="1234440" cy="457200"/>
          </a:xfrm>
          <a:prstGeom prst="rect">
            <a:avLst/>
          </a:prstGeom>
          <a:noFill/>
        </p:spPr>
        <p:txBody>
          <a:bodyPr wrap="none">
            <a:spAutoFit/>
          </a:bodyPr>
          <a:lstStyle/>
          <a:p>
            <a:pPr algn="ctr"/>
            <a:r>
              <a:rPr sz="1800" b="1">
                <a:solidFill>
                  <a:srgbClr val="D99F95"/>
                </a:solidFill>
                <a:latin typeface="DM Sans"/>
              </a:rPr>
              <a:t>September</a:t>
            </a:r>
          </a:p>
        </p:txBody>
      </p:sp>
      <p:sp>
        <p:nvSpPr>
          <p:cNvPr id="6" name="TextBox 5"/>
          <p:cNvSpPr txBox="1"/>
          <p:nvPr/>
        </p:nvSpPr>
        <p:spPr>
          <a:xfrm>
            <a:off x="246888" y="3922776"/>
            <a:ext cx="2212848" cy="438912"/>
          </a:xfrm>
          <a:prstGeom prst="rect">
            <a:avLst/>
          </a:prstGeom>
          <a:noFill/>
        </p:spPr>
        <p:txBody>
          <a:bodyPr wrap="none">
            <a:spAutoFit/>
          </a:bodyPr>
          <a:lstStyle/>
          <a:p>
            <a:pPr algn="ctr"/>
            <a:r>
              <a:rPr sz="1300" b="1">
                <a:solidFill>
                  <a:srgbClr val="6B5F55"/>
                </a:solidFill>
                <a:latin typeface="DM Sans"/>
              </a:rPr>
              <a:t>Content Link:</a:t>
            </a:r>
          </a:p>
        </p:txBody>
      </p:sp>
      <p:sp>
        <p:nvSpPr>
          <p:cNvPr id="7" name="TextBox 6"/>
          <p:cNvSpPr txBox="1"/>
          <p:nvPr/>
        </p:nvSpPr>
        <p:spPr>
          <a:xfrm>
            <a:off x="1143000" y="4434840"/>
            <a:ext cx="5184648" cy="365760"/>
          </a:xfrm>
          <a:prstGeom prst="rect">
            <a:avLst/>
          </a:prstGeom>
          <a:noFill/>
        </p:spPr>
        <p:txBody>
          <a:bodyPr wrap="none">
            <a:spAutoFit/>
          </a:bodyPr>
          <a:lstStyle/>
          <a:p>
            <a:pPr algn="l"/>
            <a:r>
              <a:rPr sz="1200">
                <a:solidFill>
                  <a:srgbClr val="2A2118"/>
                </a:solidFill>
                <a:latin typeface="DM Sans"/>
              </a:rPr>
              <a:t>[Add content link]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4"/>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707252"/>
                </a:solidFill>
                <a:latin typeface="Cormorant Garamond"/>
              </a:rPr>
              <a:t>Instagram Insights</a:t>
            </a:r>
          </a:p>
        </p:txBody>
      </p:sp>
      <p:cxnSp>
        <p:nvCxnSpPr>
          <p:cNvPr id="3" name="Connector 2"/>
          <p:cNvCxnSpPr/>
          <p:nvPr/>
        </p:nvCxnSpPr>
        <p:spPr>
          <a:xfrm>
            <a:off x="512064" y="1060704"/>
            <a:ext cx="8119872" cy="0"/>
          </a:xfrm>
          <a:prstGeom prst="line">
            <a:avLst/>
          </a:prstGeom>
          <a:ln w="9525">
            <a:solidFill>
              <a:srgbClr val="E2DBD4"/>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512064" y="1133856"/>
            <a:ext cx="1961388" cy="640080"/>
          </a:xfrm>
          <a:prstGeom prst="roundRect">
            <a:avLst>
              <a:gd name="adj" fmla="val 8000"/>
            </a:avLst>
          </a:prstGeom>
          <a:solidFill>
            <a:srgbClr val="FFFFFF"/>
          </a:solidFill>
          <a:ln w="9525">
            <a:solidFill>
              <a:srgbClr val="E2DBD4"/>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6B5F55"/>
                </a:solidFill>
                <a:latin typeface="DM Sans"/>
              </a:rPr>
              <a:t>Views</a:t>
            </a:r>
          </a:p>
          <a:p>
            <a:pPr algn="ctr"/>
            <a:r>
              <a:rPr sz="2200" b="1">
                <a:solidFill>
                  <a:srgbClr val="D99F95"/>
                </a:solidFill>
                <a:latin typeface="DM Sans"/>
              </a:rPr>
              <a:t>9.0K</a:t>
            </a:r>
          </a:p>
          <a:p>
            <a:pPr algn="ctr"/>
            <a:r>
              <a:rPr sz="900" b="1">
                <a:solidFill>
                  <a:srgbClr val="B8965A"/>
                </a:solidFill>
                <a:latin typeface="DM Sans"/>
              </a:rPr>
              <a:t>↑ new activity (low base: 1.3K→9.0K)</a:t>
            </a:r>
          </a:p>
        </p:txBody>
      </p:sp>
      <p:sp>
        <p:nvSpPr>
          <p:cNvPr id="5" name="Rounded Rectangle 4"/>
          <p:cNvSpPr/>
          <p:nvPr/>
        </p:nvSpPr>
        <p:spPr>
          <a:xfrm>
            <a:off x="2564892" y="1133856"/>
            <a:ext cx="1961388" cy="640080"/>
          </a:xfrm>
          <a:prstGeom prst="roundRect">
            <a:avLst>
              <a:gd name="adj" fmla="val 8000"/>
            </a:avLst>
          </a:prstGeom>
          <a:solidFill>
            <a:srgbClr val="FFFFFF"/>
          </a:solidFill>
          <a:ln w="9525">
            <a:solidFill>
              <a:srgbClr val="E2DBD4"/>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6B5F55"/>
                </a:solidFill>
                <a:latin typeface="DM Sans"/>
              </a:rPr>
              <a:t>Reach</a:t>
            </a:r>
          </a:p>
          <a:p>
            <a:pPr algn="ctr"/>
            <a:r>
              <a:rPr sz="2200" b="1">
                <a:solidFill>
                  <a:srgbClr val="707252"/>
                </a:solidFill>
                <a:latin typeface="DM Sans"/>
              </a:rPr>
              <a:t>6.9K</a:t>
            </a:r>
          </a:p>
          <a:p>
            <a:pPr algn="ctr"/>
            <a:r>
              <a:rPr sz="900" b="1">
                <a:solidFill>
                  <a:srgbClr val="B8965A"/>
                </a:solidFill>
                <a:latin typeface="DM Sans"/>
              </a:rPr>
              <a:t>↑ new activity (low base: 807→6.9K)</a:t>
            </a:r>
          </a:p>
        </p:txBody>
      </p:sp>
      <p:sp>
        <p:nvSpPr>
          <p:cNvPr id="6" name="Rounded Rectangle 5"/>
          <p:cNvSpPr/>
          <p:nvPr/>
        </p:nvSpPr>
        <p:spPr>
          <a:xfrm>
            <a:off x="4617720" y="1133856"/>
            <a:ext cx="1961388" cy="640080"/>
          </a:xfrm>
          <a:prstGeom prst="roundRect">
            <a:avLst>
              <a:gd name="adj" fmla="val 8000"/>
            </a:avLst>
          </a:prstGeom>
          <a:solidFill>
            <a:srgbClr val="FFFFFF"/>
          </a:solidFill>
          <a:ln w="9525">
            <a:solidFill>
              <a:srgbClr val="E2DBD4"/>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6B5F55"/>
                </a:solidFill>
                <a:latin typeface="DM Sans"/>
              </a:rPr>
              <a:t>Weighted Eng. Rate</a:t>
            </a:r>
          </a:p>
          <a:p>
            <a:pPr algn="ctr"/>
            <a:r>
              <a:rPr sz="2200" b="1">
                <a:solidFill>
                  <a:srgbClr val="707252"/>
                </a:solidFill>
                <a:latin typeface="DM Sans"/>
              </a:rPr>
              <a:t>1.21%</a:t>
            </a:r>
          </a:p>
          <a:p>
            <a:pPr algn="ctr"/>
            <a:r>
              <a:rPr sz="900" b="1">
                <a:solidFill>
                  <a:srgbClr val="8A7E74"/>
                </a:solidFill>
                <a:latin typeface="DM Sans"/>
              </a:rPr>
              <a:t>↓ -82.9%</a:t>
            </a:r>
          </a:p>
        </p:txBody>
      </p:sp>
      <p:sp>
        <p:nvSpPr>
          <p:cNvPr id="7" name="Rounded Rectangle 6"/>
          <p:cNvSpPr/>
          <p:nvPr/>
        </p:nvSpPr>
        <p:spPr>
          <a:xfrm>
            <a:off x="6670548" y="1133856"/>
            <a:ext cx="1961388" cy="640080"/>
          </a:xfrm>
          <a:prstGeom prst="roundRect">
            <a:avLst>
              <a:gd name="adj" fmla="val 8000"/>
            </a:avLst>
          </a:prstGeom>
          <a:solidFill>
            <a:srgbClr val="FFFFFF"/>
          </a:solidFill>
          <a:ln w="9525">
            <a:solidFill>
              <a:srgbClr val="E2DBD4"/>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6B5F55"/>
                </a:solidFill>
                <a:latin typeface="DM Sans"/>
              </a:rPr>
              <a:t>Current Followers</a:t>
            </a:r>
          </a:p>
          <a:p>
            <a:pPr algn="ctr"/>
            <a:r>
              <a:rPr sz="2200" b="1">
                <a:solidFill>
                  <a:srgbClr val="707252"/>
                </a:solidFill>
                <a:latin typeface="DM Sans"/>
              </a:rPr>
              <a:t>881</a:t>
            </a:r>
          </a:p>
          <a:p>
            <a:pPr algn="ctr"/>
            <a:r>
              <a:rPr sz="900" b="1">
                <a:solidFill>
                  <a:srgbClr val="6B5F55"/>
                </a:solidFill>
                <a:latin typeface="DM Sans"/>
              </a:rPr>
              <a:t>First snapshot</a:t>
            </a:r>
          </a:p>
        </p:txBody>
      </p:sp>
      <p:graphicFrame>
        <p:nvGraphicFramePr>
          <p:cNvPr id="8" name="Table 7"/>
          <p:cNvGraphicFramePr>
            <a:graphicFrameLocks noGrp="1"/>
          </p:cNvGraphicFramePr>
          <p:nvPr/>
        </p:nvGraphicFramePr>
        <p:xfrm>
          <a:off x="512064" y="1801368"/>
          <a:ext cx="8119872" cy="1481328"/>
        </p:xfrm>
        <a:graphic>
          <a:graphicData uri="http://schemas.openxmlformats.org/drawingml/2006/table">
            <a:tbl>
              <a:tblPr firstRow="1" bandRow="1">
                <a:tableStyleId>{5C22544A-7EE6-4342-B048-85BDC9FD1C3A}</a:tableStyleId>
              </a:tblPr>
              <a:tblGrid>
                <a:gridCol w="2377440"/>
                <a:gridCol w="1554480"/>
                <a:gridCol w="1554480"/>
                <a:gridCol w="2633472"/>
              </a:tblGrid>
              <a:tr h="164592">
                <a:tc>
                  <a:txBody>
                    <a:bodyPr/>
                    <a:lstStyle/>
                    <a:p>
                      <a:pPr>
                        <a:defRPr sz="800" b="1">
                          <a:solidFill>
                            <a:srgbClr val="FFFFFF"/>
                          </a:solidFill>
                          <a:latin typeface="DM Sans"/>
                        </a:defRPr>
                      </a:pPr>
                      <a:r>
                        <a:t>Metric</a:t>
                      </a:r>
                    </a:p>
                  </a:txBody>
                  <a:tcPr marT="25400" marB="25400">
                    <a:solidFill>
                      <a:srgbClr val="707252"/>
                    </a:solidFill>
                  </a:tcPr>
                </a:tc>
                <a:tc>
                  <a:txBody>
                    <a:bodyPr/>
                    <a:lstStyle/>
                    <a:p>
                      <a:pPr>
                        <a:defRPr sz="800" b="1">
                          <a:solidFill>
                            <a:srgbClr val="FFFFFF"/>
                          </a:solidFill>
                          <a:latin typeface="DM Sans"/>
                        </a:defRPr>
                      </a:pPr>
                      <a:r>
                        <a:t>Current</a:t>
                      </a:r>
                    </a:p>
                  </a:txBody>
                  <a:tcPr marT="25400" marB="25400">
                    <a:solidFill>
                      <a:srgbClr val="707252"/>
                    </a:solidFill>
                  </a:tcPr>
                </a:tc>
                <a:tc>
                  <a:txBody>
                    <a:bodyPr/>
                    <a:lstStyle/>
                    <a:p>
                      <a:pPr>
                        <a:defRPr sz="800" b="1">
                          <a:solidFill>
                            <a:srgbClr val="FFFFFF"/>
                          </a:solidFill>
                          <a:latin typeface="DM Sans"/>
                        </a:defRPr>
                      </a:pPr>
                      <a:r>
                        <a:t>Prior</a:t>
                      </a:r>
                    </a:p>
                  </a:txBody>
                  <a:tcPr marT="25400" marB="25400">
                    <a:solidFill>
                      <a:srgbClr val="707252"/>
                    </a:solidFill>
                  </a:tcPr>
                </a:tc>
                <a:tc>
                  <a:txBody>
                    <a:bodyPr/>
                    <a:lstStyle/>
                    <a:p>
                      <a:pPr>
                        <a:defRPr sz="800" b="1">
                          <a:solidFill>
                            <a:srgbClr val="FFFFFF"/>
                          </a:solidFill>
                          <a:latin typeface="DM Sans"/>
                        </a:defRPr>
                      </a:pPr>
                      <a:r>
                        <a:t>Change</a:t>
                      </a:r>
                    </a:p>
                  </a:txBody>
                  <a:tcPr marT="25400" marB="25400">
                    <a:solidFill>
                      <a:srgbClr val="707252"/>
                    </a:solidFill>
                  </a:tcPr>
                </a:tc>
              </a:tr>
              <a:tr h="164592">
                <a:tc>
                  <a:txBody>
                    <a:bodyPr/>
                    <a:lstStyle/>
                    <a:p>
                      <a:pPr>
                        <a:defRPr sz="800">
                          <a:solidFill>
                            <a:srgbClr val="2A2118"/>
                          </a:solidFill>
                          <a:latin typeface="DM Sans"/>
                        </a:defRPr>
                      </a:pPr>
                      <a:r>
                        <a:t>Posts</a:t>
                      </a:r>
                    </a:p>
                  </a:txBody>
                  <a:tcPr marT="25400" marB="25400">
                    <a:solidFill>
                      <a:srgbClr val="FAF7F4"/>
                    </a:solidFill>
                  </a:tcPr>
                </a:tc>
                <a:tc>
                  <a:txBody>
                    <a:bodyPr/>
                    <a:lstStyle/>
                    <a:p>
                      <a:pPr>
                        <a:defRPr sz="800">
                          <a:solidFill>
                            <a:srgbClr val="2A2118"/>
                          </a:solidFill>
                          <a:latin typeface="DM Sans"/>
                        </a:defRPr>
                      </a:pPr>
                      <a:r>
                        <a:t>11</a:t>
                      </a:r>
                    </a:p>
                  </a:txBody>
                  <a:tcPr marT="25400" marB="25400">
                    <a:solidFill>
                      <a:srgbClr val="FAF7F4"/>
                    </a:solidFill>
                  </a:tcPr>
                </a:tc>
                <a:tc>
                  <a:txBody>
                    <a:bodyPr/>
                    <a:lstStyle/>
                    <a:p>
                      <a:pPr>
                        <a:defRPr sz="800">
                          <a:solidFill>
                            <a:srgbClr val="2A2118"/>
                          </a:solidFill>
                          <a:latin typeface="DM Sans"/>
                        </a:defRPr>
                      </a:pPr>
                      <a:r>
                        <a:t>6</a:t>
                      </a:r>
                    </a:p>
                  </a:txBody>
                  <a:tcPr marT="25400" marB="25400">
                    <a:solidFill>
                      <a:srgbClr val="FAF7F4"/>
                    </a:solidFill>
                  </a:tcPr>
                </a:tc>
                <a:tc>
                  <a:txBody>
                    <a:bodyPr/>
                    <a:lstStyle/>
                    <a:p>
                      <a:pPr>
                        <a:defRPr sz="800">
                          <a:solidFill>
                            <a:srgbClr val="B8965A"/>
                          </a:solidFill>
                          <a:latin typeface="DM Sans"/>
                        </a:defRPr>
                      </a:pPr>
                      <a:r>
                        <a:t>↑ +83.3%</a:t>
                      </a:r>
                    </a:p>
                  </a:txBody>
                  <a:tcPr marT="25400" marB="25400">
                    <a:solidFill>
                      <a:srgbClr val="FAF7F4"/>
                    </a:solidFill>
                  </a:tcPr>
                </a:tc>
              </a:tr>
              <a:tr h="164592">
                <a:tc>
                  <a:txBody>
                    <a:bodyPr/>
                    <a:lstStyle/>
                    <a:p>
                      <a:pPr>
                        <a:defRPr sz="800">
                          <a:solidFill>
                            <a:srgbClr val="2A2118"/>
                          </a:solidFill>
                          <a:latin typeface="DM Sans"/>
                        </a:defRPr>
                      </a:pPr>
                      <a:r>
                        <a:t>Views</a:t>
                      </a:r>
                    </a:p>
                  </a:txBody>
                  <a:tcPr marT="25400" marB="25400">
                    <a:solidFill>
                      <a:srgbClr val="FFFFFF"/>
                    </a:solidFill>
                  </a:tcPr>
                </a:tc>
                <a:tc>
                  <a:txBody>
                    <a:bodyPr/>
                    <a:lstStyle/>
                    <a:p>
                      <a:pPr>
                        <a:defRPr sz="800">
                          <a:solidFill>
                            <a:srgbClr val="2A2118"/>
                          </a:solidFill>
                          <a:latin typeface="DM Sans"/>
                        </a:defRPr>
                      </a:pPr>
                      <a:r>
                        <a:t>9.0K</a:t>
                      </a:r>
                    </a:p>
                  </a:txBody>
                  <a:tcPr marT="25400" marB="25400">
                    <a:solidFill>
                      <a:srgbClr val="FFFFFF"/>
                    </a:solidFill>
                  </a:tcPr>
                </a:tc>
                <a:tc>
                  <a:txBody>
                    <a:bodyPr/>
                    <a:lstStyle/>
                    <a:p>
                      <a:pPr>
                        <a:defRPr sz="800">
                          <a:solidFill>
                            <a:srgbClr val="2A2118"/>
                          </a:solidFill>
                          <a:latin typeface="DM Sans"/>
                        </a:defRPr>
                      </a:pPr>
                      <a:r>
                        <a:t>1.3K</a:t>
                      </a:r>
                    </a:p>
                  </a:txBody>
                  <a:tcPr marT="25400" marB="25400">
                    <a:solidFill>
                      <a:srgbClr val="FFFFFF"/>
                    </a:solidFill>
                  </a:tcPr>
                </a:tc>
                <a:tc>
                  <a:txBody>
                    <a:bodyPr/>
                    <a:lstStyle/>
                    <a:p>
                      <a:pPr>
                        <a:defRPr sz="800">
                          <a:solidFill>
                            <a:srgbClr val="B8965A"/>
                          </a:solidFill>
                          <a:latin typeface="DM Sans"/>
                        </a:defRPr>
                      </a:pPr>
                      <a:r>
                        <a:t>↑ new activity (low base: 1.3K→9.0K)</a:t>
                      </a:r>
                    </a:p>
                  </a:txBody>
                  <a:tcPr marT="25400" marB="25400">
                    <a:solidFill>
                      <a:srgbClr val="FFFFFF"/>
                    </a:solidFill>
                  </a:tcPr>
                </a:tc>
              </a:tr>
              <a:tr h="164592">
                <a:tc>
                  <a:txBody>
                    <a:bodyPr/>
                    <a:lstStyle/>
                    <a:p>
                      <a:pPr>
                        <a:defRPr sz="800">
                          <a:solidFill>
                            <a:srgbClr val="2A2118"/>
                          </a:solidFill>
                          <a:latin typeface="DM Sans"/>
                        </a:defRPr>
                      </a:pPr>
                      <a:r>
                        <a:t>Reach</a:t>
                      </a:r>
                    </a:p>
                  </a:txBody>
                  <a:tcPr marT="25400" marB="25400">
                    <a:solidFill>
                      <a:srgbClr val="FAF7F4"/>
                    </a:solidFill>
                  </a:tcPr>
                </a:tc>
                <a:tc>
                  <a:txBody>
                    <a:bodyPr/>
                    <a:lstStyle/>
                    <a:p>
                      <a:pPr>
                        <a:defRPr sz="800">
                          <a:solidFill>
                            <a:srgbClr val="2A2118"/>
                          </a:solidFill>
                          <a:latin typeface="DM Sans"/>
                        </a:defRPr>
                      </a:pPr>
                      <a:r>
                        <a:t>6.9K</a:t>
                      </a:r>
                    </a:p>
                  </a:txBody>
                  <a:tcPr marT="25400" marB="25400">
                    <a:solidFill>
                      <a:srgbClr val="FAF7F4"/>
                    </a:solidFill>
                  </a:tcPr>
                </a:tc>
                <a:tc>
                  <a:txBody>
                    <a:bodyPr/>
                    <a:lstStyle/>
                    <a:p>
                      <a:pPr>
                        <a:defRPr sz="800">
                          <a:solidFill>
                            <a:srgbClr val="2A2118"/>
                          </a:solidFill>
                          <a:latin typeface="DM Sans"/>
                        </a:defRPr>
                      </a:pPr>
                      <a:r>
                        <a:t>807</a:t>
                      </a:r>
                    </a:p>
                  </a:txBody>
                  <a:tcPr marT="25400" marB="25400">
                    <a:solidFill>
                      <a:srgbClr val="FAF7F4"/>
                    </a:solidFill>
                  </a:tcPr>
                </a:tc>
                <a:tc>
                  <a:txBody>
                    <a:bodyPr/>
                    <a:lstStyle/>
                    <a:p>
                      <a:pPr>
                        <a:defRPr sz="800">
                          <a:solidFill>
                            <a:srgbClr val="B8965A"/>
                          </a:solidFill>
                          <a:latin typeface="DM Sans"/>
                        </a:defRPr>
                      </a:pPr>
                      <a:r>
                        <a:t>↑ new activity (low base: 807→6.9K)</a:t>
                      </a:r>
                    </a:p>
                  </a:txBody>
                  <a:tcPr marT="25400" marB="25400">
                    <a:solidFill>
                      <a:srgbClr val="FAF7F4"/>
                    </a:solidFill>
                  </a:tcPr>
                </a:tc>
              </a:tr>
              <a:tr h="164592">
                <a:tc>
                  <a:txBody>
                    <a:bodyPr/>
                    <a:lstStyle/>
                    <a:p>
                      <a:pPr>
                        <a:defRPr sz="800">
                          <a:solidFill>
                            <a:srgbClr val="2A2118"/>
                          </a:solidFill>
                          <a:latin typeface="DM Sans"/>
                        </a:defRPr>
                      </a:pPr>
                      <a:r>
                        <a:t>Reactions</a:t>
                      </a:r>
                    </a:p>
                  </a:txBody>
                  <a:tcPr marT="25400" marB="25400">
                    <a:solidFill>
                      <a:srgbClr val="FFFFFF"/>
                    </a:solidFill>
                  </a:tcPr>
                </a:tc>
                <a:tc>
                  <a:txBody>
                    <a:bodyPr/>
                    <a:lstStyle/>
                    <a:p>
                      <a:pPr>
                        <a:defRPr sz="800">
                          <a:solidFill>
                            <a:srgbClr val="2A2118"/>
                          </a:solidFill>
                          <a:latin typeface="DM Sans"/>
                        </a:defRPr>
                      </a:pPr>
                      <a:r>
                        <a:t>72</a:t>
                      </a:r>
                    </a:p>
                  </a:txBody>
                  <a:tcPr marT="25400" marB="25400">
                    <a:solidFill>
                      <a:srgbClr val="FFFFFF"/>
                    </a:solidFill>
                  </a:tcPr>
                </a:tc>
                <a:tc>
                  <a:txBody>
                    <a:bodyPr/>
                    <a:lstStyle/>
                    <a:p>
                      <a:pPr>
                        <a:defRPr sz="800">
                          <a:solidFill>
                            <a:srgbClr val="2A2118"/>
                          </a:solidFill>
                          <a:latin typeface="DM Sans"/>
                        </a:defRPr>
                      </a:pPr>
                      <a:r>
                        <a:t>53</a:t>
                      </a:r>
                    </a:p>
                  </a:txBody>
                  <a:tcPr marT="25400" marB="25400">
                    <a:solidFill>
                      <a:srgbClr val="FFFFFF"/>
                    </a:solidFill>
                  </a:tcPr>
                </a:tc>
                <a:tc>
                  <a:txBody>
                    <a:bodyPr/>
                    <a:lstStyle/>
                    <a:p>
                      <a:pPr>
                        <a:defRPr sz="800">
                          <a:solidFill>
                            <a:srgbClr val="B8965A"/>
                          </a:solidFill>
                          <a:latin typeface="DM Sans"/>
                        </a:defRPr>
                      </a:pPr>
                      <a:r>
                        <a:t>↑ +35.8%</a:t>
                      </a:r>
                    </a:p>
                  </a:txBody>
                  <a:tcPr marT="25400" marB="25400">
                    <a:solidFill>
                      <a:srgbClr val="FFFFFF"/>
                    </a:solidFill>
                  </a:tcPr>
                </a:tc>
              </a:tr>
              <a:tr h="164592">
                <a:tc>
                  <a:txBody>
                    <a:bodyPr/>
                    <a:lstStyle/>
                    <a:p>
                      <a:pPr>
                        <a:defRPr sz="800">
                          <a:solidFill>
                            <a:srgbClr val="2A2118"/>
                          </a:solidFill>
                          <a:latin typeface="DM Sans"/>
                        </a:defRPr>
                      </a:pPr>
                      <a:r>
                        <a:t>Comments</a:t>
                      </a:r>
                    </a:p>
                  </a:txBody>
                  <a:tcPr marT="25400" marB="25400">
                    <a:solidFill>
                      <a:srgbClr val="FAF7F4"/>
                    </a:solidFill>
                  </a:tcPr>
                </a:tc>
                <a:tc>
                  <a:txBody>
                    <a:bodyPr/>
                    <a:lstStyle/>
                    <a:p>
                      <a:pPr>
                        <a:defRPr sz="800">
                          <a:solidFill>
                            <a:srgbClr val="2A2118"/>
                          </a:solidFill>
                          <a:latin typeface="DM Sans"/>
                        </a:defRPr>
                      </a:pPr>
                      <a:r>
                        <a:t>10</a:t>
                      </a:r>
                    </a:p>
                  </a:txBody>
                  <a:tcPr marT="25400" marB="25400">
                    <a:solidFill>
                      <a:srgbClr val="FAF7F4"/>
                    </a:solidFill>
                  </a:tcPr>
                </a:tc>
                <a:tc>
                  <a:txBody>
                    <a:bodyPr/>
                    <a:lstStyle/>
                    <a:p>
                      <a:pPr>
                        <a:defRPr sz="800">
                          <a:solidFill>
                            <a:srgbClr val="2A2118"/>
                          </a:solidFill>
                          <a:latin typeface="DM Sans"/>
                        </a:defRPr>
                      </a:pPr>
                      <a:r>
                        <a:t>2</a:t>
                      </a:r>
                    </a:p>
                  </a:txBody>
                  <a:tcPr marT="25400" marB="25400">
                    <a:solidFill>
                      <a:srgbClr val="FAF7F4"/>
                    </a:solidFill>
                  </a:tcPr>
                </a:tc>
                <a:tc>
                  <a:txBody>
                    <a:bodyPr/>
                    <a:lstStyle/>
                    <a:p>
                      <a:pPr>
                        <a:defRPr sz="800">
                          <a:solidFill>
                            <a:srgbClr val="B8965A"/>
                          </a:solidFill>
                          <a:latin typeface="DM Sans"/>
                        </a:defRPr>
                      </a:pPr>
                      <a:r>
                        <a:t>↑ new activity (low base: 2→10)</a:t>
                      </a:r>
                    </a:p>
                  </a:txBody>
                  <a:tcPr marT="25400" marB="25400">
                    <a:solidFill>
                      <a:srgbClr val="FAF7F4"/>
                    </a:solidFill>
                  </a:tcPr>
                </a:tc>
              </a:tr>
              <a:tr h="164592">
                <a:tc>
                  <a:txBody>
                    <a:bodyPr/>
                    <a:lstStyle/>
                    <a:p>
                      <a:pPr>
                        <a:defRPr sz="800">
                          <a:solidFill>
                            <a:srgbClr val="2A2118"/>
                          </a:solidFill>
                          <a:latin typeface="DM Sans"/>
                        </a:defRPr>
                      </a:pPr>
                      <a:r>
                        <a:t>Shares</a:t>
                      </a:r>
                    </a:p>
                  </a:txBody>
                  <a:tcPr marT="25400" marB="25400">
                    <a:solidFill>
                      <a:srgbClr val="FFFFFF"/>
                    </a:solidFill>
                  </a:tcPr>
                </a:tc>
                <a:tc>
                  <a:txBody>
                    <a:bodyPr/>
                    <a:lstStyle/>
                    <a:p>
                      <a:pPr>
                        <a:defRPr sz="800">
                          <a:solidFill>
                            <a:srgbClr val="2A2118"/>
                          </a:solidFill>
                          <a:latin typeface="DM Sans"/>
                        </a:defRPr>
                      </a:pPr>
                      <a:r>
                        <a:t>1</a:t>
                      </a:r>
                    </a:p>
                  </a:txBody>
                  <a:tcPr marT="25400" marB="25400">
                    <a:solidFill>
                      <a:srgbClr val="FFFFFF"/>
                    </a:solidFill>
                  </a:tcPr>
                </a:tc>
                <a:tc>
                  <a:txBody>
                    <a:bodyPr/>
                    <a:lstStyle/>
                    <a:p>
                      <a:pPr>
                        <a:defRPr sz="800">
                          <a:solidFill>
                            <a:srgbClr val="2A2118"/>
                          </a:solidFill>
                          <a:latin typeface="DM Sans"/>
                        </a:defRPr>
                      </a:pPr>
                      <a:r>
                        <a:t>2</a:t>
                      </a:r>
                    </a:p>
                  </a:txBody>
                  <a:tcPr marT="25400" marB="25400">
                    <a:solidFill>
                      <a:srgbClr val="FFFFFF"/>
                    </a:solidFill>
                  </a:tcPr>
                </a:tc>
                <a:tc>
                  <a:txBody>
                    <a:bodyPr/>
                    <a:lstStyle/>
                    <a:p>
                      <a:pPr>
                        <a:defRPr sz="800">
                          <a:solidFill>
                            <a:srgbClr val="8A7E74"/>
                          </a:solidFill>
                          <a:latin typeface="DM Sans"/>
                        </a:defRPr>
                      </a:pPr>
                      <a:r>
                        <a:t>↓ -50.0%</a:t>
                      </a:r>
                    </a:p>
                  </a:txBody>
                  <a:tcPr marT="25400" marB="25400">
                    <a:solidFill>
                      <a:srgbClr val="FFFFFF"/>
                    </a:solidFill>
                  </a:tcPr>
                </a:tc>
              </a:tr>
              <a:tr h="164592">
                <a:tc>
                  <a:txBody>
                    <a:bodyPr/>
                    <a:lstStyle/>
                    <a:p>
                      <a:pPr>
                        <a:defRPr sz="800">
                          <a:solidFill>
                            <a:srgbClr val="2A2118"/>
                          </a:solidFill>
                          <a:latin typeface="DM Sans"/>
                        </a:defRPr>
                      </a:pPr>
                      <a:r>
                        <a:t>Saves</a:t>
                      </a:r>
                    </a:p>
                  </a:txBody>
                  <a:tcPr marT="25400" marB="25400">
                    <a:solidFill>
                      <a:srgbClr val="FAF7F4"/>
                    </a:solidFill>
                  </a:tcPr>
                </a:tc>
                <a:tc>
                  <a:txBody>
                    <a:bodyPr/>
                    <a:lstStyle/>
                    <a:p>
                      <a:pPr>
                        <a:defRPr sz="800">
                          <a:solidFill>
                            <a:srgbClr val="2A2118"/>
                          </a:solidFill>
                          <a:latin typeface="DM Sans"/>
                        </a:defRPr>
                      </a:pPr>
                      <a:r>
                        <a:t>1</a:t>
                      </a:r>
                    </a:p>
                  </a:txBody>
                  <a:tcPr marT="25400" marB="25400">
                    <a:solidFill>
                      <a:srgbClr val="FAF7F4"/>
                    </a:solidFill>
                  </a:tcPr>
                </a:tc>
                <a:tc>
                  <a:txBody>
                    <a:bodyPr/>
                    <a:lstStyle/>
                    <a:p>
                      <a:pPr>
                        <a:defRPr sz="800">
                          <a:solidFill>
                            <a:srgbClr val="2A2118"/>
                          </a:solidFill>
                          <a:latin typeface="DM Sans"/>
                        </a:defRPr>
                      </a:pPr>
                      <a:r>
                        <a:t>0</a:t>
                      </a:r>
                    </a:p>
                  </a:txBody>
                  <a:tcPr marT="25400" marB="25400">
                    <a:solidFill>
                      <a:srgbClr val="FAF7F4"/>
                    </a:solidFill>
                  </a:tcPr>
                </a:tc>
                <a:tc>
                  <a:txBody>
                    <a:bodyPr/>
                    <a:lstStyle/>
                    <a:p>
                      <a:pPr>
                        <a:defRPr sz="800">
                          <a:solidFill>
                            <a:srgbClr val="B8965A"/>
                          </a:solidFill>
                          <a:latin typeface="DM Sans"/>
                        </a:defRPr>
                      </a:pPr>
                      <a:r>
                        <a:t>↑ new activity</a:t>
                      </a:r>
                    </a:p>
                  </a:txBody>
                  <a:tcPr marT="25400" marB="25400">
                    <a:solidFill>
                      <a:srgbClr val="FAF7F4"/>
                    </a:solidFill>
                  </a:tcPr>
                </a:tc>
              </a:tr>
              <a:tr h="164592">
                <a:tc>
                  <a:txBody>
                    <a:bodyPr/>
                    <a:lstStyle/>
                    <a:p>
                      <a:pPr>
                        <a:defRPr sz="800">
                          <a:solidFill>
                            <a:srgbClr val="2A2118"/>
                          </a:solidFill>
                          <a:latin typeface="DM Sans"/>
                        </a:defRPr>
                      </a:pPr>
                      <a:r>
                        <a:t>Weighted Eng. Rate (reach)</a:t>
                      </a:r>
                    </a:p>
                  </a:txBody>
                  <a:tcPr marT="25400" marB="25400">
                    <a:solidFill>
                      <a:srgbClr val="FFFFFF"/>
                    </a:solidFill>
                  </a:tcPr>
                </a:tc>
                <a:tc>
                  <a:txBody>
                    <a:bodyPr/>
                    <a:lstStyle/>
                    <a:p>
                      <a:pPr>
                        <a:defRPr sz="800">
                          <a:solidFill>
                            <a:srgbClr val="2A2118"/>
                          </a:solidFill>
                          <a:latin typeface="DM Sans"/>
                        </a:defRPr>
                      </a:pPr>
                      <a:r>
                        <a:t>1.21%</a:t>
                      </a:r>
                    </a:p>
                  </a:txBody>
                  <a:tcPr marT="25400" marB="25400">
                    <a:solidFill>
                      <a:srgbClr val="FFFFFF"/>
                    </a:solidFill>
                  </a:tcPr>
                </a:tc>
                <a:tc>
                  <a:txBody>
                    <a:bodyPr/>
                    <a:lstStyle/>
                    <a:p>
                      <a:pPr>
                        <a:defRPr sz="800">
                          <a:solidFill>
                            <a:srgbClr val="2A2118"/>
                          </a:solidFill>
                          <a:latin typeface="DM Sans"/>
                        </a:defRPr>
                      </a:pPr>
                      <a:r>
                        <a:t>7.06%</a:t>
                      </a:r>
                    </a:p>
                  </a:txBody>
                  <a:tcPr marT="25400" marB="25400">
                    <a:solidFill>
                      <a:srgbClr val="FFFFFF"/>
                    </a:solidFill>
                  </a:tcPr>
                </a:tc>
                <a:tc>
                  <a:txBody>
                    <a:bodyPr/>
                    <a:lstStyle/>
                    <a:p>
                      <a:pPr>
                        <a:defRPr sz="800">
                          <a:solidFill>
                            <a:srgbClr val="8A7E74"/>
                          </a:solidFill>
                          <a:latin typeface="DM Sans"/>
                        </a:defRPr>
                      </a:pPr>
                      <a:r>
                        <a:t>↓ -82.9%</a:t>
                      </a:r>
                    </a:p>
                  </a:txBody>
                  <a:tcPr marT="25400" marB="25400">
                    <a:solidFill>
                      <a:srgbClr val="FFFFFF"/>
                    </a:solidFill>
                  </a:tcPr>
                </a:tc>
              </a:tr>
            </a:tbl>
          </a:graphicData>
        </a:graphic>
      </p:graphicFrame>
      <p:sp>
        <p:nvSpPr>
          <p:cNvPr id="9" name="TextBox 8"/>
          <p:cNvSpPr txBox="1"/>
          <p:nvPr/>
        </p:nvSpPr>
        <p:spPr>
          <a:xfrm>
            <a:off x="512064" y="3310128"/>
            <a:ext cx="8119872" cy="182880"/>
          </a:xfrm>
          <a:prstGeom prst="rect">
            <a:avLst/>
          </a:prstGeom>
          <a:noFill/>
        </p:spPr>
        <p:txBody>
          <a:bodyPr wrap="square">
            <a:spAutoFit/>
          </a:bodyPr>
          <a:lstStyle/>
          <a:p>
            <a:r>
              <a:rPr sz="1000" i="1">
                <a:solidFill>
                  <a:srgbClr val="8A7E74"/>
                </a:solidFill>
                <a:latin typeface="DM Sans"/>
              </a:rPr>
              <a:t>Shares, Engagement Rate softened despite posting volume increasing (11 vs. 6 posts).</a:t>
            </a:r>
          </a:p>
        </p:txBody>
      </p:sp>
      <p:sp>
        <p:nvSpPr>
          <p:cNvPr id="10" name="TextBox 9"/>
          <p:cNvSpPr txBox="1"/>
          <p:nvPr/>
        </p:nvSpPr>
        <p:spPr>
          <a:xfrm>
            <a:off x="512064" y="3520440"/>
            <a:ext cx="8119872" cy="219456"/>
          </a:xfrm>
          <a:prstGeom prst="rect">
            <a:avLst/>
          </a:prstGeom>
          <a:noFill/>
        </p:spPr>
        <p:txBody>
          <a:bodyPr wrap="none">
            <a:spAutoFit/>
          </a:bodyPr>
          <a:lstStyle/>
          <a:p>
            <a:r>
              <a:rPr sz="1200" b="1">
                <a:solidFill>
                  <a:srgbClr val="6B5F55"/>
                </a:solidFill>
                <a:latin typeface="DM Sans"/>
              </a:rPr>
              <a:t>Daily Views — Current vs. Prior Period</a:t>
            </a:r>
          </a:p>
        </p:txBody>
      </p:sp>
      <p:graphicFrame>
        <p:nvGraphicFramePr>
          <p:cNvPr id="11" name="Chart 10"/>
          <p:cNvGraphicFramePr>
            <a:graphicFrameLocks noGrp="1"/>
          </p:cNvGraphicFramePr>
          <p:nvPr/>
        </p:nvGraphicFramePr>
        <p:xfrm>
          <a:off x="512064" y="3739896"/>
          <a:ext cx="8119872" cy="1152144"/>
        </p:xfrm>
        <a:graphic>
          <a:graphicData uri="http://schemas.openxmlformats.org/drawingml/2006/chart">
            <c:chart xmlns:c="http://schemas.openxmlformats.org/drawingml/2006/chart" r:id="rId2"/>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4"/>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707252"/>
                </a:solidFill>
                <a:latin typeface="Cormorant Garamond"/>
              </a:rPr>
              <a:t>Instagram — Top Posts This Period</a:t>
            </a:r>
          </a:p>
        </p:txBody>
      </p:sp>
      <p:cxnSp>
        <p:nvCxnSpPr>
          <p:cNvPr id="3" name="Connector 2"/>
          <p:cNvCxnSpPr/>
          <p:nvPr/>
        </p:nvCxnSpPr>
        <p:spPr>
          <a:xfrm>
            <a:off x="512064" y="1060704"/>
            <a:ext cx="8119872" cy="0"/>
          </a:xfrm>
          <a:prstGeom prst="line">
            <a:avLst/>
          </a:prstGeom>
          <a:ln w="9525">
            <a:solidFill>
              <a:srgbClr val="E2DBD4"/>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12064" y="1133856"/>
            <a:ext cx="8119872" cy="548640"/>
          </a:xfrm>
          <a:prstGeom prst="rect">
            <a:avLst/>
          </a:prstGeom>
          <a:noFill/>
        </p:spPr>
        <p:txBody>
          <a:bodyPr wrap="square">
            <a:spAutoFit/>
          </a:bodyPr>
          <a:lstStyle/>
          <a:p>
            <a:r>
              <a:rPr sz="1400" b="0">
                <a:solidFill>
                  <a:srgbClr val="2A2118"/>
                </a:solidFill>
                <a:latin typeface="DM Sans"/>
              </a:rPr>
              <a:t>“Pro tip for dark dye days: massage a little…” drove </a:t>
            </a:r>
            <a:r>
              <a:rPr sz="1400" b="1">
                <a:solidFill>
                  <a:srgbClr val="D99F95"/>
                </a:solidFill>
                <a:latin typeface="DM Sans"/>
              </a:rPr>
              <a:t>60%</a:t>
            </a:r>
            <a:r>
              <a:rPr sz="1400" b="0">
                <a:solidFill>
                  <a:srgbClr val="2A2118"/>
                </a:solidFill>
                <a:latin typeface="DM Sans"/>
              </a:rPr>
              <a:t> of this period's total views.</a:t>
            </a:r>
          </a:p>
        </p:txBody>
      </p:sp>
      <p:graphicFrame>
        <p:nvGraphicFramePr>
          <p:cNvPr id="5" name="Table 4"/>
          <p:cNvGraphicFramePr>
            <a:graphicFrameLocks noGrp="1"/>
          </p:cNvGraphicFramePr>
          <p:nvPr/>
        </p:nvGraphicFramePr>
        <p:xfrm>
          <a:off x="512064" y="1709928"/>
          <a:ext cx="8119872" cy="3017520"/>
        </p:xfrm>
        <a:graphic>
          <a:graphicData uri="http://schemas.openxmlformats.org/drawingml/2006/table">
            <a:tbl>
              <a:tblPr firstRow="1" bandRow="1">
                <a:tableStyleId>{5C22544A-7EE6-4342-B048-85BDC9FD1C3A}</a:tableStyleId>
              </a:tblPr>
              <a:tblGrid>
                <a:gridCol w="4507992"/>
                <a:gridCol w="640080"/>
                <a:gridCol w="685800"/>
                <a:gridCol w="777240"/>
                <a:gridCol w="777240"/>
                <a:gridCol w="731520"/>
              </a:tblGrid>
              <a:tr h="502920">
                <a:tc>
                  <a:txBody>
                    <a:bodyPr/>
                    <a:lstStyle/>
                    <a:p>
                      <a:pPr>
                        <a:defRPr sz="900" b="1">
                          <a:solidFill>
                            <a:srgbClr val="FFFFFF"/>
                          </a:solidFill>
                          <a:latin typeface="DM Sans"/>
                        </a:defRPr>
                      </a:pPr>
                      <a:r>
                        <a:t>Post</a:t>
                      </a:r>
                    </a:p>
                  </a:txBody>
                  <a:tcPr marT="25400" marB="25400">
                    <a:solidFill>
                      <a:srgbClr val="707252"/>
                    </a:solidFill>
                  </a:tcPr>
                </a:tc>
                <a:tc>
                  <a:txBody>
                    <a:bodyPr/>
                    <a:lstStyle/>
                    <a:p>
                      <a:pPr>
                        <a:defRPr sz="900" b="1">
                          <a:solidFill>
                            <a:srgbClr val="FFFFFF"/>
                          </a:solidFill>
                          <a:latin typeface="DM Sans"/>
                        </a:defRPr>
                      </a:pPr>
                      <a:r>
                        <a:t>Date</a:t>
                      </a:r>
                    </a:p>
                  </a:txBody>
                  <a:tcPr marT="25400" marB="25400">
                    <a:solidFill>
                      <a:srgbClr val="707252"/>
                    </a:solidFill>
                  </a:tcPr>
                </a:tc>
                <a:tc>
                  <a:txBody>
                    <a:bodyPr/>
                    <a:lstStyle/>
                    <a:p>
                      <a:pPr>
                        <a:defRPr sz="900" b="1">
                          <a:solidFill>
                            <a:srgbClr val="FFFFFF"/>
                          </a:solidFill>
                          <a:latin typeface="DM Sans"/>
                        </a:defRPr>
                      </a:pPr>
                      <a:r>
                        <a:t>Views</a:t>
                      </a:r>
                    </a:p>
                  </a:txBody>
                  <a:tcPr marT="25400" marB="25400">
                    <a:solidFill>
                      <a:srgbClr val="707252"/>
                    </a:solidFill>
                  </a:tcPr>
                </a:tc>
                <a:tc>
                  <a:txBody>
                    <a:bodyPr/>
                    <a:lstStyle/>
                    <a:p>
                      <a:pPr>
                        <a:defRPr sz="900" b="1">
                          <a:solidFill>
                            <a:srgbClr val="FFFFFF"/>
                          </a:solidFill>
                          <a:latin typeface="DM Sans"/>
                        </a:defRPr>
                      </a:pPr>
                      <a:r>
                        <a:t>Reactions</a:t>
                      </a:r>
                    </a:p>
                  </a:txBody>
                  <a:tcPr marT="25400" marB="25400">
                    <a:solidFill>
                      <a:srgbClr val="707252"/>
                    </a:solidFill>
                  </a:tcPr>
                </a:tc>
                <a:tc>
                  <a:txBody>
                    <a:bodyPr/>
                    <a:lstStyle/>
                    <a:p>
                      <a:pPr>
                        <a:defRPr sz="900" b="1">
                          <a:solidFill>
                            <a:srgbClr val="FFFFFF"/>
                          </a:solidFill>
                          <a:latin typeface="DM Sans"/>
                        </a:defRPr>
                      </a:pPr>
                      <a:r>
                        <a:t>Comments</a:t>
                      </a:r>
                    </a:p>
                  </a:txBody>
                  <a:tcPr marT="25400" marB="25400">
                    <a:solidFill>
                      <a:srgbClr val="707252"/>
                    </a:solidFill>
                  </a:tcPr>
                </a:tc>
                <a:tc>
                  <a:txBody>
                    <a:bodyPr/>
                    <a:lstStyle/>
                    <a:p>
                      <a:pPr>
                        <a:defRPr sz="900" b="1">
                          <a:solidFill>
                            <a:srgbClr val="FFFFFF"/>
                          </a:solidFill>
                          <a:latin typeface="DM Sans"/>
                        </a:defRPr>
                      </a:pPr>
                      <a:r>
                        <a:t>Shares</a:t>
                      </a:r>
                    </a:p>
                  </a:txBody>
                  <a:tcPr marT="25400" marB="25400">
                    <a:solidFill>
                      <a:srgbClr val="707252"/>
                    </a:solidFill>
                  </a:tcPr>
                </a:tc>
              </a:tr>
              <a:tr h="502920">
                <a:tc>
                  <a:txBody>
                    <a:bodyPr/>
                    <a:lstStyle/>
                    <a:p>
                      <a:pPr>
                        <a:defRPr sz="900">
                          <a:solidFill>
                            <a:srgbClr val="2A2118"/>
                          </a:solidFill>
                          <a:latin typeface="DM Sans"/>
                        </a:defRPr>
                      </a:pPr>
                      <a:r>
                        <a:t>Pro tip for dark dye days: massage a little shampoo onto stained skin while rinsing — it lifts the color right off, no stains left behind. 🖤✨ Watch the full process at Salon Verit…</a:t>
                      </a:r>
                    </a:p>
                  </a:txBody>
                  <a:tcPr marT="25400" marB="25400">
                    <a:solidFill>
                      <a:srgbClr val="FAF7F4"/>
                    </a:solidFill>
                  </a:tcPr>
                </a:tc>
                <a:tc>
                  <a:txBody>
                    <a:bodyPr/>
                    <a:lstStyle/>
                    <a:p>
                      <a:pPr>
                        <a:defRPr sz="900">
                          <a:solidFill>
                            <a:srgbClr val="2A2118"/>
                          </a:solidFill>
                          <a:latin typeface="DM Sans"/>
                        </a:defRPr>
                      </a:pPr>
                      <a:r>
                        <a:t>Aug 30</a:t>
                      </a:r>
                    </a:p>
                  </a:txBody>
                  <a:tcPr marT="25400" marB="25400">
                    <a:solidFill>
                      <a:srgbClr val="FAF7F4"/>
                    </a:solidFill>
                  </a:tcPr>
                </a:tc>
                <a:tc>
                  <a:txBody>
                    <a:bodyPr/>
                    <a:lstStyle/>
                    <a:p>
                      <a:pPr>
                        <a:defRPr sz="900">
                          <a:solidFill>
                            <a:srgbClr val="2A2118"/>
                          </a:solidFill>
                          <a:latin typeface="DM Sans"/>
                        </a:defRPr>
                      </a:pPr>
                      <a:r>
                        <a:t>5.4K</a:t>
                      </a:r>
                    </a:p>
                  </a:txBody>
                  <a:tcPr marT="25400" marB="25400">
                    <a:solidFill>
                      <a:srgbClr val="FAF7F4"/>
                    </a:solidFill>
                  </a:tcPr>
                </a:tc>
                <a:tc>
                  <a:txBody>
                    <a:bodyPr/>
                    <a:lstStyle/>
                    <a:p>
                      <a:pPr>
                        <a:defRPr sz="900">
                          <a:solidFill>
                            <a:srgbClr val="2A2118"/>
                          </a:solidFill>
                          <a:latin typeface="DM Sans"/>
                        </a:defRPr>
                      </a:pPr>
                      <a:r>
                        <a:t>10</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c>
                  <a:txBody>
                    <a:bodyPr/>
                    <a:lstStyle/>
                    <a:p>
                      <a:pPr>
                        <a:defRPr sz="900">
                          <a:solidFill>
                            <a:srgbClr val="2A2118"/>
                          </a:solidFill>
                          <a:latin typeface="DM Sans"/>
                        </a:defRPr>
                      </a:pPr>
                      <a:r>
                        <a:t>1</a:t>
                      </a:r>
                    </a:p>
                  </a:txBody>
                  <a:tcPr marT="25400" marB="25400">
                    <a:solidFill>
                      <a:srgbClr val="FAF7F4"/>
                    </a:solidFill>
                  </a:tcPr>
                </a:tc>
              </a:tr>
              <a:tr h="502920">
                <a:tc>
                  <a:txBody>
                    <a:bodyPr/>
                    <a:lstStyle/>
                    <a:p>
                      <a:pPr>
                        <a:defRPr sz="900">
                          <a:solidFill>
                            <a:srgbClr val="2A2118"/>
                          </a:solidFill>
                          <a:latin typeface="DM Sans"/>
                        </a:defRPr>
                      </a:pPr>
                      <a:r>
                        <a:t>Black doesn’t get more dimensional than this. ✨ From root to tip, this rich, glossy black was crafted with precision at Salon Veritas. Book your next color transformation with us…</a:t>
                      </a:r>
                    </a:p>
                  </a:txBody>
                  <a:tcPr marT="25400" marB="25400">
                    <a:solidFill>
                      <a:srgbClr val="FFFFFF"/>
                    </a:solidFill>
                  </a:tcPr>
                </a:tc>
                <a:tc>
                  <a:txBody>
                    <a:bodyPr/>
                    <a:lstStyle/>
                    <a:p>
                      <a:pPr>
                        <a:defRPr sz="900">
                          <a:solidFill>
                            <a:srgbClr val="2A2118"/>
                          </a:solidFill>
                          <a:latin typeface="DM Sans"/>
                        </a:defRPr>
                      </a:pPr>
                      <a:r>
                        <a:t>Aug 25</a:t>
                      </a:r>
                    </a:p>
                  </a:txBody>
                  <a:tcPr marT="25400" marB="25400">
                    <a:solidFill>
                      <a:srgbClr val="FFFFFF"/>
                    </a:solidFill>
                  </a:tcPr>
                </a:tc>
                <a:tc>
                  <a:txBody>
                    <a:bodyPr/>
                    <a:lstStyle/>
                    <a:p>
                      <a:pPr>
                        <a:defRPr sz="900">
                          <a:solidFill>
                            <a:srgbClr val="2A2118"/>
                          </a:solidFill>
                          <a:latin typeface="DM Sans"/>
                        </a:defRPr>
                      </a:pPr>
                      <a:r>
                        <a:t>2.1K</a:t>
                      </a:r>
                    </a:p>
                  </a:txBody>
                  <a:tcPr marT="25400" marB="25400">
                    <a:solidFill>
                      <a:srgbClr val="FFFFFF"/>
                    </a:solidFill>
                  </a:tcPr>
                </a:tc>
                <a:tc>
                  <a:txBody>
                    <a:bodyPr/>
                    <a:lstStyle/>
                    <a:p>
                      <a:pPr>
                        <a:defRPr sz="900">
                          <a:solidFill>
                            <a:srgbClr val="2A2118"/>
                          </a:solidFill>
                          <a:latin typeface="DM Sans"/>
                        </a:defRPr>
                      </a:pPr>
                      <a:r>
                        <a:t>14</a:t>
                      </a:r>
                    </a:p>
                  </a:txBody>
                  <a:tcPr marT="25400" marB="25400">
                    <a:solidFill>
                      <a:srgbClr val="FFFFFF"/>
                    </a:solidFill>
                  </a:tcPr>
                </a:tc>
                <a:tc>
                  <a:txBody>
                    <a:bodyPr/>
                    <a:lstStyle/>
                    <a:p>
                      <a:pPr>
                        <a:defRPr sz="900">
                          <a:solidFill>
                            <a:srgbClr val="2A2118"/>
                          </a:solidFill>
                          <a:latin typeface="DM Sans"/>
                        </a:defRPr>
                      </a:pPr>
                      <a:r>
                        <a:t>1</a:t>
                      </a:r>
                    </a:p>
                  </a:txBody>
                  <a:tcPr marT="25400" marB="25400">
                    <a:solidFill>
                      <a:srgbClr val="FFFFFF"/>
                    </a:solidFill>
                  </a:tcPr>
                </a:tc>
                <a:tc>
                  <a:txBody>
                    <a:bodyPr/>
                    <a:lstStyle/>
                    <a:p>
                      <a:pPr>
                        <a:defRPr sz="900">
                          <a:solidFill>
                            <a:srgbClr val="2A2118"/>
                          </a:solidFill>
                          <a:latin typeface="DM Sans"/>
                        </a:defRPr>
                      </a:pPr>
                      <a:r>
                        <a:t>0</a:t>
                      </a:r>
                    </a:p>
                  </a:txBody>
                  <a:tcPr marT="25400" marB="25400">
                    <a:solidFill>
                      <a:srgbClr val="FFFFFF"/>
                    </a:solidFill>
                  </a:tcPr>
                </a:tc>
              </a:tr>
              <a:tr h="502920">
                <a:tc>
                  <a:txBody>
                    <a:bodyPr/>
                    <a:lstStyle/>
                    <a:p>
                      <a:pPr>
                        <a:defRPr sz="900">
                          <a:solidFill>
                            <a:srgbClr val="2A2118"/>
                          </a:solidFill>
                          <a:latin typeface="DM Sans"/>
                        </a:defRPr>
                      </a:pPr>
                      <a:r>
                        <a:t>This St. Louis beauty received a bob, layered bangs, and highlights. Look at her classic main character energy ✨ #SalonVeritas #HairTransformation #backtothebob #freshcut #haircol…</a:t>
                      </a:r>
                    </a:p>
                  </a:txBody>
                  <a:tcPr marT="25400" marB="25400">
                    <a:solidFill>
                      <a:srgbClr val="FAF7F4"/>
                    </a:solidFill>
                  </a:tcPr>
                </a:tc>
                <a:tc>
                  <a:txBody>
                    <a:bodyPr/>
                    <a:lstStyle/>
                    <a:p>
                      <a:pPr>
                        <a:defRPr sz="900">
                          <a:solidFill>
                            <a:srgbClr val="2A2118"/>
                          </a:solidFill>
                          <a:latin typeface="DM Sans"/>
                        </a:defRPr>
                      </a:pPr>
                      <a:r>
                        <a:t>Sep 02</a:t>
                      </a:r>
                    </a:p>
                  </a:txBody>
                  <a:tcPr marT="25400" marB="25400">
                    <a:solidFill>
                      <a:srgbClr val="FAF7F4"/>
                    </a:solidFill>
                  </a:tcPr>
                </a:tc>
                <a:tc>
                  <a:txBody>
                    <a:bodyPr/>
                    <a:lstStyle/>
                    <a:p>
                      <a:pPr>
                        <a:defRPr sz="900">
                          <a:solidFill>
                            <a:srgbClr val="2A2118"/>
                          </a:solidFill>
                          <a:latin typeface="DM Sans"/>
                        </a:defRPr>
                      </a:pPr>
                      <a:r>
                        <a:t>277</a:t>
                      </a:r>
                    </a:p>
                  </a:txBody>
                  <a:tcPr marT="25400" marB="25400">
                    <a:solidFill>
                      <a:srgbClr val="FAF7F4"/>
                    </a:solidFill>
                  </a:tcPr>
                </a:tc>
                <a:tc>
                  <a:txBody>
                    <a:bodyPr/>
                    <a:lstStyle/>
                    <a:p>
                      <a:pPr>
                        <a:defRPr sz="900">
                          <a:solidFill>
                            <a:srgbClr val="2A2118"/>
                          </a:solidFill>
                          <a:latin typeface="DM Sans"/>
                        </a:defRPr>
                      </a:pPr>
                      <a:r>
                        <a:t>8</a:t>
                      </a:r>
                    </a:p>
                  </a:txBody>
                  <a:tcPr marT="25400" marB="25400">
                    <a:solidFill>
                      <a:srgbClr val="FAF7F4"/>
                    </a:solidFill>
                  </a:tcPr>
                </a:tc>
                <a:tc>
                  <a:txBody>
                    <a:bodyPr/>
                    <a:lstStyle/>
                    <a:p>
                      <a:pPr>
                        <a:defRPr sz="900">
                          <a:solidFill>
                            <a:srgbClr val="2A2118"/>
                          </a:solidFill>
                          <a:latin typeface="DM Sans"/>
                        </a:defRPr>
                      </a:pPr>
                      <a:r>
                        <a:t>6</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r>
              <a:tr h="502920">
                <a:tc>
                  <a:txBody>
                    <a:bodyPr/>
                    <a:lstStyle/>
                    <a:p>
                      <a:pPr>
                        <a:defRPr sz="900">
                          <a:solidFill>
                            <a:srgbClr val="2A2118"/>
                          </a:solidFill>
                          <a:latin typeface="DM Sans"/>
                        </a:defRPr>
                      </a:pPr>
                      <a:r>
                        <a:t>Happy Birthday to my sister from another Mr. I love you 😘 my ride or die 🫣🤷🏻‍♀️🎂</a:t>
                      </a:r>
                    </a:p>
                  </a:txBody>
                  <a:tcPr marT="25400" marB="25400">
                    <a:solidFill>
                      <a:srgbClr val="FFFFFF"/>
                    </a:solidFill>
                  </a:tcPr>
                </a:tc>
                <a:tc>
                  <a:txBody>
                    <a:bodyPr/>
                    <a:lstStyle/>
                    <a:p>
                      <a:pPr>
                        <a:defRPr sz="900">
                          <a:solidFill>
                            <a:srgbClr val="2A2118"/>
                          </a:solidFill>
                          <a:latin typeface="DM Sans"/>
                        </a:defRPr>
                      </a:pPr>
                      <a:r>
                        <a:t>Aug 15</a:t>
                      </a:r>
                    </a:p>
                  </a:txBody>
                  <a:tcPr marT="25400" marB="25400">
                    <a:solidFill>
                      <a:srgbClr val="FFFFFF"/>
                    </a:solidFill>
                  </a:tcPr>
                </a:tc>
                <a:tc>
                  <a:txBody>
                    <a:bodyPr/>
                    <a:lstStyle/>
                    <a:p>
                      <a:pPr>
                        <a:defRPr sz="900">
                          <a:solidFill>
                            <a:srgbClr val="2A2118"/>
                          </a:solidFill>
                          <a:latin typeface="DM Sans"/>
                        </a:defRPr>
                      </a:pPr>
                      <a:r>
                        <a:t>270</a:t>
                      </a:r>
                    </a:p>
                  </a:txBody>
                  <a:tcPr marT="25400" marB="25400">
                    <a:solidFill>
                      <a:srgbClr val="FFFFFF"/>
                    </a:solidFill>
                  </a:tcPr>
                </a:tc>
                <a:tc>
                  <a:txBody>
                    <a:bodyPr/>
                    <a:lstStyle/>
                    <a:p>
                      <a:pPr>
                        <a:defRPr sz="900">
                          <a:solidFill>
                            <a:srgbClr val="2A2118"/>
                          </a:solidFill>
                          <a:latin typeface="DM Sans"/>
                        </a:defRPr>
                      </a:pPr>
                      <a:r>
                        <a:t>10</a:t>
                      </a:r>
                    </a:p>
                  </a:txBody>
                  <a:tcPr marT="25400" marB="25400">
                    <a:solidFill>
                      <a:srgbClr val="FFFFFF"/>
                    </a:solidFill>
                  </a:tcPr>
                </a:tc>
                <a:tc>
                  <a:txBody>
                    <a:bodyPr/>
                    <a:lstStyle/>
                    <a:p>
                      <a:pPr>
                        <a:defRPr sz="900">
                          <a:solidFill>
                            <a:srgbClr val="2A2118"/>
                          </a:solidFill>
                          <a:latin typeface="DM Sans"/>
                        </a:defRPr>
                      </a:pPr>
                      <a:r>
                        <a:t>1</a:t>
                      </a:r>
                    </a:p>
                  </a:txBody>
                  <a:tcPr marT="25400" marB="25400">
                    <a:solidFill>
                      <a:srgbClr val="FFFFFF"/>
                    </a:solidFill>
                  </a:tcPr>
                </a:tc>
                <a:tc>
                  <a:txBody>
                    <a:bodyPr/>
                    <a:lstStyle/>
                    <a:p>
                      <a:pPr>
                        <a:defRPr sz="900">
                          <a:solidFill>
                            <a:srgbClr val="2A2118"/>
                          </a:solidFill>
                          <a:latin typeface="DM Sans"/>
                        </a:defRPr>
                      </a:pPr>
                      <a:r>
                        <a:t>0</a:t>
                      </a:r>
                    </a:p>
                  </a:txBody>
                  <a:tcPr marT="25400" marB="25400">
                    <a:solidFill>
                      <a:srgbClr val="FFFFFF"/>
                    </a:solidFill>
                  </a:tcPr>
                </a:tc>
              </a:tr>
              <a:tr h="502920">
                <a:tc>
                  <a:txBody>
                    <a:bodyPr/>
                    <a:lstStyle/>
                    <a:p>
                      <a:pPr>
                        <a:defRPr sz="900">
                          <a:solidFill>
                            <a:srgbClr val="2A2118"/>
                          </a:solidFill>
                          <a:latin typeface="DM Sans"/>
                        </a:defRPr>
                      </a:pPr>
                      <a:r>
                        <a:t>Coppery blonde, transformed into a rich, unapologetic red. This wasn't a small ask. She came in ready for a change, and we talked through the depth, the undertone, the maintenance…</a:t>
                      </a:r>
                    </a:p>
                  </a:txBody>
                  <a:tcPr marT="25400" marB="25400">
                    <a:solidFill>
                      <a:srgbClr val="FAF7F4"/>
                    </a:solidFill>
                  </a:tcPr>
                </a:tc>
                <a:tc>
                  <a:txBody>
                    <a:bodyPr/>
                    <a:lstStyle/>
                    <a:p>
                      <a:pPr>
                        <a:defRPr sz="900">
                          <a:solidFill>
                            <a:srgbClr val="2A2118"/>
                          </a:solidFill>
                          <a:latin typeface="DM Sans"/>
                        </a:defRPr>
                      </a:pPr>
                      <a:r>
                        <a:t>Sep 05</a:t>
                      </a:r>
                    </a:p>
                  </a:txBody>
                  <a:tcPr marT="25400" marB="25400">
                    <a:solidFill>
                      <a:srgbClr val="FAF7F4"/>
                    </a:solidFill>
                  </a:tcPr>
                </a:tc>
                <a:tc>
                  <a:txBody>
                    <a:bodyPr/>
                    <a:lstStyle/>
                    <a:p>
                      <a:pPr>
                        <a:defRPr sz="900">
                          <a:solidFill>
                            <a:srgbClr val="2A2118"/>
                          </a:solidFill>
                          <a:latin typeface="DM Sans"/>
                        </a:defRPr>
                      </a:pPr>
                      <a:r>
                        <a:t>227</a:t>
                      </a:r>
                    </a:p>
                  </a:txBody>
                  <a:tcPr marT="25400" marB="25400">
                    <a:solidFill>
                      <a:srgbClr val="FAF7F4"/>
                    </a:solidFill>
                  </a:tcPr>
                </a:tc>
                <a:tc>
                  <a:txBody>
                    <a:bodyPr/>
                    <a:lstStyle/>
                    <a:p>
                      <a:pPr>
                        <a:defRPr sz="900">
                          <a:solidFill>
                            <a:srgbClr val="2A2118"/>
                          </a:solidFill>
                          <a:latin typeface="DM Sans"/>
                        </a:defRPr>
                      </a:pPr>
                      <a:r>
                        <a:t>7</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4"/>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707252"/>
                </a:solidFill>
                <a:latin typeface="Cormorant Garamond"/>
              </a:rPr>
              <a:t>Facebook Insights</a:t>
            </a:r>
          </a:p>
        </p:txBody>
      </p:sp>
      <p:cxnSp>
        <p:nvCxnSpPr>
          <p:cNvPr id="3" name="Connector 2"/>
          <p:cNvCxnSpPr/>
          <p:nvPr/>
        </p:nvCxnSpPr>
        <p:spPr>
          <a:xfrm>
            <a:off x="512064" y="1060704"/>
            <a:ext cx="8119872" cy="0"/>
          </a:xfrm>
          <a:prstGeom prst="line">
            <a:avLst/>
          </a:prstGeom>
          <a:ln w="9525">
            <a:solidFill>
              <a:srgbClr val="E2DBD4"/>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512064" y="1133856"/>
            <a:ext cx="2645664" cy="640080"/>
          </a:xfrm>
          <a:prstGeom prst="roundRect">
            <a:avLst>
              <a:gd name="adj" fmla="val 8000"/>
            </a:avLst>
          </a:prstGeom>
          <a:solidFill>
            <a:srgbClr val="FFFFFF"/>
          </a:solidFill>
          <a:ln w="9525">
            <a:solidFill>
              <a:srgbClr val="E2DBD4"/>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6B5F55"/>
                </a:solidFill>
                <a:latin typeface="DM Sans"/>
              </a:rPr>
              <a:t>Impressions</a:t>
            </a:r>
          </a:p>
          <a:p>
            <a:pPr algn="ctr"/>
            <a:r>
              <a:rPr sz="2200" b="1">
                <a:solidFill>
                  <a:srgbClr val="D99F95"/>
                </a:solidFill>
                <a:latin typeface="DM Sans"/>
              </a:rPr>
              <a:t>763</a:t>
            </a:r>
          </a:p>
          <a:p>
            <a:pPr algn="ctr"/>
            <a:r>
              <a:rPr sz="900" b="1">
                <a:solidFill>
                  <a:srgbClr val="B8965A"/>
                </a:solidFill>
                <a:latin typeface="DM Sans"/>
              </a:rPr>
              <a:t>↑ +85.2%</a:t>
            </a:r>
          </a:p>
        </p:txBody>
      </p:sp>
      <p:sp>
        <p:nvSpPr>
          <p:cNvPr id="5" name="Rounded Rectangle 4"/>
          <p:cNvSpPr/>
          <p:nvPr/>
        </p:nvSpPr>
        <p:spPr>
          <a:xfrm>
            <a:off x="3249168" y="1133856"/>
            <a:ext cx="2645664" cy="640080"/>
          </a:xfrm>
          <a:prstGeom prst="roundRect">
            <a:avLst>
              <a:gd name="adj" fmla="val 8000"/>
            </a:avLst>
          </a:prstGeom>
          <a:solidFill>
            <a:srgbClr val="FFFFFF"/>
          </a:solidFill>
          <a:ln w="9525">
            <a:solidFill>
              <a:srgbClr val="E2DBD4"/>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6B5F55"/>
                </a:solidFill>
                <a:latin typeface="DM Sans"/>
              </a:rPr>
              <a:t>Weighted Eng. Rate</a:t>
            </a:r>
          </a:p>
          <a:p>
            <a:pPr algn="ctr"/>
            <a:r>
              <a:rPr sz="2200" b="1">
                <a:solidFill>
                  <a:srgbClr val="707252"/>
                </a:solidFill>
                <a:latin typeface="DM Sans"/>
              </a:rPr>
              <a:t>0.00%</a:t>
            </a:r>
          </a:p>
          <a:p>
            <a:pPr algn="ctr"/>
            <a:r>
              <a:rPr sz="900" b="1">
                <a:solidFill>
                  <a:srgbClr val="8A7E74"/>
                </a:solidFill>
                <a:latin typeface="DM Sans"/>
              </a:rPr>
              <a:t>↓ -100.0%</a:t>
            </a:r>
          </a:p>
        </p:txBody>
      </p:sp>
      <p:sp>
        <p:nvSpPr>
          <p:cNvPr id="6" name="Rounded Rectangle 5"/>
          <p:cNvSpPr/>
          <p:nvPr/>
        </p:nvSpPr>
        <p:spPr>
          <a:xfrm>
            <a:off x="5986272" y="1133856"/>
            <a:ext cx="2645664" cy="640080"/>
          </a:xfrm>
          <a:prstGeom prst="roundRect">
            <a:avLst>
              <a:gd name="adj" fmla="val 8000"/>
            </a:avLst>
          </a:prstGeom>
          <a:solidFill>
            <a:srgbClr val="FFFFFF"/>
          </a:solidFill>
          <a:ln w="9525">
            <a:solidFill>
              <a:srgbClr val="E2DBD4"/>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6B5F55"/>
                </a:solidFill>
                <a:latin typeface="DM Sans"/>
              </a:rPr>
              <a:t>Current Followers</a:t>
            </a:r>
          </a:p>
          <a:p>
            <a:pPr algn="ctr"/>
            <a:r>
              <a:rPr sz="2200" b="1">
                <a:solidFill>
                  <a:srgbClr val="707252"/>
                </a:solidFill>
                <a:latin typeface="DM Sans"/>
              </a:rPr>
              <a:t>870</a:t>
            </a:r>
          </a:p>
          <a:p>
            <a:pPr algn="ctr"/>
            <a:r>
              <a:rPr sz="900" b="1">
                <a:solidFill>
                  <a:srgbClr val="6B5F55"/>
                </a:solidFill>
                <a:latin typeface="DM Sans"/>
              </a:rPr>
              <a:t>First snapshot</a:t>
            </a:r>
          </a:p>
        </p:txBody>
      </p:sp>
      <p:graphicFrame>
        <p:nvGraphicFramePr>
          <p:cNvPr id="7" name="Table 6"/>
          <p:cNvGraphicFramePr>
            <a:graphicFrameLocks noGrp="1"/>
          </p:cNvGraphicFramePr>
          <p:nvPr/>
        </p:nvGraphicFramePr>
        <p:xfrm>
          <a:off x="512064" y="1801368"/>
          <a:ext cx="8119872" cy="1316736"/>
        </p:xfrm>
        <a:graphic>
          <a:graphicData uri="http://schemas.openxmlformats.org/drawingml/2006/table">
            <a:tbl>
              <a:tblPr firstRow="1" bandRow="1">
                <a:tableStyleId>{5C22544A-7EE6-4342-B048-85BDC9FD1C3A}</a:tableStyleId>
              </a:tblPr>
              <a:tblGrid>
                <a:gridCol w="2377440"/>
                <a:gridCol w="1554480"/>
                <a:gridCol w="1554480"/>
                <a:gridCol w="2633472"/>
              </a:tblGrid>
              <a:tr h="164592">
                <a:tc>
                  <a:txBody>
                    <a:bodyPr/>
                    <a:lstStyle/>
                    <a:p>
                      <a:pPr>
                        <a:defRPr sz="800" b="1">
                          <a:solidFill>
                            <a:srgbClr val="FFFFFF"/>
                          </a:solidFill>
                          <a:latin typeface="DM Sans"/>
                        </a:defRPr>
                      </a:pPr>
                      <a:r>
                        <a:t>Metric</a:t>
                      </a:r>
                    </a:p>
                  </a:txBody>
                  <a:tcPr marT="25400" marB="25400">
                    <a:solidFill>
                      <a:srgbClr val="707252"/>
                    </a:solidFill>
                  </a:tcPr>
                </a:tc>
                <a:tc>
                  <a:txBody>
                    <a:bodyPr/>
                    <a:lstStyle/>
                    <a:p>
                      <a:pPr>
                        <a:defRPr sz="800" b="1">
                          <a:solidFill>
                            <a:srgbClr val="FFFFFF"/>
                          </a:solidFill>
                          <a:latin typeface="DM Sans"/>
                        </a:defRPr>
                      </a:pPr>
                      <a:r>
                        <a:t>Current</a:t>
                      </a:r>
                    </a:p>
                  </a:txBody>
                  <a:tcPr marT="25400" marB="25400">
                    <a:solidFill>
                      <a:srgbClr val="707252"/>
                    </a:solidFill>
                  </a:tcPr>
                </a:tc>
                <a:tc>
                  <a:txBody>
                    <a:bodyPr/>
                    <a:lstStyle/>
                    <a:p>
                      <a:pPr>
                        <a:defRPr sz="800" b="1">
                          <a:solidFill>
                            <a:srgbClr val="FFFFFF"/>
                          </a:solidFill>
                          <a:latin typeface="DM Sans"/>
                        </a:defRPr>
                      </a:pPr>
                      <a:r>
                        <a:t>Prior</a:t>
                      </a:r>
                    </a:p>
                  </a:txBody>
                  <a:tcPr marT="25400" marB="25400">
                    <a:solidFill>
                      <a:srgbClr val="707252"/>
                    </a:solidFill>
                  </a:tcPr>
                </a:tc>
                <a:tc>
                  <a:txBody>
                    <a:bodyPr/>
                    <a:lstStyle/>
                    <a:p>
                      <a:pPr>
                        <a:defRPr sz="800" b="1">
                          <a:solidFill>
                            <a:srgbClr val="FFFFFF"/>
                          </a:solidFill>
                          <a:latin typeface="DM Sans"/>
                        </a:defRPr>
                      </a:pPr>
                      <a:r>
                        <a:t>Change</a:t>
                      </a:r>
                    </a:p>
                  </a:txBody>
                  <a:tcPr marT="25400" marB="25400">
                    <a:solidFill>
                      <a:srgbClr val="707252"/>
                    </a:solidFill>
                  </a:tcPr>
                </a:tc>
              </a:tr>
              <a:tr h="164592">
                <a:tc>
                  <a:txBody>
                    <a:bodyPr/>
                    <a:lstStyle/>
                    <a:p>
                      <a:pPr>
                        <a:defRPr sz="800">
                          <a:solidFill>
                            <a:srgbClr val="2A2118"/>
                          </a:solidFill>
                          <a:latin typeface="DM Sans"/>
                        </a:defRPr>
                      </a:pPr>
                      <a:r>
                        <a:t>Posts</a:t>
                      </a:r>
                    </a:p>
                  </a:txBody>
                  <a:tcPr marT="25400" marB="25400">
                    <a:solidFill>
                      <a:srgbClr val="FAF7F4"/>
                    </a:solidFill>
                  </a:tcPr>
                </a:tc>
                <a:tc>
                  <a:txBody>
                    <a:bodyPr/>
                    <a:lstStyle/>
                    <a:p>
                      <a:pPr>
                        <a:defRPr sz="800">
                          <a:solidFill>
                            <a:srgbClr val="2A2118"/>
                          </a:solidFill>
                          <a:latin typeface="DM Sans"/>
                        </a:defRPr>
                      </a:pPr>
                      <a:r>
                        <a:t>8</a:t>
                      </a:r>
                    </a:p>
                  </a:txBody>
                  <a:tcPr marT="25400" marB="25400">
                    <a:solidFill>
                      <a:srgbClr val="FAF7F4"/>
                    </a:solidFill>
                  </a:tcPr>
                </a:tc>
                <a:tc>
                  <a:txBody>
                    <a:bodyPr/>
                    <a:lstStyle/>
                    <a:p>
                      <a:pPr>
                        <a:defRPr sz="800">
                          <a:solidFill>
                            <a:srgbClr val="2A2118"/>
                          </a:solidFill>
                          <a:latin typeface="DM Sans"/>
                        </a:defRPr>
                      </a:pPr>
                      <a:r>
                        <a:t>3</a:t>
                      </a:r>
                    </a:p>
                  </a:txBody>
                  <a:tcPr marT="25400" marB="25400">
                    <a:solidFill>
                      <a:srgbClr val="FAF7F4"/>
                    </a:solidFill>
                  </a:tcPr>
                </a:tc>
                <a:tc>
                  <a:txBody>
                    <a:bodyPr/>
                    <a:lstStyle/>
                    <a:p>
                      <a:pPr>
                        <a:defRPr sz="800">
                          <a:solidFill>
                            <a:srgbClr val="B8965A"/>
                          </a:solidFill>
                          <a:latin typeface="DM Sans"/>
                        </a:defRPr>
                      </a:pPr>
                      <a:r>
                        <a:t>↑ +166.7%</a:t>
                      </a:r>
                    </a:p>
                  </a:txBody>
                  <a:tcPr marT="25400" marB="25400">
                    <a:solidFill>
                      <a:srgbClr val="FAF7F4"/>
                    </a:solidFill>
                  </a:tcPr>
                </a:tc>
              </a:tr>
              <a:tr h="164592">
                <a:tc>
                  <a:txBody>
                    <a:bodyPr/>
                    <a:lstStyle/>
                    <a:p>
                      <a:pPr>
                        <a:defRPr sz="800">
                          <a:solidFill>
                            <a:srgbClr val="2A2118"/>
                          </a:solidFill>
                          <a:latin typeface="DM Sans"/>
                        </a:defRPr>
                      </a:pPr>
                      <a:r>
                        <a:t>Impressions</a:t>
                      </a:r>
                    </a:p>
                  </a:txBody>
                  <a:tcPr marT="25400" marB="25400">
                    <a:solidFill>
                      <a:srgbClr val="FFFFFF"/>
                    </a:solidFill>
                  </a:tcPr>
                </a:tc>
                <a:tc>
                  <a:txBody>
                    <a:bodyPr/>
                    <a:lstStyle/>
                    <a:p>
                      <a:pPr>
                        <a:defRPr sz="800">
                          <a:solidFill>
                            <a:srgbClr val="2A2118"/>
                          </a:solidFill>
                          <a:latin typeface="DM Sans"/>
                        </a:defRPr>
                      </a:pPr>
                      <a:r>
                        <a:t>763</a:t>
                      </a:r>
                    </a:p>
                  </a:txBody>
                  <a:tcPr marT="25400" marB="25400">
                    <a:solidFill>
                      <a:srgbClr val="FFFFFF"/>
                    </a:solidFill>
                  </a:tcPr>
                </a:tc>
                <a:tc>
                  <a:txBody>
                    <a:bodyPr/>
                    <a:lstStyle/>
                    <a:p>
                      <a:pPr>
                        <a:defRPr sz="800">
                          <a:solidFill>
                            <a:srgbClr val="2A2118"/>
                          </a:solidFill>
                          <a:latin typeface="DM Sans"/>
                        </a:defRPr>
                      </a:pPr>
                      <a:r>
                        <a:t>412</a:t>
                      </a:r>
                    </a:p>
                  </a:txBody>
                  <a:tcPr marT="25400" marB="25400">
                    <a:solidFill>
                      <a:srgbClr val="FFFFFF"/>
                    </a:solidFill>
                  </a:tcPr>
                </a:tc>
                <a:tc>
                  <a:txBody>
                    <a:bodyPr/>
                    <a:lstStyle/>
                    <a:p>
                      <a:pPr>
                        <a:defRPr sz="800">
                          <a:solidFill>
                            <a:srgbClr val="B8965A"/>
                          </a:solidFill>
                          <a:latin typeface="DM Sans"/>
                        </a:defRPr>
                      </a:pPr>
                      <a:r>
                        <a:t>↑ +85.2%</a:t>
                      </a:r>
                    </a:p>
                  </a:txBody>
                  <a:tcPr marT="25400" marB="25400">
                    <a:solidFill>
                      <a:srgbClr val="FFFFFF"/>
                    </a:solidFill>
                  </a:tcPr>
                </a:tc>
              </a:tr>
              <a:tr h="164592">
                <a:tc>
                  <a:txBody>
                    <a:bodyPr/>
                    <a:lstStyle/>
                    <a:p>
                      <a:pPr>
                        <a:defRPr sz="800">
                          <a:solidFill>
                            <a:srgbClr val="2A2118"/>
                          </a:solidFill>
                          <a:latin typeface="DM Sans"/>
                        </a:defRPr>
                      </a:pPr>
                      <a:r>
                        <a:t>Reactions</a:t>
                      </a:r>
                    </a:p>
                  </a:txBody>
                  <a:tcPr marT="25400" marB="25400">
                    <a:solidFill>
                      <a:srgbClr val="FAF7F4"/>
                    </a:solidFill>
                  </a:tcPr>
                </a:tc>
                <a:tc>
                  <a:txBody>
                    <a:bodyPr/>
                    <a:lstStyle/>
                    <a:p>
                      <a:pPr>
                        <a:defRPr sz="800">
                          <a:solidFill>
                            <a:srgbClr val="2A2118"/>
                          </a:solidFill>
                          <a:latin typeface="DM Sans"/>
                        </a:defRPr>
                      </a:pPr>
                      <a:r>
                        <a:t>8</a:t>
                      </a:r>
                    </a:p>
                  </a:txBody>
                  <a:tcPr marT="25400" marB="25400">
                    <a:solidFill>
                      <a:srgbClr val="FAF7F4"/>
                    </a:solidFill>
                  </a:tcPr>
                </a:tc>
                <a:tc>
                  <a:txBody>
                    <a:bodyPr/>
                    <a:lstStyle/>
                    <a:p>
                      <a:pPr>
                        <a:defRPr sz="800">
                          <a:solidFill>
                            <a:srgbClr val="2A2118"/>
                          </a:solidFill>
                          <a:latin typeface="DM Sans"/>
                        </a:defRPr>
                      </a:pPr>
                      <a:r>
                        <a:t>10</a:t>
                      </a:r>
                    </a:p>
                  </a:txBody>
                  <a:tcPr marT="25400" marB="25400">
                    <a:solidFill>
                      <a:srgbClr val="FAF7F4"/>
                    </a:solidFill>
                  </a:tcPr>
                </a:tc>
                <a:tc>
                  <a:txBody>
                    <a:bodyPr/>
                    <a:lstStyle/>
                    <a:p>
                      <a:pPr>
                        <a:defRPr sz="800">
                          <a:solidFill>
                            <a:srgbClr val="8A7E74"/>
                          </a:solidFill>
                          <a:latin typeface="DM Sans"/>
                        </a:defRPr>
                      </a:pPr>
                      <a:r>
                        <a:t>↓ -20.0%</a:t>
                      </a:r>
                    </a:p>
                  </a:txBody>
                  <a:tcPr marT="25400" marB="25400">
                    <a:solidFill>
                      <a:srgbClr val="FAF7F4"/>
                    </a:solidFill>
                  </a:tcPr>
                </a:tc>
              </a:tr>
              <a:tr h="164592">
                <a:tc>
                  <a:txBody>
                    <a:bodyPr/>
                    <a:lstStyle/>
                    <a:p>
                      <a:pPr>
                        <a:defRPr sz="800">
                          <a:solidFill>
                            <a:srgbClr val="2A2118"/>
                          </a:solidFill>
                          <a:latin typeface="DM Sans"/>
                        </a:defRPr>
                      </a:pPr>
                      <a:r>
                        <a:t>Comments</a:t>
                      </a:r>
                    </a:p>
                  </a:txBody>
                  <a:tcPr marT="25400" marB="25400">
                    <a:solidFill>
                      <a:srgbClr val="FFFFFF"/>
                    </a:solidFill>
                  </a:tcPr>
                </a:tc>
                <a:tc>
                  <a:txBody>
                    <a:bodyPr/>
                    <a:lstStyle/>
                    <a:p>
                      <a:pPr>
                        <a:defRPr sz="800">
                          <a:solidFill>
                            <a:srgbClr val="2A2118"/>
                          </a:solidFill>
                          <a:latin typeface="DM Sans"/>
                        </a:defRPr>
                      </a:pPr>
                      <a:r>
                        <a:t>0</a:t>
                      </a:r>
                    </a:p>
                  </a:txBody>
                  <a:tcPr marT="25400" marB="25400">
                    <a:solidFill>
                      <a:srgbClr val="FFFFFF"/>
                    </a:solidFill>
                  </a:tcPr>
                </a:tc>
                <a:tc>
                  <a:txBody>
                    <a:bodyPr/>
                    <a:lstStyle/>
                    <a:p>
                      <a:pPr>
                        <a:defRPr sz="800">
                          <a:solidFill>
                            <a:srgbClr val="2A2118"/>
                          </a:solidFill>
                          <a:latin typeface="DM Sans"/>
                        </a:defRPr>
                      </a:pPr>
                      <a:r>
                        <a:t>0</a:t>
                      </a:r>
                    </a:p>
                  </a:txBody>
                  <a:tcPr marT="25400" marB="25400">
                    <a:solidFill>
                      <a:srgbClr val="FFFFFF"/>
                    </a:solidFill>
                  </a:tcPr>
                </a:tc>
                <a:tc>
                  <a:txBody>
                    <a:bodyPr/>
                    <a:lstStyle/>
                    <a:p>
                      <a:pPr>
                        <a:defRPr sz="800">
                          <a:solidFill>
                            <a:srgbClr val="6B5F55"/>
                          </a:solidFill>
                          <a:latin typeface="DM Sans"/>
                        </a:defRPr>
                      </a:pPr>
                      <a:r>
                        <a:t>flat (0/0)</a:t>
                      </a:r>
                    </a:p>
                  </a:txBody>
                  <a:tcPr marT="25400" marB="25400">
                    <a:solidFill>
                      <a:srgbClr val="FFFFFF"/>
                    </a:solidFill>
                  </a:tcPr>
                </a:tc>
              </a:tr>
              <a:tr h="164592">
                <a:tc>
                  <a:txBody>
                    <a:bodyPr/>
                    <a:lstStyle/>
                    <a:p>
                      <a:pPr>
                        <a:defRPr sz="800">
                          <a:solidFill>
                            <a:srgbClr val="2A2118"/>
                          </a:solidFill>
                          <a:latin typeface="DM Sans"/>
                        </a:defRPr>
                      </a:pPr>
                      <a:r>
                        <a:t>Shares</a:t>
                      </a:r>
                    </a:p>
                  </a:txBody>
                  <a:tcPr marT="25400" marB="25400">
                    <a:solidFill>
                      <a:srgbClr val="FAF7F4"/>
                    </a:solidFill>
                  </a:tcPr>
                </a:tc>
                <a:tc>
                  <a:txBody>
                    <a:bodyPr/>
                    <a:lstStyle/>
                    <a:p>
                      <a:pPr>
                        <a:defRPr sz="800">
                          <a:solidFill>
                            <a:srgbClr val="2A2118"/>
                          </a:solidFill>
                          <a:latin typeface="DM Sans"/>
                        </a:defRPr>
                      </a:pPr>
                      <a:r>
                        <a:t>0</a:t>
                      </a:r>
                    </a:p>
                  </a:txBody>
                  <a:tcPr marT="25400" marB="25400">
                    <a:solidFill>
                      <a:srgbClr val="FAF7F4"/>
                    </a:solidFill>
                  </a:tcPr>
                </a:tc>
                <a:tc>
                  <a:txBody>
                    <a:bodyPr/>
                    <a:lstStyle/>
                    <a:p>
                      <a:pPr>
                        <a:defRPr sz="800">
                          <a:solidFill>
                            <a:srgbClr val="2A2118"/>
                          </a:solidFill>
                          <a:latin typeface="DM Sans"/>
                        </a:defRPr>
                      </a:pPr>
                      <a:r>
                        <a:t>0</a:t>
                      </a:r>
                    </a:p>
                  </a:txBody>
                  <a:tcPr marT="25400" marB="25400">
                    <a:solidFill>
                      <a:srgbClr val="FAF7F4"/>
                    </a:solidFill>
                  </a:tcPr>
                </a:tc>
                <a:tc>
                  <a:txBody>
                    <a:bodyPr/>
                    <a:lstStyle/>
                    <a:p>
                      <a:pPr>
                        <a:defRPr sz="800">
                          <a:solidFill>
                            <a:srgbClr val="6B5F55"/>
                          </a:solidFill>
                          <a:latin typeface="DM Sans"/>
                        </a:defRPr>
                      </a:pPr>
                      <a:r>
                        <a:t>flat (0/0)</a:t>
                      </a:r>
                    </a:p>
                  </a:txBody>
                  <a:tcPr marT="25400" marB="25400">
                    <a:solidFill>
                      <a:srgbClr val="FAF7F4"/>
                    </a:solidFill>
                  </a:tcPr>
                </a:tc>
              </a:tr>
              <a:tr h="164592">
                <a:tc>
                  <a:txBody>
                    <a:bodyPr/>
                    <a:lstStyle/>
                    <a:p>
                      <a:pPr>
                        <a:defRPr sz="800">
                          <a:solidFill>
                            <a:srgbClr val="2A2118"/>
                          </a:solidFill>
                          <a:latin typeface="DM Sans"/>
                        </a:defRPr>
                      </a:pPr>
                      <a:r>
                        <a:t>Clicks</a:t>
                      </a:r>
                    </a:p>
                  </a:txBody>
                  <a:tcPr marT="25400" marB="25400">
                    <a:solidFill>
                      <a:srgbClr val="FFFFFF"/>
                    </a:solidFill>
                  </a:tcPr>
                </a:tc>
                <a:tc>
                  <a:txBody>
                    <a:bodyPr/>
                    <a:lstStyle/>
                    <a:p>
                      <a:pPr>
                        <a:defRPr sz="800">
                          <a:solidFill>
                            <a:srgbClr val="2A2118"/>
                          </a:solidFill>
                          <a:latin typeface="DM Sans"/>
                        </a:defRPr>
                      </a:pPr>
                      <a:r>
                        <a:t>5</a:t>
                      </a:r>
                    </a:p>
                  </a:txBody>
                  <a:tcPr marT="25400" marB="25400">
                    <a:solidFill>
                      <a:srgbClr val="FFFFFF"/>
                    </a:solidFill>
                  </a:tcPr>
                </a:tc>
                <a:tc>
                  <a:txBody>
                    <a:bodyPr/>
                    <a:lstStyle/>
                    <a:p>
                      <a:pPr>
                        <a:defRPr sz="800">
                          <a:solidFill>
                            <a:srgbClr val="2A2118"/>
                          </a:solidFill>
                          <a:latin typeface="DM Sans"/>
                        </a:defRPr>
                      </a:pPr>
                      <a:r>
                        <a:t>7</a:t>
                      </a:r>
                    </a:p>
                  </a:txBody>
                  <a:tcPr marT="25400" marB="25400">
                    <a:solidFill>
                      <a:srgbClr val="FFFFFF"/>
                    </a:solidFill>
                  </a:tcPr>
                </a:tc>
                <a:tc>
                  <a:txBody>
                    <a:bodyPr/>
                    <a:lstStyle/>
                    <a:p>
                      <a:pPr>
                        <a:defRPr sz="800">
                          <a:solidFill>
                            <a:srgbClr val="8A7E74"/>
                          </a:solidFill>
                          <a:latin typeface="DM Sans"/>
                        </a:defRPr>
                      </a:pPr>
                      <a:r>
                        <a:t>↓ -28.6%</a:t>
                      </a:r>
                    </a:p>
                  </a:txBody>
                  <a:tcPr marT="25400" marB="25400">
                    <a:solidFill>
                      <a:srgbClr val="FFFFFF"/>
                    </a:solidFill>
                  </a:tcPr>
                </a:tc>
              </a:tr>
              <a:tr h="164592">
                <a:tc>
                  <a:txBody>
                    <a:bodyPr/>
                    <a:lstStyle/>
                    <a:p>
                      <a:pPr>
                        <a:defRPr sz="800">
                          <a:solidFill>
                            <a:srgbClr val="2A2118"/>
                          </a:solidFill>
                          <a:latin typeface="DM Sans"/>
                        </a:defRPr>
                      </a:pPr>
                      <a:r>
                        <a:t>Weighted Eng. Rate (reach)</a:t>
                      </a:r>
                    </a:p>
                  </a:txBody>
                  <a:tcPr marT="25400" marB="25400">
                    <a:solidFill>
                      <a:srgbClr val="FAF7F4"/>
                    </a:solidFill>
                  </a:tcPr>
                </a:tc>
                <a:tc>
                  <a:txBody>
                    <a:bodyPr/>
                    <a:lstStyle/>
                    <a:p>
                      <a:pPr>
                        <a:defRPr sz="800">
                          <a:solidFill>
                            <a:srgbClr val="2A2118"/>
                          </a:solidFill>
                          <a:latin typeface="DM Sans"/>
                        </a:defRPr>
                      </a:pPr>
                      <a:r>
                        <a:t>0.00%</a:t>
                      </a:r>
                    </a:p>
                  </a:txBody>
                  <a:tcPr marT="25400" marB="25400">
                    <a:solidFill>
                      <a:srgbClr val="FAF7F4"/>
                    </a:solidFill>
                  </a:tcPr>
                </a:tc>
                <a:tc>
                  <a:txBody>
                    <a:bodyPr/>
                    <a:lstStyle/>
                    <a:p>
                      <a:pPr>
                        <a:defRPr sz="800">
                          <a:solidFill>
                            <a:srgbClr val="2A2118"/>
                          </a:solidFill>
                          <a:latin typeface="DM Sans"/>
                        </a:defRPr>
                      </a:pPr>
                      <a:r>
                        <a:t>2.43%</a:t>
                      </a:r>
                    </a:p>
                  </a:txBody>
                  <a:tcPr marT="25400" marB="25400">
                    <a:solidFill>
                      <a:srgbClr val="FAF7F4"/>
                    </a:solidFill>
                  </a:tcPr>
                </a:tc>
                <a:tc>
                  <a:txBody>
                    <a:bodyPr/>
                    <a:lstStyle/>
                    <a:p>
                      <a:pPr>
                        <a:defRPr sz="800">
                          <a:solidFill>
                            <a:srgbClr val="8A7E74"/>
                          </a:solidFill>
                          <a:latin typeface="DM Sans"/>
                        </a:defRPr>
                      </a:pPr>
                      <a:r>
                        <a:t>↓ -100.0%</a:t>
                      </a:r>
                    </a:p>
                  </a:txBody>
                  <a:tcPr marT="25400" marB="25400">
                    <a:solidFill>
                      <a:srgbClr val="FAF7F4"/>
                    </a:solidFill>
                  </a:tcPr>
                </a:tc>
              </a:tr>
            </a:tbl>
          </a:graphicData>
        </a:graphic>
      </p:graphicFrame>
      <p:sp>
        <p:nvSpPr>
          <p:cNvPr id="8" name="TextBox 7"/>
          <p:cNvSpPr txBox="1"/>
          <p:nvPr/>
        </p:nvSpPr>
        <p:spPr>
          <a:xfrm>
            <a:off x="512064" y="3145536"/>
            <a:ext cx="8119872" cy="182880"/>
          </a:xfrm>
          <a:prstGeom prst="rect">
            <a:avLst/>
          </a:prstGeom>
          <a:noFill/>
        </p:spPr>
        <p:txBody>
          <a:bodyPr wrap="square">
            <a:spAutoFit/>
          </a:bodyPr>
          <a:lstStyle/>
          <a:p>
            <a:r>
              <a:rPr sz="1000" i="1">
                <a:solidFill>
                  <a:srgbClr val="8A7E74"/>
                </a:solidFill>
                <a:latin typeface="DM Sans"/>
              </a:rPr>
              <a:t>Reactions, Clicks, Engagement Rate softened despite posting volume increasing (8 vs. 3 posts).</a:t>
            </a:r>
          </a:p>
        </p:txBody>
      </p:sp>
      <p:sp>
        <p:nvSpPr>
          <p:cNvPr id="9" name="TextBox 8"/>
          <p:cNvSpPr txBox="1"/>
          <p:nvPr/>
        </p:nvSpPr>
        <p:spPr>
          <a:xfrm>
            <a:off x="512064" y="3355848"/>
            <a:ext cx="8119872" cy="219456"/>
          </a:xfrm>
          <a:prstGeom prst="rect">
            <a:avLst/>
          </a:prstGeom>
          <a:noFill/>
        </p:spPr>
        <p:txBody>
          <a:bodyPr wrap="none">
            <a:spAutoFit/>
          </a:bodyPr>
          <a:lstStyle/>
          <a:p>
            <a:r>
              <a:rPr sz="1200" b="1">
                <a:solidFill>
                  <a:srgbClr val="6B5F55"/>
                </a:solidFill>
                <a:latin typeface="DM Sans"/>
              </a:rPr>
              <a:t>Daily Impressions — Current vs. Prior Period</a:t>
            </a:r>
          </a:p>
        </p:txBody>
      </p:sp>
      <p:graphicFrame>
        <p:nvGraphicFramePr>
          <p:cNvPr id="10" name="Chart 9"/>
          <p:cNvGraphicFramePr>
            <a:graphicFrameLocks noGrp="1"/>
          </p:cNvGraphicFramePr>
          <p:nvPr/>
        </p:nvGraphicFramePr>
        <p:xfrm>
          <a:off x="512064" y="3575304"/>
          <a:ext cx="8119872" cy="1316736"/>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4"/>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707252"/>
                </a:solidFill>
                <a:latin typeface="Cormorant Garamond"/>
              </a:rPr>
              <a:t>Facebook — Top Posts This Period</a:t>
            </a:r>
          </a:p>
        </p:txBody>
      </p:sp>
      <p:cxnSp>
        <p:nvCxnSpPr>
          <p:cNvPr id="3" name="Connector 2"/>
          <p:cNvCxnSpPr/>
          <p:nvPr/>
        </p:nvCxnSpPr>
        <p:spPr>
          <a:xfrm>
            <a:off x="512064" y="1060704"/>
            <a:ext cx="8119872" cy="0"/>
          </a:xfrm>
          <a:prstGeom prst="line">
            <a:avLst/>
          </a:prstGeom>
          <a:ln w="9525">
            <a:solidFill>
              <a:srgbClr val="E2DBD4"/>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12064" y="1133856"/>
            <a:ext cx="8119872" cy="548640"/>
          </a:xfrm>
          <a:prstGeom prst="rect">
            <a:avLst/>
          </a:prstGeom>
          <a:noFill/>
        </p:spPr>
        <p:txBody>
          <a:bodyPr wrap="square">
            <a:spAutoFit/>
          </a:bodyPr>
          <a:lstStyle/>
          <a:p>
            <a:r>
              <a:rPr sz="1400" b="0">
                <a:solidFill>
                  <a:srgbClr val="2A2118"/>
                </a:solidFill>
                <a:latin typeface="DM Sans"/>
              </a:rPr>
              <a:t>“Pro tip for dark dye days: massage a little…” drove </a:t>
            </a:r>
            <a:r>
              <a:rPr sz="1400" b="1">
                <a:solidFill>
                  <a:srgbClr val="D99F95"/>
                </a:solidFill>
                <a:latin typeface="DM Sans"/>
              </a:rPr>
              <a:t>40%</a:t>
            </a:r>
            <a:r>
              <a:rPr sz="1400" b="0">
                <a:solidFill>
                  <a:srgbClr val="2A2118"/>
                </a:solidFill>
                <a:latin typeface="DM Sans"/>
              </a:rPr>
              <a:t> of this period's total impressions.</a:t>
            </a:r>
          </a:p>
        </p:txBody>
      </p:sp>
      <p:graphicFrame>
        <p:nvGraphicFramePr>
          <p:cNvPr id="5" name="Table 4"/>
          <p:cNvGraphicFramePr>
            <a:graphicFrameLocks noGrp="1"/>
          </p:cNvGraphicFramePr>
          <p:nvPr/>
        </p:nvGraphicFramePr>
        <p:xfrm>
          <a:off x="512064" y="1709928"/>
          <a:ext cx="8119872" cy="3017520"/>
        </p:xfrm>
        <a:graphic>
          <a:graphicData uri="http://schemas.openxmlformats.org/drawingml/2006/table">
            <a:tbl>
              <a:tblPr firstRow="1" bandRow="1">
                <a:tableStyleId>{5C22544A-7EE6-4342-B048-85BDC9FD1C3A}</a:tableStyleId>
              </a:tblPr>
              <a:tblGrid>
                <a:gridCol w="4507992"/>
                <a:gridCol w="640080"/>
                <a:gridCol w="685800"/>
                <a:gridCol w="777240"/>
                <a:gridCol w="777240"/>
                <a:gridCol w="731520"/>
              </a:tblGrid>
              <a:tr h="502920">
                <a:tc>
                  <a:txBody>
                    <a:bodyPr/>
                    <a:lstStyle/>
                    <a:p>
                      <a:pPr>
                        <a:defRPr sz="900" b="1">
                          <a:solidFill>
                            <a:srgbClr val="FFFFFF"/>
                          </a:solidFill>
                          <a:latin typeface="DM Sans"/>
                        </a:defRPr>
                      </a:pPr>
                      <a:r>
                        <a:t>Post</a:t>
                      </a:r>
                    </a:p>
                  </a:txBody>
                  <a:tcPr marT="25400" marB="25400">
                    <a:solidFill>
                      <a:srgbClr val="707252"/>
                    </a:solidFill>
                  </a:tcPr>
                </a:tc>
                <a:tc>
                  <a:txBody>
                    <a:bodyPr/>
                    <a:lstStyle/>
                    <a:p>
                      <a:pPr>
                        <a:defRPr sz="900" b="1">
                          <a:solidFill>
                            <a:srgbClr val="FFFFFF"/>
                          </a:solidFill>
                          <a:latin typeface="DM Sans"/>
                        </a:defRPr>
                      </a:pPr>
                      <a:r>
                        <a:t>Date</a:t>
                      </a:r>
                    </a:p>
                  </a:txBody>
                  <a:tcPr marT="25400" marB="25400">
                    <a:solidFill>
                      <a:srgbClr val="707252"/>
                    </a:solidFill>
                  </a:tcPr>
                </a:tc>
                <a:tc>
                  <a:txBody>
                    <a:bodyPr/>
                    <a:lstStyle/>
                    <a:p>
                      <a:pPr>
                        <a:defRPr sz="900" b="1">
                          <a:solidFill>
                            <a:srgbClr val="FFFFFF"/>
                          </a:solidFill>
                          <a:latin typeface="DM Sans"/>
                        </a:defRPr>
                      </a:pPr>
                      <a:r>
                        <a:t>Impressions</a:t>
                      </a:r>
                    </a:p>
                  </a:txBody>
                  <a:tcPr marT="25400" marB="25400">
                    <a:solidFill>
                      <a:srgbClr val="707252"/>
                    </a:solidFill>
                  </a:tcPr>
                </a:tc>
                <a:tc>
                  <a:txBody>
                    <a:bodyPr/>
                    <a:lstStyle/>
                    <a:p>
                      <a:pPr>
                        <a:defRPr sz="900" b="1">
                          <a:solidFill>
                            <a:srgbClr val="FFFFFF"/>
                          </a:solidFill>
                          <a:latin typeface="DM Sans"/>
                        </a:defRPr>
                      </a:pPr>
                      <a:r>
                        <a:t>Reactions</a:t>
                      </a:r>
                    </a:p>
                  </a:txBody>
                  <a:tcPr marT="25400" marB="25400">
                    <a:solidFill>
                      <a:srgbClr val="707252"/>
                    </a:solidFill>
                  </a:tcPr>
                </a:tc>
                <a:tc>
                  <a:txBody>
                    <a:bodyPr/>
                    <a:lstStyle/>
                    <a:p>
                      <a:pPr>
                        <a:defRPr sz="900" b="1">
                          <a:solidFill>
                            <a:srgbClr val="FFFFFF"/>
                          </a:solidFill>
                          <a:latin typeface="DM Sans"/>
                        </a:defRPr>
                      </a:pPr>
                      <a:r>
                        <a:t>Comments</a:t>
                      </a:r>
                    </a:p>
                  </a:txBody>
                  <a:tcPr marT="25400" marB="25400">
                    <a:solidFill>
                      <a:srgbClr val="707252"/>
                    </a:solidFill>
                  </a:tcPr>
                </a:tc>
                <a:tc>
                  <a:txBody>
                    <a:bodyPr/>
                    <a:lstStyle/>
                    <a:p>
                      <a:pPr>
                        <a:defRPr sz="900" b="1">
                          <a:solidFill>
                            <a:srgbClr val="FFFFFF"/>
                          </a:solidFill>
                          <a:latin typeface="DM Sans"/>
                        </a:defRPr>
                      </a:pPr>
                      <a:r>
                        <a:t>Shares</a:t>
                      </a:r>
                    </a:p>
                  </a:txBody>
                  <a:tcPr marT="25400" marB="25400">
                    <a:solidFill>
                      <a:srgbClr val="707252"/>
                    </a:solidFill>
                  </a:tcPr>
                </a:tc>
              </a:tr>
              <a:tr h="502920">
                <a:tc>
                  <a:txBody>
                    <a:bodyPr/>
                    <a:lstStyle/>
                    <a:p>
                      <a:pPr>
                        <a:defRPr sz="900">
                          <a:solidFill>
                            <a:srgbClr val="2A2118"/>
                          </a:solidFill>
                          <a:latin typeface="DM Sans"/>
                        </a:defRPr>
                      </a:pPr>
                      <a:r>
                        <a:t>Pro tip for dark dye days: massage a little shampoo onto stained skin while rinsing — it lifts the color right off, no stains left behind. 🖤✨ Watch the full process at Salon Verit…</a:t>
                      </a:r>
                    </a:p>
                  </a:txBody>
                  <a:tcPr marT="25400" marB="25400">
                    <a:solidFill>
                      <a:srgbClr val="FAF7F4"/>
                    </a:solidFill>
                  </a:tcPr>
                </a:tc>
                <a:tc>
                  <a:txBody>
                    <a:bodyPr/>
                    <a:lstStyle/>
                    <a:p>
                      <a:pPr>
                        <a:defRPr sz="900">
                          <a:solidFill>
                            <a:srgbClr val="2A2118"/>
                          </a:solidFill>
                          <a:latin typeface="DM Sans"/>
                        </a:defRPr>
                      </a:pPr>
                      <a:r>
                        <a:t>Aug 30</a:t>
                      </a:r>
                    </a:p>
                  </a:txBody>
                  <a:tcPr marT="25400" marB="25400">
                    <a:solidFill>
                      <a:srgbClr val="FAF7F4"/>
                    </a:solidFill>
                  </a:tcPr>
                </a:tc>
                <a:tc>
                  <a:txBody>
                    <a:bodyPr/>
                    <a:lstStyle/>
                    <a:p>
                      <a:pPr>
                        <a:defRPr sz="900">
                          <a:solidFill>
                            <a:srgbClr val="2A2118"/>
                          </a:solidFill>
                          <a:latin typeface="DM Sans"/>
                        </a:defRPr>
                      </a:pPr>
                      <a:r>
                        <a:t>303</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r>
              <a:tr h="502920">
                <a:tc>
                  <a:txBody>
                    <a:bodyPr/>
                    <a:lstStyle/>
                    <a:p>
                      <a:pPr>
                        <a:defRPr sz="900">
                          <a:solidFill>
                            <a:srgbClr val="2A2118"/>
                          </a:solidFill>
                          <a:latin typeface="DM Sans"/>
                        </a:defRPr>
                      </a:pPr>
                      <a:r>
                        <a:t>Swipe-worthy transformation. 🖤 From faded and dull to deep, glossy black — this is what precision color can do. Ready for your own before &amp; after moment? Book with Salon Veritas!…</a:t>
                      </a:r>
                    </a:p>
                  </a:txBody>
                  <a:tcPr marT="25400" marB="25400">
                    <a:solidFill>
                      <a:srgbClr val="FFFFFF"/>
                    </a:solidFill>
                  </a:tcPr>
                </a:tc>
                <a:tc>
                  <a:txBody>
                    <a:bodyPr/>
                    <a:lstStyle/>
                    <a:p>
                      <a:pPr>
                        <a:defRPr sz="900">
                          <a:solidFill>
                            <a:srgbClr val="2A2118"/>
                          </a:solidFill>
                          <a:latin typeface="DM Sans"/>
                        </a:defRPr>
                      </a:pPr>
                      <a:r>
                        <a:t>Aug 27</a:t>
                      </a:r>
                    </a:p>
                  </a:txBody>
                  <a:tcPr marT="25400" marB="25400">
                    <a:solidFill>
                      <a:srgbClr val="FFFFFF"/>
                    </a:solidFill>
                  </a:tcPr>
                </a:tc>
                <a:tc>
                  <a:txBody>
                    <a:bodyPr/>
                    <a:lstStyle/>
                    <a:p>
                      <a:pPr>
                        <a:defRPr sz="900">
                          <a:solidFill>
                            <a:srgbClr val="2A2118"/>
                          </a:solidFill>
                          <a:latin typeface="DM Sans"/>
                        </a:defRPr>
                      </a:pPr>
                      <a:r>
                        <a:t>257</a:t>
                      </a:r>
                    </a:p>
                  </a:txBody>
                  <a:tcPr marT="25400" marB="25400">
                    <a:solidFill>
                      <a:srgbClr val="FFFFFF"/>
                    </a:solidFill>
                  </a:tcPr>
                </a:tc>
                <a:tc>
                  <a:txBody>
                    <a:bodyPr/>
                    <a:lstStyle/>
                    <a:p>
                      <a:pPr>
                        <a:defRPr sz="900">
                          <a:solidFill>
                            <a:srgbClr val="2A2118"/>
                          </a:solidFill>
                          <a:latin typeface="DM Sans"/>
                        </a:defRPr>
                      </a:pPr>
                      <a:r>
                        <a:t>2</a:t>
                      </a:r>
                    </a:p>
                  </a:txBody>
                  <a:tcPr marT="25400" marB="25400">
                    <a:solidFill>
                      <a:srgbClr val="FFFFFF"/>
                    </a:solidFill>
                  </a:tcPr>
                </a:tc>
                <a:tc>
                  <a:txBody>
                    <a:bodyPr/>
                    <a:lstStyle/>
                    <a:p>
                      <a:pPr>
                        <a:defRPr sz="900">
                          <a:solidFill>
                            <a:srgbClr val="2A2118"/>
                          </a:solidFill>
                          <a:latin typeface="DM Sans"/>
                        </a:defRPr>
                      </a:pPr>
                      <a:r>
                        <a:t>0</a:t>
                      </a:r>
                    </a:p>
                  </a:txBody>
                  <a:tcPr marT="25400" marB="25400">
                    <a:solidFill>
                      <a:srgbClr val="FFFFFF"/>
                    </a:solidFill>
                  </a:tcPr>
                </a:tc>
                <a:tc>
                  <a:txBody>
                    <a:bodyPr/>
                    <a:lstStyle/>
                    <a:p>
                      <a:pPr>
                        <a:defRPr sz="900">
                          <a:solidFill>
                            <a:srgbClr val="2A2118"/>
                          </a:solidFill>
                          <a:latin typeface="DM Sans"/>
                        </a:defRPr>
                      </a:pPr>
                      <a:r>
                        <a:t>0</a:t>
                      </a:r>
                    </a:p>
                  </a:txBody>
                  <a:tcPr marT="25400" marB="25400">
                    <a:solidFill>
                      <a:srgbClr val="FFFFFF"/>
                    </a:solidFill>
                  </a:tcPr>
                </a:tc>
              </a:tr>
              <a:tr h="502920">
                <a:tc>
                  <a:txBody>
                    <a:bodyPr/>
                    <a:lstStyle/>
                    <a:p>
                      <a:pPr>
                        <a:defRPr sz="900">
                          <a:solidFill>
                            <a:srgbClr val="2A2118"/>
                          </a:solidFill>
                          <a:latin typeface="DM Sans"/>
                        </a:defRPr>
                      </a:pPr>
                      <a:r>
                        <a:t>Coppery blonde, transformed into a rich, unapologetic red. This wasn't a small ask. She came in ready for a change, and we talked through the depth, the undertone, the maintenance…</a:t>
                      </a:r>
                    </a:p>
                  </a:txBody>
                  <a:tcPr marT="25400" marB="25400">
                    <a:solidFill>
                      <a:srgbClr val="FAF7F4"/>
                    </a:solidFill>
                  </a:tcPr>
                </a:tc>
                <a:tc>
                  <a:txBody>
                    <a:bodyPr/>
                    <a:lstStyle/>
                    <a:p>
                      <a:pPr>
                        <a:defRPr sz="900">
                          <a:solidFill>
                            <a:srgbClr val="2A2118"/>
                          </a:solidFill>
                          <a:latin typeface="DM Sans"/>
                        </a:defRPr>
                      </a:pPr>
                      <a:r>
                        <a:t>Sep 05</a:t>
                      </a:r>
                    </a:p>
                  </a:txBody>
                  <a:tcPr marT="25400" marB="25400">
                    <a:solidFill>
                      <a:srgbClr val="FAF7F4"/>
                    </a:solidFill>
                  </a:tcPr>
                </a:tc>
                <a:tc>
                  <a:txBody>
                    <a:bodyPr/>
                    <a:lstStyle/>
                    <a:p>
                      <a:pPr>
                        <a:defRPr sz="900">
                          <a:solidFill>
                            <a:srgbClr val="2A2118"/>
                          </a:solidFill>
                          <a:latin typeface="DM Sans"/>
                        </a:defRPr>
                      </a:pPr>
                      <a:r>
                        <a:t>123</a:t>
                      </a:r>
                    </a:p>
                  </a:txBody>
                  <a:tcPr marT="25400" marB="25400">
                    <a:solidFill>
                      <a:srgbClr val="FAF7F4"/>
                    </a:solidFill>
                  </a:tcPr>
                </a:tc>
                <a:tc>
                  <a:txBody>
                    <a:bodyPr/>
                    <a:lstStyle/>
                    <a:p>
                      <a:pPr>
                        <a:defRPr sz="900">
                          <a:solidFill>
                            <a:srgbClr val="2A2118"/>
                          </a:solidFill>
                          <a:latin typeface="DM Sans"/>
                        </a:defRPr>
                      </a:pPr>
                      <a:r>
                        <a:t>1</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r>
              <a:tr h="502920">
                <a:tc>
                  <a:txBody>
                    <a:bodyPr/>
                    <a:lstStyle/>
                    <a:p>
                      <a:pPr>
                        <a:defRPr sz="900">
                          <a:solidFill>
                            <a:srgbClr val="2A2118"/>
                          </a:solidFill>
                          <a:latin typeface="DM Sans"/>
                        </a:defRPr>
                      </a:pPr>
                      <a:r>
                        <a:t>A full balayage, a soft blonde smudge at the root, finished with a long, layered, angled cut. This is what we love most: color and cut working together, not as two separate servic…</a:t>
                      </a:r>
                    </a:p>
                  </a:txBody>
                  <a:tcPr marT="25400" marB="25400">
                    <a:solidFill>
                      <a:srgbClr val="FFFFFF"/>
                    </a:solidFill>
                  </a:tcPr>
                </a:tc>
                <a:tc>
                  <a:txBody>
                    <a:bodyPr/>
                    <a:lstStyle/>
                    <a:p>
                      <a:pPr>
                        <a:defRPr sz="900">
                          <a:solidFill>
                            <a:srgbClr val="2A2118"/>
                          </a:solidFill>
                          <a:latin typeface="DM Sans"/>
                        </a:defRPr>
                      </a:pPr>
                      <a:r>
                        <a:t>Sep 08</a:t>
                      </a:r>
                    </a:p>
                  </a:txBody>
                  <a:tcPr marT="25400" marB="25400">
                    <a:solidFill>
                      <a:srgbClr val="FFFFFF"/>
                    </a:solidFill>
                  </a:tcPr>
                </a:tc>
                <a:tc>
                  <a:txBody>
                    <a:bodyPr/>
                    <a:lstStyle/>
                    <a:p>
                      <a:pPr>
                        <a:defRPr sz="900">
                          <a:solidFill>
                            <a:srgbClr val="2A2118"/>
                          </a:solidFill>
                          <a:latin typeface="DM Sans"/>
                        </a:defRPr>
                      </a:pPr>
                      <a:r>
                        <a:t>70</a:t>
                      </a:r>
                    </a:p>
                  </a:txBody>
                  <a:tcPr marT="25400" marB="25400">
                    <a:solidFill>
                      <a:srgbClr val="FFFFFF"/>
                    </a:solidFill>
                  </a:tcPr>
                </a:tc>
                <a:tc>
                  <a:txBody>
                    <a:bodyPr/>
                    <a:lstStyle/>
                    <a:p>
                      <a:pPr>
                        <a:defRPr sz="900">
                          <a:solidFill>
                            <a:srgbClr val="2A2118"/>
                          </a:solidFill>
                          <a:latin typeface="DM Sans"/>
                        </a:defRPr>
                      </a:pPr>
                      <a:r>
                        <a:t>2</a:t>
                      </a:r>
                    </a:p>
                  </a:txBody>
                  <a:tcPr marT="25400" marB="25400">
                    <a:solidFill>
                      <a:srgbClr val="FFFFFF"/>
                    </a:solidFill>
                  </a:tcPr>
                </a:tc>
                <a:tc>
                  <a:txBody>
                    <a:bodyPr/>
                    <a:lstStyle/>
                    <a:p>
                      <a:pPr>
                        <a:defRPr sz="900">
                          <a:solidFill>
                            <a:srgbClr val="2A2118"/>
                          </a:solidFill>
                          <a:latin typeface="DM Sans"/>
                        </a:defRPr>
                      </a:pPr>
                      <a:r>
                        <a:t>0</a:t>
                      </a:r>
                    </a:p>
                  </a:txBody>
                  <a:tcPr marT="25400" marB="25400">
                    <a:solidFill>
                      <a:srgbClr val="FFFFFF"/>
                    </a:solidFill>
                  </a:tcPr>
                </a:tc>
                <a:tc>
                  <a:txBody>
                    <a:bodyPr/>
                    <a:lstStyle/>
                    <a:p>
                      <a:pPr>
                        <a:defRPr sz="900">
                          <a:solidFill>
                            <a:srgbClr val="2A2118"/>
                          </a:solidFill>
                          <a:latin typeface="DM Sans"/>
                        </a:defRPr>
                      </a:pPr>
                      <a:r>
                        <a:t>0</a:t>
                      </a:r>
                    </a:p>
                  </a:txBody>
                  <a:tcPr marT="25400" marB="25400">
                    <a:solidFill>
                      <a:srgbClr val="FFFFFF"/>
                    </a:solidFill>
                  </a:tcPr>
                </a:tc>
              </a:tr>
              <a:tr h="502920">
                <a:tc>
                  <a:txBody>
                    <a:bodyPr/>
                    <a:lstStyle/>
                    <a:p>
                      <a:pPr>
                        <a:defRPr sz="900">
                          <a:solidFill>
                            <a:srgbClr val="2A2118"/>
                          </a:solidFill>
                          <a:latin typeface="DM Sans"/>
                        </a:defRPr>
                      </a:pPr>
                      <a:r>
                        <a:t>Six years. Some of our guests have been with us longer than most relationships last. What we hear most isn't just about the color, though that matters too. It's about walking in a…</a:t>
                      </a:r>
                    </a:p>
                  </a:txBody>
                  <a:tcPr marT="25400" marB="25400">
                    <a:solidFill>
                      <a:srgbClr val="FAF7F4"/>
                    </a:solidFill>
                  </a:tcPr>
                </a:tc>
                <a:tc>
                  <a:txBody>
                    <a:bodyPr/>
                    <a:lstStyle/>
                    <a:p>
                      <a:pPr>
                        <a:defRPr sz="900">
                          <a:solidFill>
                            <a:srgbClr val="2A2118"/>
                          </a:solidFill>
                          <a:latin typeface="DM Sans"/>
                        </a:defRPr>
                      </a:pPr>
                      <a:r>
                        <a:t>Sep 10</a:t>
                      </a:r>
                    </a:p>
                  </a:txBody>
                  <a:tcPr marT="25400" marB="25400">
                    <a:solidFill>
                      <a:srgbClr val="FAF7F4"/>
                    </a:solidFill>
                  </a:tcPr>
                </a:tc>
                <a:tc>
                  <a:txBody>
                    <a:bodyPr/>
                    <a:lstStyle/>
                    <a:p>
                      <a:pPr>
                        <a:defRPr sz="900">
                          <a:solidFill>
                            <a:srgbClr val="2A2118"/>
                          </a:solidFill>
                          <a:latin typeface="DM Sans"/>
                        </a:defRPr>
                      </a:pPr>
                      <a:r>
                        <a:t>10</a:t>
                      </a:r>
                    </a:p>
                  </a:txBody>
                  <a:tcPr marT="25400" marB="25400">
                    <a:solidFill>
                      <a:srgbClr val="FAF7F4"/>
                    </a:solidFill>
                  </a:tcPr>
                </a:tc>
                <a:tc>
                  <a:txBody>
                    <a:bodyPr/>
                    <a:lstStyle/>
                    <a:p>
                      <a:pPr>
                        <a:defRPr sz="900">
                          <a:solidFill>
                            <a:srgbClr val="2A2118"/>
                          </a:solidFill>
                          <a:latin typeface="DM Sans"/>
                        </a:defRPr>
                      </a:pPr>
                      <a:r>
                        <a:t>3</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4"/>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707252"/>
                </a:solidFill>
                <a:latin typeface="Cormorant Garamond"/>
              </a:rPr>
              <a:t>TikTok Insights</a:t>
            </a:r>
          </a:p>
        </p:txBody>
      </p:sp>
      <p:cxnSp>
        <p:nvCxnSpPr>
          <p:cNvPr id="3" name="Connector 2"/>
          <p:cNvCxnSpPr/>
          <p:nvPr/>
        </p:nvCxnSpPr>
        <p:spPr>
          <a:xfrm>
            <a:off x="512064" y="1060704"/>
            <a:ext cx="8119872" cy="0"/>
          </a:xfrm>
          <a:prstGeom prst="line">
            <a:avLst/>
          </a:prstGeom>
          <a:ln w="9525">
            <a:solidFill>
              <a:srgbClr val="E2DBD4"/>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512064" y="1133856"/>
            <a:ext cx="1961388" cy="640080"/>
          </a:xfrm>
          <a:prstGeom prst="roundRect">
            <a:avLst>
              <a:gd name="adj" fmla="val 8000"/>
            </a:avLst>
          </a:prstGeom>
          <a:solidFill>
            <a:srgbClr val="FFFFFF"/>
          </a:solidFill>
          <a:ln w="9525">
            <a:solidFill>
              <a:srgbClr val="E2DBD4"/>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6B5F55"/>
                </a:solidFill>
                <a:latin typeface="DM Sans"/>
              </a:rPr>
              <a:t>Views</a:t>
            </a:r>
          </a:p>
          <a:p>
            <a:pPr algn="ctr"/>
            <a:r>
              <a:rPr sz="2200" b="1">
                <a:solidFill>
                  <a:srgbClr val="D99F95"/>
                </a:solidFill>
                <a:latin typeface="DM Sans"/>
              </a:rPr>
              <a:t>1.7K</a:t>
            </a:r>
          </a:p>
          <a:p>
            <a:pPr algn="ctr"/>
            <a:r>
              <a:rPr sz="900" b="1">
                <a:solidFill>
                  <a:srgbClr val="8A7E74"/>
                </a:solidFill>
                <a:latin typeface="DM Sans"/>
              </a:rPr>
              <a:t>↓ -79.3%</a:t>
            </a:r>
          </a:p>
        </p:txBody>
      </p:sp>
      <p:sp>
        <p:nvSpPr>
          <p:cNvPr id="5" name="Rounded Rectangle 4"/>
          <p:cNvSpPr/>
          <p:nvPr/>
        </p:nvSpPr>
        <p:spPr>
          <a:xfrm>
            <a:off x="2564892" y="1133856"/>
            <a:ext cx="1961388" cy="640080"/>
          </a:xfrm>
          <a:prstGeom prst="roundRect">
            <a:avLst>
              <a:gd name="adj" fmla="val 8000"/>
            </a:avLst>
          </a:prstGeom>
          <a:solidFill>
            <a:srgbClr val="FFFFFF"/>
          </a:solidFill>
          <a:ln w="9525">
            <a:solidFill>
              <a:srgbClr val="E2DBD4"/>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6B5F55"/>
                </a:solidFill>
                <a:latin typeface="DM Sans"/>
              </a:rPr>
              <a:t>Reach</a:t>
            </a:r>
          </a:p>
          <a:p>
            <a:pPr algn="ctr"/>
            <a:r>
              <a:rPr sz="2200" b="1">
                <a:solidFill>
                  <a:srgbClr val="707252"/>
                </a:solidFill>
                <a:latin typeface="DM Sans"/>
              </a:rPr>
              <a:t>1.4K</a:t>
            </a:r>
          </a:p>
          <a:p>
            <a:pPr algn="ctr"/>
            <a:r>
              <a:rPr sz="900" b="1">
                <a:solidFill>
                  <a:srgbClr val="8A7E74"/>
                </a:solidFill>
                <a:latin typeface="DM Sans"/>
              </a:rPr>
              <a:t>↓ -80.4%</a:t>
            </a:r>
          </a:p>
        </p:txBody>
      </p:sp>
      <p:sp>
        <p:nvSpPr>
          <p:cNvPr id="6" name="Rounded Rectangle 5"/>
          <p:cNvSpPr/>
          <p:nvPr/>
        </p:nvSpPr>
        <p:spPr>
          <a:xfrm>
            <a:off x="4617720" y="1133856"/>
            <a:ext cx="1961388" cy="640080"/>
          </a:xfrm>
          <a:prstGeom prst="roundRect">
            <a:avLst>
              <a:gd name="adj" fmla="val 8000"/>
            </a:avLst>
          </a:prstGeom>
          <a:solidFill>
            <a:srgbClr val="FFFFFF"/>
          </a:solidFill>
          <a:ln w="9525">
            <a:solidFill>
              <a:srgbClr val="E2DBD4"/>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6B5F55"/>
                </a:solidFill>
                <a:latin typeface="DM Sans"/>
              </a:rPr>
              <a:t>Weighted Eng. Rate</a:t>
            </a:r>
          </a:p>
          <a:p>
            <a:pPr algn="ctr"/>
            <a:r>
              <a:rPr sz="2200" b="1">
                <a:solidFill>
                  <a:srgbClr val="707252"/>
                </a:solidFill>
                <a:latin typeface="DM Sans"/>
              </a:rPr>
              <a:t>1.75%</a:t>
            </a:r>
          </a:p>
          <a:p>
            <a:pPr algn="ctr"/>
            <a:r>
              <a:rPr sz="900" b="1">
                <a:solidFill>
                  <a:srgbClr val="B8965A"/>
                </a:solidFill>
                <a:latin typeface="DM Sans"/>
              </a:rPr>
              <a:t>↑ +3.0%</a:t>
            </a:r>
          </a:p>
        </p:txBody>
      </p:sp>
      <p:sp>
        <p:nvSpPr>
          <p:cNvPr id="7" name="Rounded Rectangle 6"/>
          <p:cNvSpPr/>
          <p:nvPr/>
        </p:nvSpPr>
        <p:spPr>
          <a:xfrm>
            <a:off x="6670548" y="1133856"/>
            <a:ext cx="1961388" cy="640080"/>
          </a:xfrm>
          <a:prstGeom prst="roundRect">
            <a:avLst>
              <a:gd name="adj" fmla="val 8000"/>
            </a:avLst>
          </a:prstGeom>
          <a:solidFill>
            <a:srgbClr val="FFFFFF"/>
          </a:solidFill>
          <a:ln w="9525">
            <a:solidFill>
              <a:srgbClr val="E2DBD4"/>
            </a:solidFill>
          </a:ln>
          <a:effectLst/>
        </p:spPr>
        <p:style>
          <a:lnRef idx="1">
            <a:schemeClr val="accent1"/>
          </a:lnRef>
          <a:fillRef idx="3">
            <a:schemeClr val="accent1"/>
          </a:fillRef>
          <a:effectRef idx="2">
            <a:schemeClr val="accent1"/>
          </a:effectRef>
          <a:fontRef idx="minor">
            <a:schemeClr val="lt1"/>
          </a:fontRef>
        </p:style>
        <p:txBody>
          <a:bodyPr rtlCol="0" anchor="ctr" wrap="square" tIns="25400" bIns="25400"/>
          <a:lstStyle/>
          <a:p>
            <a:pPr algn="ctr"/>
            <a:r>
              <a:rPr sz="900">
                <a:solidFill>
                  <a:srgbClr val="6B5F55"/>
                </a:solidFill>
                <a:latin typeface="DM Sans"/>
              </a:rPr>
              <a:t>Current Followers</a:t>
            </a:r>
          </a:p>
          <a:p>
            <a:pPr algn="ctr"/>
            <a:r>
              <a:rPr sz="2200" b="1">
                <a:solidFill>
                  <a:srgbClr val="707252"/>
                </a:solidFill>
                <a:latin typeface="DM Sans"/>
              </a:rPr>
              <a:t>[Count]</a:t>
            </a:r>
          </a:p>
          <a:p>
            <a:pPr algn="ctr"/>
            <a:r>
              <a:rPr sz="900" b="1">
                <a:solidFill>
                  <a:srgbClr val="6B5F55"/>
                </a:solidFill>
                <a:latin typeface="DM Sans"/>
              </a:rPr>
              <a:t>Manual entry</a:t>
            </a:r>
          </a:p>
        </p:txBody>
      </p:sp>
      <p:graphicFrame>
        <p:nvGraphicFramePr>
          <p:cNvPr id="8" name="Table 7"/>
          <p:cNvGraphicFramePr>
            <a:graphicFrameLocks noGrp="1"/>
          </p:cNvGraphicFramePr>
          <p:nvPr/>
        </p:nvGraphicFramePr>
        <p:xfrm>
          <a:off x="512064" y="1801368"/>
          <a:ext cx="8119872" cy="1316736"/>
        </p:xfrm>
        <a:graphic>
          <a:graphicData uri="http://schemas.openxmlformats.org/drawingml/2006/table">
            <a:tbl>
              <a:tblPr firstRow="1" bandRow="1">
                <a:tableStyleId>{5C22544A-7EE6-4342-B048-85BDC9FD1C3A}</a:tableStyleId>
              </a:tblPr>
              <a:tblGrid>
                <a:gridCol w="2377440"/>
                <a:gridCol w="1554480"/>
                <a:gridCol w="1554480"/>
                <a:gridCol w="2633472"/>
              </a:tblGrid>
              <a:tr h="164592">
                <a:tc>
                  <a:txBody>
                    <a:bodyPr/>
                    <a:lstStyle/>
                    <a:p>
                      <a:pPr>
                        <a:defRPr sz="800" b="1">
                          <a:solidFill>
                            <a:srgbClr val="FFFFFF"/>
                          </a:solidFill>
                          <a:latin typeface="DM Sans"/>
                        </a:defRPr>
                      </a:pPr>
                      <a:r>
                        <a:t>Metric</a:t>
                      </a:r>
                    </a:p>
                  </a:txBody>
                  <a:tcPr marT="25400" marB="25400">
                    <a:solidFill>
                      <a:srgbClr val="707252"/>
                    </a:solidFill>
                  </a:tcPr>
                </a:tc>
                <a:tc>
                  <a:txBody>
                    <a:bodyPr/>
                    <a:lstStyle/>
                    <a:p>
                      <a:pPr>
                        <a:defRPr sz="800" b="1">
                          <a:solidFill>
                            <a:srgbClr val="FFFFFF"/>
                          </a:solidFill>
                          <a:latin typeface="DM Sans"/>
                        </a:defRPr>
                      </a:pPr>
                      <a:r>
                        <a:t>Current</a:t>
                      </a:r>
                    </a:p>
                  </a:txBody>
                  <a:tcPr marT="25400" marB="25400">
                    <a:solidFill>
                      <a:srgbClr val="707252"/>
                    </a:solidFill>
                  </a:tcPr>
                </a:tc>
                <a:tc>
                  <a:txBody>
                    <a:bodyPr/>
                    <a:lstStyle/>
                    <a:p>
                      <a:pPr>
                        <a:defRPr sz="800" b="1">
                          <a:solidFill>
                            <a:srgbClr val="FFFFFF"/>
                          </a:solidFill>
                          <a:latin typeface="DM Sans"/>
                        </a:defRPr>
                      </a:pPr>
                      <a:r>
                        <a:t>Prior</a:t>
                      </a:r>
                    </a:p>
                  </a:txBody>
                  <a:tcPr marT="25400" marB="25400">
                    <a:solidFill>
                      <a:srgbClr val="707252"/>
                    </a:solidFill>
                  </a:tcPr>
                </a:tc>
                <a:tc>
                  <a:txBody>
                    <a:bodyPr/>
                    <a:lstStyle/>
                    <a:p>
                      <a:pPr>
                        <a:defRPr sz="800" b="1">
                          <a:solidFill>
                            <a:srgbClr val="FFFFFF"/>
                          </a:solidFill>
                          <a:latin typeface="DM Sans"/>
                        </a:defRPr>
                      </a:pPr>
                      <a:r>
                        <a:t>Change</a:t>
                      </a:r>
                    </a:p>
                  </a:txBody>
                  <a:tcPr marT="25400" marB="25400">
                    <a:solidFill>
                      <a:srgbClr val="707252"/>
                    </a:solidFill>
                  </a:tcPr>
                </a:tc>
              </a:tr>
              <a:tr h="164592">
                <a:tc>
                  <a:txBody>
                    <a:bodyPr/>
                    <a:lstStyle/>
                    <a:p>
                      <a:pPr>
                        <a:defRPr sz="800">
                          <a:solidFill>
                            <a:srgbClr val="2A2118"/>
                          </a:solidFill>
                          <a:latin typeface="DM Sans"/>
                        </a:defRPr>
                      </a:pPr>
                      <a:r>
                        <a:t>Posts</a:t>
                      </a:r>
                    </a:p>
                  </a:txBody>
                  <a:tcPr marT="25400" marB="25400">
                    <a:solidFill>
                      <a:srgbClr val="FAF7F4"/>
                    </a:solidFill>
                  </a:tcPr>
                </a:tc>
                <a:tc>
                  <a:txBody>
                    <a:bodyPr/>
                    <a:lstStyle/>
                    <a:p>
                      <a:pPr>
                        <a:defRPr sz="800">
                          <a:solidFill>
                            <a:srgbClr val="2A2118"/>
                          </a:solidFill>
                          <a:latin typeface="DM Sans"/>
                        </a:defRPr>
                      </a:pPr>
                      <a:r>
                        <a:t>6</a:t>
                      </a:r>
                    </a:p>
                  </a:txBody>
                  <a:tcPr marT="25400" marB="25400">
                    <a:solidFill>
                      <a:srgbClr val="FAF7F4"/>
                    </a:solidFill>
                  </a:tcPr>
                </a:tc>
                <a:tc>
                  <a:txBody>
                    <a:bodyPr/>
                    <a:lstStyle/>
                    <a:p>
                      <a:pPr>
                        <a:defRPr sz="800">
                          <a:solidFill>
                            <a:srgbClr val="2A2118"/>
                          </a:solidFill>
                          <a:latin typeface="DM Sans"/>
                        </a:defRPr>
                      </a:pPr>
                      <a:r>
                        <a:t>15</a:t>
                      </a:r>
                    </a:p>
                  </a:txBody>
                  <a:tcPr marT="25400" marB="25400">
                    <a:solidFill>
                      <a:srgbClr val="FAF7F4"/>
                    </a:solidFill>
                  </a:tcPr>
                </a:tc>
                <a:tc>
                  <a:txBody>
                    <a:bodyPr/>
                    <a:lstStyle/>
                    <a:p>
                      <a:pPr>
                        <a:defRPr sz="800">
                          <a:solidFill>
                            <a:srgbClr val="8A7E74"/>
                          </a:solidFill>
                          <a:latin typeface="DM Sans"/>
                        </a:defRPr>
                      </a:pPr>
                      <a:r>
                        <a:t>↓ -60.0%</a:t>
                      </a:r>
                    </a:p>
                  </a:txBody>
                  <a:tcPr marT="25400" marB="25400">
                    <a:solidFill>
                      <a:srgbClr val="FAF7F4"/>
                    </a:solidFill>
                  </a:tcPr>
                </a:tc>
              </a:tr>
              <a:tr h="164592">
                <a:tc>
                  <a:txBody>
                    <a:bodyPr/>
                    <a:lstStyle/>
                    <a:p>
                      <a:pPr>
                        <a:defRPr sz="800">
                          <a:solidFill>
                            <a:srgbClr val="2A2118"/>
                          </a:solidFill>
                          <a:latin typeface="DM Sans"/>
                        </a:defRPr>
                      </a:pPr>
                      <a:r>
                        <a:t>Views</a:t>
                      </a:r>
                    </a:p>
                  </a:txBody>
                  <a:tcPr marT="25400" marB="25400">
                    <a:solidFill>
                      <a:srgbClr val="FFFFFF"/>
                    </a:solidFill>
                  </a:tcPr>
                </a:tc>
                <a:tc>
                  <a:txBody>
                    <a:bodyPr/>
                    <a:lstStyle/>
                    <a:p>
                      <a:pPr>
                        <a:defRPr sz="800">
                          <a:solidFill>
                            <a:srgbClr val="2A2118"/>
                          </a:solidFill>
                          <a:latin typeface="DM Sans"/>
                        </a:defRPr>
                      </a:pPr>
                      <a:r>
                        <a:t>1.7K</a:t>
                      </a:r>
                    </a:p>
                  </a:txBody>
                  <a:tcPr marT="25400" marB="25400">
                    <a:solidFill>
                      <a:srgbClr val="FFFFFF"/>
                    </a:solidFill>
                  </a:tcPr>
                </a:tc>
                <a:tc>
                  <a:txBody>
                    <a:bodyPr/>
                    <a:lstStyle/>
                    <a:p>
                      <a:pPr>
                        <a:defRPr sz="800">
                          <a:solidFill>
                            <a:srgbClr val="2A2118"/>
                          </a:solidFill>
                          <a:latin typeface="DM Sans"/>
                        </a:defRPr>
                      </a:pPr>
                      <a:r>
                        <a:t>8.0K</a:t>
                      </a:r>
                    </a:p>
                  </a:txBody>
                  <a:tcPr marT="25400" marB="25400">
                    <a:solidFill>
                      <a:srgbClr val="FFFFFF"/>
                    </a:solidFill>
                  </a:tcPr>
                </a:tc>
                <a:tc>
                  <a:txBody>
                    <a:bodyPr/>
                    <a:lstStyle/>
                    <a:p>
                      <a:pPr>
                        <a:defRPr sz="800">
                          <a:solidFill>
                            <a:srgbClr val="8A7E74"/>
                          </a:solidFill>
                          <a:latin typeface="DM Sans"/>
                        </a:defRPr>
                      </a:pPr>
                      <a:r>
                        <a:t>↓ -79.3%</a:t>
                      </a:r>
                    </a:p>
                  </a:txBody>
                  <a:tcPr marT="25400" marB="25400">
                    <a:solidFill>
                      <a:srgbClr val="FFFFFF"/>
                    </a:solidFill>
                  </a:tcPr>
                </a:tc>
              </a:tr>
              <a:tr h="164592">
                <a:tc>
                  <a:txBody>
                    <a:bodyPr/>
                    <a:lstStyle/>
                    <a:p>
                      <a:pPr>
                        <a:defRPr sz="800">
                          <a:solidFill>
                            <a:srgbClr val="2A2118"/>
                          </a:solidFill>
                          <a:latin typeface="DM Sans"/>
                        </a:defRPr>
                      </a:pPr>
                      <a:r>
                        <a:t>Reach</a:t>
                      </a:r>
                    </a:p>
                  </a:txBody>
                  <a:tcPr marT="25400" marB="25400">
                    <a:solidFill>
                      <a:srgbClr val="FAF7F4"/>
                    </a:solidFill>
                  </a:tcPr>
                </a:tc>
                <a:tc>
                  <a:txBody>
                    <a:bodyPr/>
                    <a:lstStyle/>
                    <a:p>
                      <a:pPr>
                        <a:defRPr sz="800">
                          <a:solidFill>
                            <a:srgbClr val="2A2118"/>
                          </a:solidFill>
                          <a:latin typeface="DM Sans"/>
                        </a:defRPr>
                      </a:pPr>
                      <a:r>
                        <a:t>1.4K</a:t>
                      </a:r>
                    </a:p>
                  </a:txBody>
                  <a:tcPr marT="25400" marB="25400">
                    <a:solidFill>
                      <a:srgbClr val="FAF7F4"/>
                    </a:solidFill>
                  </a:tcPr>
                </a:tc>
                <a:tc>
                  <a:txBody>
                    <a:bodyPr/>
                    <a:lstStyle/>
                    <a:p>
                      <a:pPr>
                        <a:defRPr sz="800">
                          <a:solidFill>
                            <a:srgbClr val="2A2118"/>
                          </a:solidFill>
                          <a:latin typeface="DM Sans"/>
                        </a:defRPr>
                      </a:pPr>
                      <a:r>
                        <a:t>7.3K</a:t>
                      </a:r>
                    </a:p>
                  </a:txBody>
                  <a:tcPr marT="25400" marB="25400">
                    <a:solidFill>
                      <a:srgbClr val="FAF7F4"/>
                    </a:solidFill>
                  </a:tcPr>
                </a:tc>
                <a:tc>
                  <a:txBody>
                    <a:bodyPr/>
                    <a:lstStyle/>
                    <a:p>
                      <a:pPr>
                        <a:defRPr sz="800">
                          <a:solidFill>
                            <a:srgbClr val="8A7E74"/>
                          </a:solidFill>
                          <a:latin typeface="DM Sans"/>
                        </a:defRPr>
                      </a:pPr>
                      <a:r>
                        <a:t>↓ -80.4%</a:t>
                      </a:r>
                    </a:p>
                  </a:txBody>
                  <a:tcPr marT="25400" marB="25400">
                    <a:solidFill>
                      <a:srgbClr val="FAF7F4"/>
                    </a:solidFill>
                  </a:tcPr>
                </a:tc>
              </a:tr>
              <a:tr h="164592">
                <a:tc>
                  <a:txBody>
                    <a:bodyPr/>
                    <a:lstStyle/>
                    <a:p>
                      <a:pPr>
                        <a:defRPr sz="800">
                          <a:solidFill>
                            <a:srgbClr val="2A2118"/>
                          </a:solidFill>
                          <a:latin typeface="DM Sans"/>
                        </a:defRPr>
                      </a:pPr>
                      <a:r>
                        <a:t>Reactions</a:t>
                      </a:r>
                    </a:p>
                  </a:txBody>
                  <a:tcPr marT="25400" marB="25400">
                    <a:solidFill>
                      <a:srgbClr val="FFFFFF"/>
                    </a:solidFill>
                  </a:tcPr>
                </a:tc>
                <a:tc>
                  <a:txBody>
                    <a:bodyPr/>
                    <a:lstStyle/>
                    <a:p>
                      <a:pPr>
                        <a:defRPr sz="800">
                          <a:solidFill>
                            <a:srgbClr val="2A2118"/>
                          </a:solidFill>
                          <a:latin typeface="DM Sans"/>
                        </a:defRPr>
                      </a:pPr>
                      <a:r>
                        <a:t>24</a:t>
                      </a:r>
                    </a:p>
                  </a:txBody>
                  <a:tcPr marT="25400" marB="25400">
                    <a:solidFill>
                      <a:srgbClr val="FFFFFF"/>
                    </a:solidFill>
                  </a:tcPr>
                </a:tc>
                <a:tc>
                  <a:txBody>
                    <a:bodyPr/>
                    <a:lstStyle/>
                    <a:p>
                      <a:pPr>
                        <a:defRPr sz="800">
                          <a:solidFill>
                            <a:srgbClr val="2A2118"/>
                          </a:solidFill>
                          <a:latin typeface="DM Sans"/>
                        </a:defRPr>
                      </a:pPr>
                      <a:r>
                        <a:t>108</a:t>
                      </a:r>
                    </a:p>
                  </a:txBody>
                  <a:tcPr marT="25400" marB="25400">
                    <a:solidFill>
                      <a:srgbClr val="FFFFFF"/>
                    </a:solidFill>
                  </a:tcPr>
                </a:tc>
                <a:tc>
                  <a:txBody>
                    <a:bodyPr/>
                    <a:lstStyle/>
                    <a:p>
                      <a:pPr>
                        <a:defRPr sz="800">
                          <a:solidFill>
                            <a:srgbClr val="8A7E74"/>
                          </a:solidFill>
                          <a:latin typeface="DM Sans"/>
                        </a:defRPr>
                      </a:pPr>
                      <a:r>
                        <a:t>↓ -77.8%</a:t>
                      </a:r>
                    </a:p>
                  </a:txBody>
                  <a:tcPr marT="25400" marB="25400">
                    <a:solidFill>
                      <a:srgbClr val="FFFFFF"/>
                    </a:solidFill>
                  </a:tcPr>
                </a:tc>
              </a:tr>
              <a:tr h="164592">
                <a:tc>
                  <a:txBody>
                    <a:bodyPr/>
                    <a:lstStyle/>
                    <a:p>
                      <a:pPr>
                        <a:defRPr sz="800">
                          <a:solidFill>
                            <a:srgbClr val="2A2118"/>
                          </a:solidFill>
                          <a:latin typeface="DM Sans"/>
                        </a:defRPr>
                      </a:pPr>
                      <a:r>
                        <a:t>Comments</a:t>
                      </a:r>
                    </a:p>
                  </a:txBody>
                  <a:tcPr marT="25400" marB="25400">
                    <a:solidFill>
                      <a:srgbClr val="FAF7F4"/>
                    </a:solidFill>
                  </a:tcPr>
                </a:tc>
                <a:tc>
                  <a:txBody>
                    <a:bodyPr/>
                    <a:lstStyle/>
                    <a:p>
                      <a:pPr>
                        <a:defRPr sz="800">
                          <a:solidFill>
                            <a:srgbClr val="2A2118"/>
                          </a:solidFill>
                          <a:latin typeface="DM Sans"/>
                        </a:defRPr>
                      </a:pPr>
                      <a:r>
                        <a:t>1</a:t>
                      </a:r>
                    </a:p>
                  </a:txBody>
                  <a:tcPr marT="25400" marB="25400">
                    <a:solidFill>
                      <a:srgbClr val="FAF7F4"/>
                    </a:solidFill>
                  </a:tcPr>
                </a:tc>
                <a:tc>
                  <a:txBody>
                    <a:bodyPr/>
                    <a:lstStyle/>
                    <a:p>
                      <a:pPr>
                        <a:defRPr sz="800">
                          <a:solidFill>
                            <a:srgbClr val="2A2118"/>
                          </a:solidFill>
                          <a:latin typeface="DM Sans"/>
                        </a:defRPr>
                      </a:pPr>
                      <a:r>
                        <a:t>15</a:t>
                      </a:r>
                    </a:p>
                  </a:txBody>
                  <a:tcPr marT="25400" marB="25400">
                    <a:solidFill>
                      <a:srgbClr val="FAF7F4"/>
                    </a:solidFill>
                  </a:tcPr>
                </a:tc>
                <a:tc>
                  <a:txBody>
                    <a:bodyPr/>
                    <a:lstStyle/>
                    <a:p>
                      <a:pPr>
                        <a:defRPr sz="800">
                          <a:solidFill>
                            <a:srgbClr val="8A7E74"/>
                          </a:solidFill>
                          <a:latin typeface="DM Sans"/>
                        </a:defRPr>
                      </a:pPr>
                      <a:r>
                        <a:t>↓ -93.3%</a:t>
                      </a:r>
                    </a:p>
                  </a:txBody>
                  <a:tcPr marT="25400" marB="25400">
                    <a:solidFill>
                      <a:srgbClr val="FAF7F4"/>
                    </a:solidFill>
                  </a:tcPr>
                </a:tc>
              </a:tr>
              <a:tr h="164592">
                <a:tc>
                  <a:txBody>
                    <a:bodyPr/>
                    <a:lstStyle/>
                    <a:p>
                      <a:pPr>
                        <a:defRPr sz="800">
                          <a:solidFill>
                            <a:srgbClr val="2A2118"/>
                          </a:solidFill>
                          <a:latin typeface="DM Sans"/>
                        </a:defRPr>
                      </a:pPr>
                      <a:r>
                        <a:t>Shares</a:t>
                      </a:r>
                    </a:p>
                  </a:txBody>
                  <a:tcPr marT="25400" marB="25400">
                    <a:solidFill>
                      <a:srgbClr val="FFFFFF"/>
                    </a:solidFill>
                  </a:tcPr>
                </a:tc>
                <a:tc>
                  <a:txBody>
                    <a:bodyPr/>
                    <a:lstStyle/>
                    <a:p>
                      <a:pPr>
                        <a:defRPr sz="800">
                          <a:solidFill>
                            <a:srgbClr val="2A2118"/>
                          </a:solidFill>
                          <a:latin typeface="DM Sans"/>
                        </a:defRPr>
                      </a:pPr>
                      <a:r>
                        <a:t>0</a:t>
                      </a:r>
                    </a:p>
                  </a:txBody>
                  <a:tcPr marT="25400" marB="25400">
                    <a:solidFill>
                      <a:srgbClr val="FFFFFF"/>
                    </a:solidFill>
                  </a:tcPr>
                </a:tc>
                <a:tc>
                  <a:txBody>
                    <a:bodyPr/>
                    <a:lstStyle/>
                    <a:p>
                      <a:pPr>
                        <a:defRPr sz="800">
                          <a:solidFill>
                            <a:srgbClr val="2A2118"/>
                          </a:solidFill>
                          <a:latin typeface="DM Sans"/>
                        </a:defRPr>
                      </a:pPr>
                      <a:r>
                        <a:t>1</a:t>
                      </a:r>
                    </a:p>
                  </a:txBody>
                  <a:tcPr marT="25400" marB="25400">
                    <a:solidFill>
                      <a:srgbClr val="FFFFFF"/>
                    </a:solidFill>
                  </a:tcPr>
                </a:tc>
                <a:tc>
                  <a:txBody>
                    <a:bodyPr/>
                    <a:lstStyle/>
                    <a:p>
                      <a:pPr>
                        <a:defRPr sz="800">
                          <a:solidFill>
                            <a:srgbClr val="8A7E74"/>
                          </a:solidFill>
                          <a:latin typeface="DM Sans"/>
                        </a:defRPr>
                      </a:pPr>
                      <a:r>
                        <a:t>↓ -100.0%</a:t>
                      </a:r>
                    </a:p>
                  </a:txBody>
                  <a:tcPr marT="25400" marB="25400">
                    <a:solidFill>
                      <a:srgbClr val="FFFFFF"/>
                    </a:solidFill>
                  </a:tcPr>
                </a:tc>
              </a:tr>
              <a:tr h="164592">
                <a:tc>
                  <a:txBody>
                    <a:bodyPr/>
                    <a:lstStyle/>
                    <a:p>
                      <a:pPr>
                        <a:defRPr sz="800">
                          <a:solidFill>
                            <a:srgbClr val="2A2118"/>
                          </a:solidFill>
                          <a:latin typeface="DM Sans"/>
                        </a:defRPr>
                      </a:pPr>
                      <a:r>
                        <a:t>Weighted Eng. Rate (reach)</a:t>
                      </a:r>
                    </a:p>
                  </a:txBody>
                  <a:tcPr marT="25400" marB="25400">
                    <a:solidFill>
                      <a:srgbClr val="FAF7F4"/>
                    </a:solidFill>
                  </a:tcPr>
                </a:tc>
                <a:tc>
                  <a:txBody>
                    <a:bodyPr/>
                    <a:lstStyle/>
                    <a:p>
                      <a:pPr>
                        <a:defRPr sz="800">
                          <a:solidFill>
                            <a:srgbClr val="2A2118"/>
                          </a:solidFill>
                          <a:latin typeface="DM Sans"/>
                        </a:defRPr>
                      </a:pPr>
                      <a:r>
                        <a:t>1.75%</a:t>
                      </a:r>
                    </a:p>
                  </a:txBody>
                  <a:tcPr marT="25400" marB="25400">
                    <a:solidFill>
                      <a:srgbClr val="FAF7F4"/>
                    </a:solidFill>
                  </a:tcPr>
                </a:tc>
                <a:tc>
                  <a:txBody>
                    <a:bodyPr/>
                    <a:lstStyle/>
                    <a:p>
                      <a:pPr>
                        <a:defRPr sz="800">
                          <a:solidFill>
                            <a:srgbClr val="2A2118"/>
                          </a:solidFill>
                          <a:latin typeface="DM Sans"/>
                        </a:defRPr>
                      </a:pPr>
                      <a:r>
                        <a:t>1.70%</a:t>
                      </a:r>
                    </a:p>
                  </a:txBody>
                  <a:tcPr marT="25400" marB="25400">
                    <a:solidFill>
                      <a:srgbClr val="FAF7F4"/>
                    </a:solidFill>
                  </a:tcPr>
                </a:tc>
                <a:tc>
                  <a:txBody>
                    <a:bodyPr/>
                    <a:lstStyle/>
                    <a:p>
                      <a:pPr>
                        <a:defRPr sz="800">
                          <a:solidFill>
                            <a:srgbClr val="B8965A"/>
                          </a:solidFill>
                          <a:latin typeface="DM Sans"/>
                        </a:defRPr>
                      </a:pPr>
                      <a:r>
                        <a:t>↑ +3.0%</a:t>
                      </a:r>
                    </a:p>
                  </a:txBody>
                  <a:tcPr marT="25400" marB="25400">
                    <a:solidFill>
                      <a:srgbClr val="FAF7F4"/>
                    </a:solidFill>
                  </a:tcPr>
                </a:tc>
              </a:tr>
            </a:tbl>
          </a:graphicData>
        </a:graphic>
      </p:graphicFrame>
      <p:sp>
        <p:nvSpPr>
          <p:cNvPr id="9" name="TextBox 8"/>
          <p:cNvSpPr txBox="1"/>
          <p:nvPr/>
        </p:nvSpPr>
        <p:spPr>
          <a:xfrm>
            <a:off x="512064" y="3145536"/>
            <a:ext cx="8119872" cy="182880"/>
          </a:xfrm>
          <a:prstGeom prst="rect">
            <a:avLst/>
          </a:prstGeom>
          <a:noFill/>
        </p:spPr>
        <p:txBody>
          <a:bodyPr wrap="square">
            <a:spAutoFit/>
          </a:bodyPr>
          <a:lstStyle/>
          <a:p>
            <a:r>
              <a:rPr sz="1000" i="1">
                <a:solidFill>
                  <a:srgbClr val="8A7E74"/>
                </a:solidFill>
                <a:latin typeface="DM Sans"/>
              </a:rPr>
              <a:t>Most metrics are down this period alongside a 60% drop in posting frequency (6 vs. 15 posts).</a:t>
            </a:r>
          </a:p>
        </p:txBody>
      </p:sp>
      <p:sp>
        <p:nvSpPr>
          <p:cNvPr id="10" name="TextBox 9"/>
          <p:cNvSpPr txBox="1"/>
          <p:nvPr/>
        </p:nvSpPr>
        <p:spPr>
          <a:xfrm>
            <a:off x="512064" y="3355848"/>
            <a:ext cx="8119872" cy="219456"/>
          </a:xfrm>
          <a:prstGeom prst="rect">
            <a:avLst/>
          </a:prstGeom>
          <a:noFill/>
        </p:spPr>
        <p:txBody>
          <a:bodyPr wrap="none">
            <a:spAutoFit/>
          </a:bodyPr>
          <a:lstStyle/>
          <a:p>
            <a:r>
              <a:rPr sz="1200" b="1">
                <a:solidFill>
                  <a:srgbClr val="6B5F55"/>
                </a:solidFill>
                <a:latin typeface="DM Sans"/>
              </a:rPr>
              <a:t>Daily Views — Current vs. Prior Period</a:t>
            </a:r>
          </a:p>
        </p:txBody>
      </p:sp>
      <p:graphicFrame>
        <p:nvGraphicFramePr>
          <p:cNvPr id="11" name="Chart 10"/>
          <p:cNvGraphicFramePr>
            <a:graphicFrameLocks noGrp="1"/>
          </p:cNvGraphicFramePr>
          <p:nvPr/>
        </p:nvGraphicFramePr>
        <p:xfrm>
          <a:off x="512064" y="3575304"/>
          <a:ext cx="8119872" cy="1316736"/>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4"/>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707252"/>
                </a:solidFill>
                <a:latin typeface="Cormorant Garamond"/>
              </a:rPr>
              <a:t>TikTok — Top Posts This Period</a:t>
            </a:r>
          </a:p>
        </p:txBody>
      </p:sp>
      <p:cxnSp>
        <p:nvCxnSpPr>
          <p:cNvPr id="3" name="Connector 2"/>
          <p:cNvCxnSpPr/>
          <p:nvPr/>
        </p:nvCxnSpPr>
        <p:spPr>
          <a:xfrm>
            <a:off x="512064" y="1060704"/>
            <a:ext cx="8119872" cy="0"/>
          </a:xfrm>
          <a:prstGeom prst="line">
            <a:avLst/>
          </a:prstGeom>
          <a:ln w="9525">
            <a:solidFill>
              <a:srgbClr val="E2DBD4"/>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12064" y="1133856"/>
            <a:ext cx="8119872" cy="548640"/>
          </a:xfrm>
          <a:prstGeom prst="rect">
            <a:avLst/>
          </a:prstGeom>
          <a:noFill/>
        </p:spPr>
        <p:txBody>
          <a:bodyPr wrap="square">
            <a:spAutoFit/>
          </a:bodyPr>
          <a:lstStyle/>
          <a:p>
            <a:r>
              <a:rPr sz="1400" b="0">
                <a:solidFill>
                  <a:srgbClr val="2A2118"/>
                </a:solidFill>
                <a:latin typeface="DM Sans"/>
              </a:rPr>
              <a:t>“Pro tip for dark dye days: massage a little…” drove </a:t>
            </a:r>
            <a:r>
              <a:rPr sz="1400" b="1">
                <a:solidFill>
                  <a:srgbClr val="D99F95"/>
                </a:solidFill>
                <a:latin typeface="DM Sans"/>
              </a:rPr>
              <a:t>63%</a:t>
            </a:r>
            <a:r>
              <a:rPr sz="1400" b="0">
                <a:solidFill>
                  <a:srgbClr val="2A2118"/>
                </a:solidFill>
                <a:latin typeface="DM Sans"/>
              </a:rPr>
              <a:t> of this period's total views.</a:t>
            </a:r>
          </a:p>
        </p:txBody>
      </p:sp>
      <p:graphicFrame>
        <p:nvGraphicFramePr>
          <p:cNvPr id="5" name="Table 4"/>
          <p:cNvGraphicFramePr>
            <a:graphicFrameLocks noGrp="1"/>
          </p:cNvGraphicFramePr>
          <p:nvPr/>
        </p:nvGraphicFramePr>
        <p:xfrm>
          <a:off x="512064" y="1709928"/>
          <a:ext cx="8119872" cy="3017520"/>
        </p:xfrm>
        <a:graphic>
          <a:graphicData uri="http://schemas.openxmlformats.org/drawingml/2006/table">
            <a:tbl>
              <a:tblPr firstRow="1" bandRow="1">
                <a:tableStyleId>{5C22544A-7EE6-4342-B048-85BDC9FD1C3A}</a:tableStyleId>
              </a:tblPr>
              <a:tblGrid>
                <a:gridCol w="4507992"/>
                <a:gridCol w="640080"/>
                <a:gridCol w="685800"/>
                <a:gridCol w="777240"/>
                <a:gridCol w="777240"/>
                <a:gridCol w="731520"/>
              </a:tblGrid>
              <a:tr h="502920">
                <a:tc>
                  <a:txBody>
                    <a:bodyPr/>
                    <a:lstStyle/>
                    <a:p>
                      <a:pPr>
                        <a:defRPr sz="900" b="1">
                          <a:solidFill>
                            <a:srgbClr val="FFFFFF"/>
                          </a:solidFill>
                          <a:latin typeface="DM Sans"/>
                        </a:defRPr>
                      </a:pPr>
                      <a:r>
                        <a:t>Post</a:t>
                      </a:r>
                    </a:p>
                  </a:txBody>
                  <a:tcPr marT="25400" marB="25400">
                    <a:solidFill>
                      <a:srgbClr val="707252"/>
                    </a:solidFill>
                  </a:tcPr>
                </a:tc>
                <a:tc>
                  <a:txBody>
                    <a:bodyPr/>
                    <a:lstStyle/>
                    <a:p>
                      <a:pPr>
                        <a:defRPr sz="900" b="1">
                          <a:solidFill>
                            <a:srgbClr val="FFFFFF"/>
                          </a:solidFill>
                          <a:latin typeface="DM Sans"/>
                        </a:defRPr>
                      </a:pPr>
                      <a:r>
                        <a:t>Date</a:t>
                      </a:r>
                    </a:p>
                  </a:txBody>
                  <a:tcPr marT="25400" marB="25400">
                    <a:solidFill>
                      <a:srgbClr val="707252"/>
                    </a:solidFill>
                  </a:tcPr>
                </a:tc>
                <a:tc>
                  <a:txBody>
                    <a:bodyPr/>
                    <a:lstStyle/>
                    <a:p>
                      <a:pPr>
                        <a:defRPr sz="900" b="1">
                          <a:solidFill>
                            <a:srgbClr val="FFFFFF"/>
                          </a:solidFill>
                          <a:latin typeface="DM Sans"/>
                        </a:defRPr>
                      </a:pPr>
                      <a:r>
                        <a:t>Views</a:t>
                      </a:r>
                    </a:p>
                  </a:txBody>
                  <a:tcPr marT="25400" marB="25400">
                    <a:solidFill>
                      <a:srgbClr val="707252"/>
                    </a:solidFill>
                  </a:tcPr>
                </a:tc>
                <a:tc>
                  <a:txBody>
                    <a:bodyPr/>
                    <a:lstStyle/>
                    <a:p>
                      <a:pPr>
                        <a:defRPr sz="900" b="1">
                          <a:solidFill>
                            <a:srgbClr val="FFFFFF"/>
                          </a:solidFill>
                          <a:latin typeface="DM Sans"/>
                        </a:defRPr>
                      </a:pPr>
                      <a:r>
                        <a:t>Reactions</a:t>
                      </a:r>
                    </a:p>
                  </a:txBody>
                  <a:tcPr marT="25400" marB="25400">
                    <a:solidFill>
                      <a:srgbClr val="707252"/>
                    </a:solidFill>
                  </a:tcPr>
                </a:tc>
                <a:tc>
                  <a:txBody>
                    <a:bodyPr/>
                    <a:lstStyle/>
                    <a:p>
                      <a:pPr>
                        <a:defRPr sz="900" b="1">
                          <a:solidFill>
                            <a:srgbClr val="FFFFFF"/>
                          </a:solidFill>
                          <a:latin typeface="DM Sans"/>
                        </a:defRPr>
                      </a:pPr>
                      <a:r>
                        <a:t>Comments</a:t>
                      </a:r>
                    </a:p>
                  </a:txBody>
                  <a:tcPr marT="25400" marB="25400">
                    <a:solidFill>
                      <a:srgbClr val="707252"/>
                    </a:solidFill>
                  </a:tcPr>
                </a:tc>
                <a:tc>
                  <a:txBody>
                    <a:bodyPr/>
                    <a:lstStyle/>
                    <a:p>
                      <a:pPr>
                        <a:defRPr sz="900" b="1">
                          <a:solidFill>
                            <a:srgbClr val="FFFFFF"/>
                          </a:solidFill>
                          <a:latin typeface="DM Sans"/>
                        </a:defRPr>
                      </a:pPr>
                      <a:r>
                        <a:t>Shares</a:t>
                      </a:r>
                    </a:p>
                  </a:txBody>
                  <a:tcPr marT="25400" marB="25400">
                    <a:solidFill>
                      <a:srgbClr val="707252"/>
                    </a:solidFill>
                  </a:tcPr>
                </a:tc>
              </a:tr>
              <a:tr h="502920">
                <a:tc>
                  <a:txBody>
                    <a:bodyPr/>
                    <a:lstStyle/>
                    <a:p>
                      <a:pPr>
                        <a:defRPr sz="900">
                          <a:solidFill>
                            <a:srgbClr val="2A2118"/>
                          </a:solidFill>
                          <a:latin typeface="DM Sans"/>
                        </a:defRPr>
                      </a:pPr>
                      <a:r>
                        <a:t>Pro tip for dark dye days: massage a little shampoo onto stained skin while rinsing — it lifts the color right off, no stains left behind. 🖤✨ Watch the full process at Salon Verit…</a:t>
                      </a:r>
                    </a:p>
                  </a:txBody>
                  <a:tcPr marT="25400" marB="25400">
                    <a:solidFill>
                      <a:srgbClr val="FAF7F4"/>
                    </a:solidFill>
                  </a:tcPr>
                </a:tc>
                <a:tc>
                  <a:txBody>
                    <a:bodyPr/>
                    <a:lstStyle/>
                    <a:p>
                      <a:pPr>
                        <a:defRPr sz="900">
                          <a:solidFill>
                            <a:srgbClr val="2A2118"/>
                          </a:solidFill>
                          <a:latin typeface="DM Sans"/>
                        </a:defRPr>
                      </a:pPr>
                      <a:r>
                        <a:t>Aug 30</a:t>
                      </a:r>
                    </a:p>
                  </a:txBody>
                  <a:tcPr marT="25400" marB="25400">
                    <a:solidFill>
                      <a:srgbClr val="FAF7F4"/>
                    </a:solidFill>
                  </a:tcPr>
                </a:tc>
                <a:tc>
                  <a:txBody>
                    <a:bodyPr/>
                    <a:lstStyle/>
                    <a:p>
                      <a:pPr>
                        <a:defRPr sz="900">
                          <a:solidFill>
                            <a:srgbClr val="2A2118"/>
                          </a:solidFill>
                          <a:latin typeface="DM Sans"/>
                        </a:defRPr>
                      </a:pPr>
                      <a:r>
                        <a:t>1.1K</a:t>
                      </a:r>
                    </a:p>
                  </a:txBody>
                  <a:tcPr marT="25400" marB="25400">
                    <a:solidFill>
                      <a:srgbClr val="FAF7F4"/>
                    </a:solidFill>
                  </a:tcPr>
                </a:tc>
                <a:tc>
                  <a:txBody>
                    <a:bodyPr/>
                    <a:lstStyle/>
                    <a:p>
                      <a:pPr>
                        <a:defRPr sz="900">
                          <a:solidFill>
                            <a:srgbClr val="2A2118"/>
                          </a:solidFill>
                          <a:latin typeface="DM Sans"/>
                        </a:defRPr>
                      </a:pPr>
                      <a:r>
                        <a:t>12</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r>
              <a:tr h="502920">
                <a:tc>
                  <a:txBody>
                    <a:bodyPr/>
                    <a:lstStyle/>
                    <a:p>
                      <a:pPr>
                        <a:defRPr sz="900">
                          <a:solidFill>
                            <a:srgbClr val="2A2118"/>
                          </a:solidFill>
                          <a:latin typeface="DM Sans"/>
                        </a:defRPr>
                      </a:pPr>
                      <a:r>
                        <a:t>Black doesn't get more dimensional than this. ✨ From root to tip, this rich, glossy black was crafted with precision at Salon Veritas. Book your next color transformation with us…</a:t>
                      </a:r>
                    </a:p>
                  </a:txBody>
                  <a:tcPr marT="25400" marB="25400">
                    <a:solidFill>
                      <a:srgbClr val="FFFFFF"/>
                    </a:solidFill>
                  </a:tcPr>
                </a:tc>
                <a:tc>
                  <a:txBody>
                    <a:bodyPr/>
                    <a:lstStyle/>
                    <a:p>
                      <a:pPr>
                        <a:defRPr sz="900">
                          <a:solidFill>
                            <a:srgbClr val="2A2118"/>
                          </a:solidFill>
                          <a:latin typeface="DM Sans"/>
                        </a:defRPr>
                      </a:pPr>
                      <a:r>
                        <a:t>Aug 25</a:t>
                      </a:r>
                    </a:p>
                  </a:txBody>
                  <a:tcPr marT="25400" marB="25400">
                    <a:solidFill>
                      <a:srgbClr val="FFFFFF"/>
                    </a:solidFill>
                  </a:tcPr>
                </a:tc>
                <a:tc>
                  <a:txBody>
                    <a:bodyPr/>
                    <a:lstStyle/>
                    <a:p>
                      <a:pPr>
                        <a:defRPr sz="900">
                          <a:solidFill>
                            <a:srgbClr val="2A2118"/>
                          </a:solidFill>
                          <a:latin typeface="DM Sans"/>
                        </a:defRPr>
                      </a:pPr>
                      <a:r>
                        <a:t>165</a:t>
                      </a:r>
                    </a:p>
                  </a:txBody>
                  <a:tcPr marT="25400" marB="25400">
                    <a:solidFill>
                      <a:srgbClr val="FFFFFF"/>
                    </a:solidFill>
                  </a:tcPr>
                </a:tc>
                <a:tc>
                  <a:txBody>
                    <a:bodyPr/>
                    <a:lstStyle/>
                    <a:p>
                      <a:pPr>
                        <a:defRPr sz="900">
                          <a:solidFill>
                            <a:srgbClr val="2A2118"/>
                          </a:solidFill>
                          <a:latin typeface="DM Sans"/>
                        </a:defRPr>
                      </a:pPr>
                      <a:r>
                        <a:t>3</a:t>
                      </a:r>
                    </a:p>
                  </a:txBody>
                  <a:tcPr marT="25400" marB="25400">
                    <a:solidFill>
                      <a:srgbClr val="FFFFFF"/>
                    </a:solidFill>
                  </a:tcPr>
                </a:tc>
                <a:tc>
                  <a:txBody>
                    <a:bodyPr/>
                    <a:lstStyle/>
                    <a:p>
                      <a:pPr>
                        <a:defRPr sz="900">
                          <a:solidFill>
                            <a:srgbClr val="2A2118"/>
                          </a:solidFill>
                          <a:latin typeface="DM Sans"/>
                        </a:defRPr>
                      </a:pPr>
                      <a:r>
                        <a:t>1</a:t>
                      </a:r>
                    </a:p>
                  </a:txBody>
                  <a:tcPr marT="25400" marB="25400">
                    <a:solidFill>
                      <a:srgbClr val="FFFFFF"/>
                    </a:solidFill>
                  </a:tcPr>
                </a:tc>
                <a:tc>
                  <a:txBody>
                    <a:bodyPr/>
                    <a:lstStyle/>
                    <a:p>
                      <a:pPr>
                        <a:defRPr sz="900">
                          <a:solidFill>
                            <a:srgbClr val="2A2118"/>
                          </a:solidFill>
                          <a:latin typeface="DM Sans"/>
                        </a:defRPr>
                      </a:pPr>
                      <a:r>
                        <a:t>0</a:t>
                      </a:r>
                    </a:p>
                  </a:txBody>
                  <a:tcPr marT="25400" marB="25400">
                    <a:solidFill>
                      <a:srgbClr val="FFFFFF"/>
                    </a:solidFill>
                  </a:tcPr>
                </a:tc>
              </a:tr>
              <a:tr h="502920">
                <a:tc>
                  <a:txBody>
                    <a:bodyPr/>
                    <a:lstStyle/>
                    <a:p>
                      <a:pPr>
                        <a:defRPr sz="900">
                          <a:solidFill>
                            <a:srgbClr val="2A2118"/>
                          </a:solidFill>
                          <a:latin typeface="DM Sans"/>
                        </a:defRPr>
                      </a:pPr>
                      <a:r>
                        <a:t>Swipe-worthy transformation. 🖤 From faded and dull to deep, glossy black — this is what precision color can do. Ready for your own before &amp; after moment? Book with Salon Veritas!…</a:t>
                      </a:r>
                    </a:p>
                  </a:txBody>
                  <a:tcPr marT="25400" marB="25400">
                    <a:solidFill>
                      <a:srgbClr val="FAF7F4"/>
                    </a:solidFill>
                  </a:tcPr>
                </a:tc>
                <a:tc>
                  <a:txBody>
                    <a:bodyPr/>
                    <a:lstStyle/>
                    <a:p>
                      <a:pPr>
                        <a:defRPr sz="900">
                          <a:solidFill>
                            <a:srgbClr val="2A2118"/>
                          </a:solidFill>
                          <a:latin typeface="DM Sans"/>
                        </a:defRPr>
                      </a:pPr>
                      <a:r>
                        <a:t>Aug 27</a:t>
                      </a:r>
                    </a:p>
                  </a:txBody>
                  <a:tcPr marT="25400" marB="25400">
                    <a:solidFill>
                      <a:srgbClr val="FAF7F4"/>
                    </a:solidFill>
                  </a:tcPr>
                </a:tc>
                <a:tc>
                  <a:txBody>
                    <a:bodyPr/>
                    <a:lstStyle/>
                    <a:p>
                      <a:pPr>
                        <a:defRPr sz="900">
                          <a:solidFill>
                            <a:srgbClr val="2A2118"/>
                          </a:solidFill>
                          <a:latin typeface="DM Sans"/>
                        </a:defRPr>
                      </a:pPr>
                      <a:r>
                        <a:t>137</a:t>
                      </a:r>
                    </a:p>
                  </a:txBody>
                  <a:tcPr marT="25400" marB="25400">
                    <a:solidFill>
                      <a:srgbClr val="FAF7F4"/>
                    </a:solidFill>
                  </a:tcPr>
                </a:tc>
                <a:tc>
                  <a:txBody>
                    <a:bodyPr/>
                    <a:lstStyle/>
                    <a:p>
                      <a:pPr>
                        <a:defRPr sz="900">
                          <a:solidFill>
                            <a:srgbClr val="2A2118"/>
                          </a:solidFill>
                          <a:latin typeface="DM Sans"/>
                        </a:defRPr>
                      </a:pPr>
                      <a:r>
                        <a:t>2</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r>
              <a:tr h="502920">
                <a:tc>
                  <a:txBody>
                    <a:bodyPr/>
                    <a:lstStyle/>
                    <a:p>
                      <a:pPr>
                        <a:defRPr sz="900">
                          <a:solidFill>
                            <a:srgbClr val="2A2118"/>
                          </a:solidFill>
                          <a:latin typeface="DM Sans"/>
                        </a:defRPr>
                      </a:pPr>
                      <a:r>
                        <a:t>Coppery blonde, transformed into a rich, unapologetic red. This wasn't a small ask. She came in ready for a change, and we talked through the depth, the undertone, the maintenance…</a:t>
                      </a:r>
                    </a:p>
                  </a:txBody>
                  <a:tcPr marT="25400" marB="25400">
                    <a:solidFill>
                      <a:srgbClr val="FFFFFF"/>
                    </a:solidFill>
                  </a:tcPr>
                </a:tc>
                <a:tc>
                  <a:txBody>
                    <a:bodyPr/>
                    <a:lstStyle/>
                    <a:p>
                      <a:pPr>
                        <a:defRPr sz="900">
                          <a:solidFill>
                            <a:srgbClr val="2A2118"/>
                          </a:solidFill>
                          <a:latin typeface="DM Sans"/>
                        </a:defRPr>
                      </a:pPr>
                      <a:r>
                        <a:t>Sep 05</a:t>
                      </a:r>
                    </a:p>
                  </a:txBody>
                  <a:tcPr marT="25400" marB="25400">
                    <a:solidFill>
                      <a:srgbClr val="FFFFFF"/>
                    </a:solidFill>
                  </a:tcPr>
                </a:tc>
                <a:tc>
                  <a:txBody>
                    <a:bodyPr/>
                    <a:lstStyle/>
                    <a:p>
                      <a:pPr>
                        <a:defRPr sz="900">
                          <a:solidFill>
                            <a:srgbClr val="2A2118"/>
                          </a:solidFill>
                          <a:latin typeface="DM Sans"/>
                        </a:defRPr>
                      </a:pPr>
                      <a:r>
                        <a:t>119</a:t>
                      </a:r>
                    </a:p>
                  </a:txBody>
                  <a:tcPr marT="25400" marB="25400">
                    <a:solidFill>
                      <a:srgbClr val="FFFFFF"/>
                    </a:solidFill>
                  </a:tcPr>
                </a:tc>
                <a:tc>
                  <a:txBody>
                    <a:bodyPr/>
                    <a:lstStyle/>
                    <a:p>
                      <a:pPr>
                        <a:defRPr sz="900">
                          <a:solidFill>
                            <a:srgbClr val="2A2118"/>
                          </a:solidFill>
                          <a:latin typeface="DM Sans"/>
                        </a:defRPr>
                      </a:pPr>
                      <a:r>
                        <a:t>1</a:t>
                      </a:r>
                    </a:p>
                  </a:txBody>
                  <a:tcPr marT="25400" marB="25400">
                    <a:solidFill>
                      <a:srgbClr val="FFFFFF"/>
                    </a:solidFill>
                  </a:tcPr>
                </a:tc>
                <a:tc>
                  <a:txBody>
                    <a:bodyPr/>
                    <a:lstStyle/>
                    <a:p>
                      <a:pPr>
                        <a:defRPr sz="900">
                          <a:solidFill>
                            <a:srgbClr val="2A2118"/>
                          </a:solidFill>
                          <a:latin typeface="DM Sans"/>
                        </a:defRPr>
                      </a:pPr>
                      <a:r>
                        <a:t>0</a:t>
                      </a:r>
                    </a:p>
                  </a:txBody>
                  <a:tcPr marT="25400" marB="25400">
                    <a:solidFill>
                      <a:srgbClr val="FFFFFF"/>
                    </a:solidFill>
                  </a:tcPr>
                </a:tc>
                <a:tc>
                  <a:txBody>
                    <a:bodyPr/>
                    <a:lstStyle/>
                    <a:p>
                      <a:pPr>
                        <a:defRPr sz="900">
                          <a:solidFill>
                            <a:srgbClr val="2A2118"/>
                          </a:solidFill>
                          <a:latin typeface="DM Sans"/>
                        </a:defRPr>
                      </a:pPr>
                      <a:r>
                        <a:t>0</a:t>
                      </a:r>
                    </a:p>
                  </a:txBody>
                  <a:tcPr marT="25400" marB="25400">
                    <a:solidFill>
                      <a:srgbClr val="FFFFFF"/>
                    </a:solidFill>
                  </a:tcPr>
                </a:tc>
              </a:tr>
              <a:tr h="502920">
                <a:tc>
                  <a:txBody>
                    <a:bodyPr/>
                    <a:lstStyle/>
                    <a:p>
                      <a:pPr>
                        <a:defRPr sz="900">
                          <a:solidFill>
                            <a:srgbClr val="2A2118"/>
                          </a:solidFill>
                          <a:latin typeface="DM Sans"/>
                        </a:defRPr>
                      </a:pPr>
                      <a:r>
                        <a:t>A full balayage, a soft blonde smudge at the root, finished with a long, layered, angled cut. This is what we love most: color and cut working together, not as two separate servic…</a:t>
                      </a:r>
                    </a:p>
                  </a:txBody>
                  <a:tcPr marT="25400" marB="25400">
                    <a:solidFill>
                      <a:srgbClr val="FAF7F4"/>
                    </a:solidFill>
                  </a:tcPr>
                </a:tc>
                <a:tc>
                  <a:txBody>
                    <a:bodyPr/>
                    <a:lstStyle/>
                    <a:p>
                      <a:pPr>
                        <a:defRPr sz="900">
                          <a:solidFill>
                            <a:srgbClr val="2A2118"/>
                          </a:solidFill>
                          <a:latin typeface="DM Sans"/>
                        </a:defRPr>
                      </a:pPr>
                      <a:r>
                        <a:t>Sep 08</a:t>
                      </a:r>
                    </a:p>
                  </a:txBody>
                  <a:tcPr marT="25400" marB="25400">
                    <a:solidFill>
                      <a:srgbClr val="FAF7F4"/>
                    </a:solidFill>
                  </a:tcPr>
                </a:tc>
                <a:tc>
                  <a:txBody>
                    <a:bodyPr/>
                    <a:lstStyle/>
                    <a:p>
                      <a:pPr>
                        <a:defRPr sz="900">
                          <a:solidFill>
                            <a:srgbClr val="2A2118"/>
                          </a:solidFill>
                          <a:latin typeface="DM Sans"/>
                        </a:defRPr>
                      </a:pPr>
                      <a:r>
                        <a:t>108</a:t>
                      </a:r>
                    </a:p>
                  </a:txBody>
                  <a:tcPr marT="25400" marB="25400">
                    <a:solidFill>
                      <a:srgbClr val="FAF7F4"/>
                    </a:solidFill>
                  </a:tcPr>
                </a:tc>
                <a:tc>
                  <a:txBody>
                    <a:bodyPr/>
                    <a:lstStyle/>
                    <a:p>
                      <a:pPr>
                        <a:defRPr sz="900">
                          <a:solidFill>
                            <a:srgbClr val="2A2118"/>
                          </a:solidFill>
                          <a:latin typeface="DM Sans"/>
                        </a:defRPr>
                      </a:pPr>
                      <a:r>
                        <a:t>4</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c>
                  <a:txBody>
                    <a:bodyPr/>
                    <a:lstStyle/>
                    <a:p>
                      <a:pPr>
                        <a:defRPr sz="900">
                          <a:solidFill>
                            <a:srgbClr val="2A2118"/>
                          </a:solidFill>
                          <a:latin typeface="DM Sans"/>
                        </a:defRPr>
                      </a:pPr>
                      <a:r>
                        <a:t>0</a:t>
                      </a:r>
                    </a:p>
                  </a:txBody>
                  <a:tcPr marT="25400" marB="25400">
                    <a:solidFill>
                      <a:srgbClr val="FAF7F4"/>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4"/>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707252"/>
                </a:solidFill>
                <a:latin typeface="Cormorant Garamond"/>
              </a:rPr>
              <a:t>Miscellaneous Marketing Items</a:t>
            </a:r>
          </a:p>
        </p:txBody>
      </p:sp>
      <p:cxnSp>
        <p:nvCxnSpPr>
          <p:cNvPr id="3" name="Connector 2"/>
          <p:cNvCxnSpPr/>
          <p:nvPr/>
        </p:nvCxnSpPr>
        <p:spPr>
          <a:xfrm>
            <a:off x="512064" y="1060704"/>
            <a:ext cx="8119872" cy="0"/>
          </a:xfrm>
          <a:prstGeom prst="line">
            <a:avLst/>
          </a:prstGeom>
          <a:ln w="9525">
            <a:solidFill>
              <a:srgbClr val="E2DBD4"/>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12064" y="1133856"/>
            <a:ext cx="8119872" cy="3566160"/>
          </a:xfrm>
          <a:prstGeom prst="rect">
            <a:avLst/>
          </a:prstGeom>
          <a:noFill/>
        </p:spPr>
        <p:txBody>
          <a:bodyPr wrap="square">
            <a:spAutoFit/>
          </a:bodyPr>
          <a:lstStyle/>
          <a:p>
            <a:pPr algn="l" marL="228600" indent="-228600">
              <a:spcAft>
                <a:spcPts val="800"/>
              </a:spcAft>
              <a:buFont typeface="Arial"/>
              <a:buChar char="●"/>
            </a:pPr>
            <a:r>
              <a:rPr sz="1400" b="0">
                <a:solidFill>
                  <a:srgbClr val="2A2118"/>
                </a:solidFill>
                <a:latin typeface="DM Sans"/>
              </a:rPr>
              <a:t>[Add item]</a:t>
            </a:r>
          </a:p>
          <a:p>
            <a:pPr algn="l" marL="228600" indent="-228600">
              <a:spcAft>
                <a:spcPts val="800"/>
              </a:spcAft>
              <a:buFont typeface="Arial"/>
              <a:buChar char="●"/>
            </a:pPr>
            <a:r>
              <a:rPr sz="1400" b="0">
                <a:solidFill>
                  <a:srgbClr val="2A2118"/>
                </a:solidFill>
                <a:latin typeface="DM Sans"/>
              </a:rPr>
              <a:t>[Add item]</a:t>
            </a:r>
          </a:p>
          <a:p>
            <a:pPr algn="l" marL="228600" indent="-228600">
              <a:spcAft>
                <a:spcPts val="800"/>
              </a:spcAft>
              <a:buFont typeface="Arial"/>
              <a:buChar char="●"/>
            </a:pPr>
            <a:r>
              <a:rPr sz="1400" b="0">
                <a:solidFill>
                  <a:srgbClr val="2A2118"/>
                </a:solidFill>
                <a:latin typeface="DM Sans"/>
              </a:rPr>
              <a:t>[Add item]</a:t>
            </a:r>
          </a:p>
          <a:p>
            <a:pPr algn="l" marL="228600" indent="-228600">
              <a:spcAft>
                <a:spcPts val="800"/>
              </a:spcAft>
              <a:buFont typeface="Arial"/>
              <a:buChar char="●"/>
            </a:pPr>
            <a:r>
              <a:rPr sz="1400" b="0">
                <a:solidFill>
                  <a:srgbClr val="2A2118"/>
                </a:solidFill>
                <a:latin typeface="DM Sans"/>
              </a:rPr>
              <a:t>[Add item]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4"/>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707252"/>
                </a:solidFill>
                <a:latin typeface="Cormorant Garamond"/>
              </a:rPr>
              <a:t>Marketing WINS</a:t>
            </a:r>
          </a:p>
        </p:txBody>
      </p:sp>
      <p:cxnSp>
        <p:nvCxnSpPr>
          <p:cNvPr id="3" name="Connector 2"/>
          <p:cNvCxnSpPr/>
          <p:nvPr/>
        </p:nvCxnSpPr>
        <p:spPr>
          <a:xfrm>
            <a:off x="512064" y="1060704"/>
            <a:ext cx="8119872" cy="0"/>
          </a:xfrm>
          <a:prstGeom prst="line">
            <a:avLst/>
          </a:prstGeom>
          <a:ln w="9525">
            <a:solidFill>
              <a:srgbClr val="E2DBD4"/>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12064" y="1133856"/>
            <a:ext cx="8119872" cy="3566160"/>
          </a:xfrm>
          <a:prstGeom prst="rect">
            <a:avLst/>
          </a:prstGeom>
          <a:noFill/>
        </p:spPr>
        <p:txBody>
          <a:bodyPr wrap="square">
            <a:spAutoFit/>
          </a:bodyPr>
          <a:lstStyle/>
          <a:p>
            <a:pPr algn="l" marL="228600" indent="-228600">
              <a:spcAft>
                <a:spcPts val="800"/>
              </a:spcAft>
              <a:buFont typeface="Arial"/>
              <a:buChar char="●"/>
            </a:pPr>
            <a:r>
              <a:rPr sz="1400" b="0">
                <a:solidFill>
                  <a:srgbClr val="2A2118"/>
                </a:solidFill>
                <a:latin typeface="DM Sans"/>
              </a:rPr>
              <a:t>[Add item]</a:t>
            </a:r>
          </a:p>
          <a:p>
            <a:pPr algn="l" marL="228600" indent="-228600">
              <a:spcAft>
                <a:spcPts val="800"/>
              </a:spcAft>
              <a:buFont typeface="Arial"/>
              <a:buChar char="●"/>
            </a:pPr>
            <a:r>
              <a:rPr sz="1400" b="0">
                <a:solidFill>
                  <a:srgbClr val="2A2118"/>
                </a:solidFill>
                <a:latin typeface="DM Sans"/>
              </a:rPr>
              <a:t>[Add item]</a:t>
            </a:r>
          </a:p>
          <a:p>
            <a:pPr algn="l" marL="228600" indent="-228600">
              <a:spcAft>
                <a:spcPts val="800"/>
              </a:spcAft>
              <a:buFont typeface="Arial"/>
              <a:buChar char="●"/>
            </a:pPr>
            <a:r>
              <a:rPr sz="1400" b="0">
                <a:solidFill>
                  <a:srgbClr val="2A2118"/>
                </a:solidFill>
                <a:latin typeface="DM Sans"/>
              </a:rPr>
              <a:t>[Add item]</a:t>
            </a:r>
          </a:p>
          <a:p>
            <a:pPr algn="l" marL="228600" indent="-228600">
              <a:spcAft>
                <a:spcPts val="800"/>
              </a:spcAft>
              <a:buFont typeface="Arial"/>
              <a:buChar char="●"/>
            </a:pPr>
            <a:r>
              <a:rPr sz="1400" b="0">
                <a:solidFill>
                  <a:srgbClr val="2A2118"/>
                </a:solidFill>
                <a:latin typeface="DM Sans"/>
              </a:rPr>
              <a:t>[Add item]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4"/>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707252"/>
                </a:solidFill>
                <a:latin typeface="Cormorant Garamond"/>
              </a:rPr>
              <a:t>Last Month - Goals for August</a:t>
            </a:r>
          </a:p>
        </p:txBody>
      </p:sp>
      <p:cxnSp>
        <p:nvCxnSpPr>
          <p:cNvPr id="3" name="Connector 2"/>
          <p:cNvCxnSpPr/>
          <p:nvPr/>
        </p:nvCxnSpPr>
        <p:spPr>
          <a:xfrm>
            <a:off x="512064" y="1060704"/>
            <a:ext cx="8119872" cy="0"/>
          </a:xfrm>
          <a:prstGeom prst="line">
            <a:avLst/>
          </a:prstGeom>
          <a:ln w="9525">
            <a:solidFill>
              <a:srgbClr val="E2DBD4"/>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12064" y="1133856"/>
            <a:ext cx="8119872" cy="3566160"/>
          </a:xfrm>
          <a:prstGeom prst="rect">
            <a:avLst/>
          </a:prstGeom>
          <a:noFill/>
        </p:spPr>
        <p:txBody>
          <a:bodyPr wrap="square">
            <a:spAutoFit/>
          </a:bodyPr>
          <a:lstStyle/>
          <a:p>
            <a:pPr algn="l" marL="228600" indent="-228600">
              <a:spcAft>
                <a:spcPts val="800"/>
              </a:spcAft>
              <a:buFont typeface="Arial"/>
              <a:buChar char="●"/>
            </a:pPr>
            <a:r>
              <a:rPr sz="1400" b="0">
                <a:solidFill>
                  <a:srgbClr val="2A2118"/>
                </a:solidFill>
                <a:latin typeface="DM Sans"/>
              </a:rPr>
              <a:t>Diversify Instagram content — one post drove 60% of this period's total; publish more posts capable of carrying reach on their own rather than relying on a single standout.</a:t>
            </a:r>
          </a:p>
          <a:p>
            <a:pPr algn="l" marL="228600" indent="-228600">
              <a:spcAft>
                <a:spcPts val="800"/>
              </a:spcAft>
              <a:buFont typeface="Arial"/>
              <a:buChar char="●"/>
            </a:pPr>
            <a:r>
              <a:rPr sz="1400" b="0">
                <a:solidFill>
                  <a:srgbClr val="2A2118"/>
                </a:solidFill>
                <a:latin typeface="DM Sans"/>
              </a:rPr>
              <a:t>Restore TikTok posting cadence — down 60% this period (6 vs. 15 posts). Aim for 15+ posts next period.</a:t>
            </a:r>
          </a:p>
          <a:p>
            <a:pPr algn="l" marL="228600" indent="-228600">
              <a:spcAft>
                <a:spcPts val="800"/>
              </a:spcAft>
              <a:buFont typeface="Arial"/>
              <a:buChar char="●"/>
            </a:pPr>
            <a:r>
              <a:rPr sz="1400" b="0">
                <a:solidFill>
                  <a:srgbClr val="2A2118"/>
                </a:solidFill>
                <a:latin typeface="DM Sans"/>
              </a:rPr>
              <a:t>Improve Facebook engagement quality — rate fell from 2.43% to 0.00% this period.</a:t>
            </a:r>
          </a:p>
          <a:p>
            <a:pPr algn="l" marL="228600" indent="-228600">
              <a:spcAft>
                <a:spcPts val="800"/>
              </a:spcAft>
              <a:buFont typeface="Arial"/>
              <a:buChar char="●"/>
            </a:pPr>
            <a:r>
              <a:rPr sz="1400" b="0">
                <a:solidFill>
                  <a:srgbClr val="2A2118"/>
                </a:solidFill>
                <a:latin typeface="DM Sans"/>
              </a:rPr>
              <a:t>Publish at least one piece of content spotlighting a Milbon Gold Line package with a clear booking CTA — e.g. a treatment before/after paired with the five-week result window — to drive add-on revenue.</a:t>
            </a:r>
          </a:p>
        </p:txBody>
      </p:sp>
      <p:sp>
        <p:nvSpPr>
          <p:cNvPr id="5" name="TextBox 4"/>
          <p:cNvSpPr txBox="1"/>
          <p:nvPr/>
        </p:nvSpPr>
        <p:spPr>
          <a:xfrm>
            <a:off x="5376672" y="2587752"/>
            <a:ext cx="3108960" cy="502920"/>
          </a:xfrm>
          <a:prstGeom prst="rect">
            <a:avLst/>
          </a:prstGeom>
          <a:noFill/>
        </p:spPr>
        <p:txBody>
          <a:bodyPr wrap="square">
            <a:spAutoFit/>
          </a:bodyPr>
          <a:lstStyle/>
          <a:p>
            <a:r>
              <a:rPr sz="1100" i="1">
                <a:solidFill>
                  <a:srgbClr val="6B5F55"/>
                </a:solidFill>
                <a:latin typeface="DM Sans"/>
              </a:rPr>
              <a:t>What else? Goals for Month? Questions?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F4"/>
        </a:solidFill>
        <a:effectLst/>
      </p:bgPr>
    </p:bg>
    <p:spTree>
      <p:nvGrpSpPr>
        <p:cNvPr id="1" name=""/>
        <p:cNvGrpSpPr/>
        <p:nvPr/>
      </p:nvGrpSpPr>
      <p:grpSpPr/>
      <p:sp>
        <p:nvSpPr>
          <p:cNvPr id="2" name="TextBox 1"/>
          <p:cNvSpPr txBox="1"/>
          <p:nvPr/>
        </p:nvSpPr>
        <p:spPr>
          <a:xfrm>
            <a:off x="512064" y="530352"/>
            <a:ext cx="8119872" cy="603504"/>
          </a:xfrm>
          <a:prstGeom prst="rect">
            <a:avLst/>
          </a:prstGeom>
          <a:noFill/>
        </p:spPr>
        <p:txBody>
          <a:bodyPr wrap="square">
            <a:spAutoFit/>
          </a:bodyPr>
          <a:lstStyle/>
          <a:p>
            <a:pPr algn="l"/>
            <a:r>
              <a:rPr sz="2800" b="1">
                <a:solidFill>
                  <a:srgbClr val="707252"/>
                </a:solidFill>
                <a:latin typeface="Cormorant Garamond"/>
              </a:rPr>
              <a:t>Next Month - Goals for October</a:t>
            </a:r>
          </a:p>
        </p:txBody>
      </p:sp>
      <p:cxnSp>
        <p:nvCxnSpPr>
          <p:cNvPr id="3" name="Connector 2"/>
          <p:cNvCxnSpPr/>
          <p:nvPr/>
        </p:nvCxnSpPr>
        <p:spPr>
          <a:xfrm>
            <a:off x="512064" y="1060704"/>
            <a:ext cx="8119872" cy="0"/>
          </a:xfrm>
          <a:prstGeom prst="line">
            <a:avLst/>
          </a:prstGeom>
          <a:ln w="9525">
            <a:solidFill>
              <a:srgbClr val="E2DBD4"/>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12064" y="1133856"/>
            <a:ext cx="8119872" cy="3566160"/>
          </a:xfrm>
          <a:prstGeom prst="rect">
            <a:avLst/>
          </a:prstGeom>
          <a:noFill/>
        </p:spPr>
        <p:txBody>
          <a:bodyPr wrap="square">
            <a:spAutoFit/>
          </a:bodyPr>
          <a:lstStyle/>
          <a:p>
            <a:pPr algn="l" marL="228600" indent="-228600">
              <a:spcAft>
                <a:spcPts val="800"/>
              </a:spcAft>
              <a:buFont typeface="Arial"/>
              <a:buChar char="●"/>
            </a:pPr>
            <a:r>
              <a:rPr sz="1400" b="0">
                <a:solidFill>
                  <a:srgbClr val="2A2118"/>
                </a:solidFill>
                <a:latin typeface="DM Sans"/>
              </a:rPr>
              <a:t>Diversify Instagram content — one post drove 60% of this period's total; publish more posts capable of carrying reach on their own rather than relying on a single standout.</a:t>
            </a:r>
          </a:p>
          <a:p>
            <a:pPr algn="l" marL="228600" indent="-228600">
              <a:spcAft>
                <a:spcPts val="800"/>
              </a:spcAft>
              <a:buFont typeface="Arial"/>
              <a:buChar char="●"/>
            </a:pPr>
            <a:r>
              <a:rPr sz="1400" b="0">
                <a:solidFill>
                  <a:srgbClr val="2A2118"/>
                </a:solidFill>
                <a:latin typeface="DM Sans"/>
              </a:rPr>
              <a:t>Restore TikTok posting cadence — down 60% this period (6 vs. 15 posts). Aim for 15+ posts next period.</a:t>
            </a:r>
          </a:p>
          <a:p>
            <a:pPr algn="l" marL="228600" indent="-228600">
              <a:spcAft>
                <a:spcPts val="800"/>
              </a:spcAft>
              <a:buFont typeface="Arial"/>
              <a:buChar char="●"/>
            </a:pPr>
            <a:r>
              <a:rPr sz="1400" b="0">
                <a:solidFill>
                  <a:srgbClr val="2A2118"/>
                </a:solidFill>
                <a:latin typeface="DM Sans"/>
              </a:rPr>
              <a:t>Improve Facebook engagement quality — rate fell from 2.43% to 0.00% this period.</a:t>
            </a:r>
          </a:p>
          <a:p>
            <a:pPr algn="l" marL="228600" indent="-228600">
              <a:spcAft>
                <a:spcPts val="800"/>
              </a:spcAft>
              <a:buFont typeface="Arial"/>
              <a:buChar char="●"/>
            </a:pPr>
            <a:r>
              <a:rPr sz="1400" b="0">
                <a:solidFill>
                  <a:srgbClr val="2A2118"/>
                </a:solidFill>
                <a:latin typeface="DM Sans"/>
              </a:rPr>
              <a:t>Publish at least one piece of content spotlighting a Milbon Gold Line package with a clear booking CTA — e.g. a treatment before/after paired with the five-week result window — to drive add-on revenue.</a:t>
            </a:r>
          </a:p>
        </p:txBody>
      </p:sp>
      <p:sp>
        <p:nvSpPr>
          <p:cNvPr id="5" name="TextBox 4"/>
          <p:cNvSpPr txBox="1"/>
          <p:nvPr/>
        </p:nvSpPr>
        <p:spPr>
          <a:xfrm>
            <a:off x="5376672" y="2587752"/>
            <a:ext cx="3108960" cy="502920"/>
          </a:xfrm>
          <a:prstGeom prst="rect">
            <a:avLst/>
          </a:prstGeom>
          <a:noFill/>
        </p:spPr>
        <p:txBody>
          <a:bodyPr wrap="square">
            <a:spAutoFit/>
          </a:bodyPr>
          <a:lstStyle/>
          <a:p>
            <a:r>
              <a:rPr sz="1100" i="1">
                <a:solidFill>
                  <a:srgbClr val="6B5F55"/>
                </a:solidFill>
                <a:latin typeface="DM Sans"/>
              </a:rPr>
              <a:t>What else? Goals for Month?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