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Period</c:v>
                </c:pt>
              </c:strCache>
            </c:strRef>
          </c:tx>
          <c:spPr>
            <a:ln w="25400">
              <a:solidFill>
                <a:srgbClr val="B8965A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Day 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Day 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Day 10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Day 15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>Day 20</c:v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Day 25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Day 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2150</c:v>
                </c:pt>
                <c:pt idx="10">
                  <c:v>0</c:v>
                </c:pt>
                <c:pt idx="11">
                  <c:v>193</c:v>
                </c:pt>
                <c:pt idx="12">
                  <c:v>0</c:v>
                </c:pt>
                <c:pt idx="13">
                  <c:v>0</c:v>
                </c:pt>
                <c:pt idx="14">
                  <c:v>5374</c:v>
                </c:pt>
                <c:pt idx="15">
                  <c:v>0</c:v>
                </c:pt>
                <c:pt idx="16">
                  <c:v>0</c:v>
                </c:pt>
                <c:pt idx="17">
                  <c:v>391</c:v>
                </c:pt>
                <c:pt idx="18">
                  <c:v>0</c:v>
                </c:pt>
                <c:pt idx="19">
                  <c:v>0</c:v>
                </c:pt>
                <c:pt idx="20">
                  <c:v>246</c:v>
                </c:pt>
                <c:pt idx="21">
                  <c:v>0</c:v>
                </c:pt>
                <c:pt idx="22">
                  <c:v>0</c:v>
                </c:pt>
                <c:pt idx="23">
                  <c:v>259</c:v>
                </c:pt>
                <c:pt idx="24">
                  <c:v>0</c:v>
                </c:pt>
                <c:pt idx="25">
                  <c:v>202</c:v>
                </c:pt>
                <c:pt idx="26">
                  <c:v>0</c:v>
                </c:pt>
                <c:pt idx="27">
                  <c:v>0</c:v>
                </c:pt>
                <c:pt idx="28">
                  <c:v>163</c:v>
                </c:pt>
                <c:pt idx="29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Period</c:v>
                </c:pt>
              </c:strCache>
            </c:strRef>
          </c:tx>
          <c:spPr>
            <a:ln w="25400">
              <a:solidFill>
                <a:srgbClr val="8A7E74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Day 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Day 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Day 10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Day 15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>Day 20</c:v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Day 25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Day 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609</c:v>
                </c:pt>
                <c:pt idx="20">
                  <c:v>0</c:v>
                </c:pt>
                <c:pt idx="21">
                  <c:v>254</c:v>
                </c:pt>
                <c:pt idx="22">
                  <c:v>0</c:v>
                </c:pt>
                <c:pt idx="23">
                  <c:v>0</c:v>
                </c:pt>
                <c:pt idx="24">
                  <c:v>427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270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2DBD4"/>
            </a:solidFill>
          </a:ln>
        </c:spPr>
        <c:txPr>
          <a:bodyPr/>
          <a:lstStyle/>
          <a:p>
            <a:pPr>
              <a:defRPr sz="900">
                <a:solidFill>
                  <a:srgbClr val="6B5F5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2DBD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5F55"/>
                </a:solidFill>
                <a:latin typeface="DM San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6B5F55"/>
              </a:solidFill>
              <a:latin typeface="DM San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Period</c:v>
                </c:pt>
              </c:strCache>
            </c:strRef>
          </c:tx>
          <c:spPr>
            <a:ln w="25400">
              <a:solidFill>
                <a:srgbClr val="B8965A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Day 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Day 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Day 10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Day 15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>Day 20</c:v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Day 25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Day 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257</c:v>
                </c:pt>
                <c:pt idx="12">
                  <c:v>0</c:v>
                </c:pt>
                <c:pt idx="13">
                  <c:v>0</c:v>
                </c:pt>
                <c:pt idx="14">
                  <c:v>304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123</c:v>
                </c:pt>
                <c:pt idx="21">
                  <c:v>0</c:v>
                </c:pt>
                <c:pt idx="22">
                  <c:v>0</c:v>
                </c:pt>
                <c:pt idx="23">
                  <c:v>75</c:v>
                </c:pt>
                <c:pt idx="24">
                  <c:v>0</c:v>
                </c:pt>
                <c:pt idx="25">
                  <c:v>18</c:v>
                </c:pt>
                <c:pt idx="26">
                  <c:v>0</c:v>
                </c:pt>
                <c:pt idx="27">
                  <c:v>0</c:v>
                </c:pt>
                <c:pt idx="28">
                  <c:v>52</c:v>
                </c:pt>
                <c:pt idx="29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Period</c:v>
                </c:pt>
              </c:strCache>
            </c:strRef>
          </c:tx>
          <c:spPr>
            <a:ln w="25400">
              <a:solidFill>
                <a:srgbClr val="8A7E74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Day 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Day 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Day 10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Day 15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>Day 20</c:v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Day 25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Day 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117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248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47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2DBD4"/>
            </a:solidFill>
          </a:ln>
        </c:spPr>
        <c:txPr>
          <a:bodyPr/>
          <a:lstStyle/>
          <a:p>
            <a:pPr>
              <a:defRPr sz="900">
                <a:solidFill>
                  <a:srgbClr val="6B5F5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2DBD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5F55"/>
                </a:solidFill>
                <a:latin typeface="DM San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6B5F55"/>
              </a:solidFill>
              <a:latin typeface="DM San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Period</c:v>
                </c:pt>
              </c:strCache>
            </c:strRef>
          </c:tx>
          <c:spPr>
            <a:ln w="25400">
              <a:solidFill>
                <a:srgbClr val="B8965A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Day 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Day 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Day 10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Day 15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>Day 20</c:v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Day 25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Day 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169</c:v>
                </c:pt>
                <c:pt idx="10">
                  <c:v>0</c:v>
                </c:pt>
                <c:pt idx="11">
                  <c:v>137</c:v>
                </c:pt>
                <c:pt idx="12">
                  <c:v>0</c:v>
                </c:pt>
                <c:pt idx="13">
                  <c:v>0</c:v>
                </c:pt>
                <c:pt idx="14">
                  <c:v>1060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119</c:v>
                </c:pt>
                <c:pt idx="21">
                  <c:v>0</c:v>
                </c:pt>
                <c:pt idx="22">
                  <c:v>0</c:v>
                </c:pt>
                <c:pt idx="23">
                  <c:v>113</c:v>
                </c:pt>
                <c:pt idx="24">
                  <c:v>0</c:v>
                </c:pt>
                <c:pt idx="25">
                  <c:v>91</c:v>
                </c:pt>
                <c:pt idx="26">
                  <c:v>0</c:v>
                </c:pt>
                <c:pt idx="27">
                  <c:v>0</c:v>
                </c:pt>
                <c:pt idx="28">
                  <c:v>115</c:v>
                </c:pt>
                <c:pt idx="29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Period</c:v>
                </c:pt>
              </c:strCache>
            </c:strRef>
          </c:tx>
          <c:spPr>
            <a:ln w="25400">
              <a:solidFill>
                <a:srgbClr val="8A7E74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Day 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Day 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Day 10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Day 15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>Day 20</c:v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Day 25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Day 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1858</c:v>
                </c:pt>
                <c:pt idx="1">
                  <c:v>643</c:v>
                </c:pt>
                <c:pt idx="2">
                  <c:v>0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746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197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110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2DBD4"/>
            </a:solidFill>
          </a:ln>
        </c:spPr>
        <c:txPr>
          <a:bodyPr/>
          <a:lstStyle/>
          <a:p>
            <a:pPr>
              <a:defRPr sz="900">
                <a:solidFill>
                  <a:srgbClr val="6B5F55"/>
                </a:solidFill>
                <a:latin typeface="DM San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2DBD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5F55"/>
                </a:solidFill>
                <a:latin typeface="DM San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6B5F55"/>
              </a:solidFill>
              <a:latin typeface="DM San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1463040"/>
            <a:ext cx="698601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707252"/>
                </a:solidFill>
                <a:latin typeface="Cormorant Garamond"/>
              </a:rPr>
              <a:t>Monthly Marketing Report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657600" y="3200400"/>
            <a:ext cx="1828800" cy="0"/>
          </a:xfrm>
          <a:prstGeom prst="line">
            <a:avLst/>
          </a:prstGeom>
          <a:ln w="9525">
            <a:solidFill>
              <a:srgbClr val="D99F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465576" y="1207008"/>
            <a:ext cx="22128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6B5F55"/>
                </a:solidFill>
                <a:latin typeface="DM Sans"/>
              </a:rPr>
              <a:t>Salon Veritas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50208" y="3291840"/>
            <a:ext cx="1234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D99F95"/>
                </a:solidFill>
                <a:latin typeface="DM Sans"/>
              </a:rPr>
              <a:t>September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" y="3922776"/>
            <a:ext cx="22128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6B5F55"/>
                </a:solidFill>
                <a:latin typeface="DM Sans"/>
              </a:rPr>
              <a:t>Content Link: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434840"/>
            <a:ext cx="5184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2A2118"/>
                </a:solidFill>
                <a:latin typeface="DM Sans"/>
              </a:rPr>
              <a:t>[Add content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Instagram Insights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12064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Views</a:t>
            </a:r>
          </a:p>
          <a:p>
            <a:pPr algn="ctr"/>
            <a:r>
              <a:rPr sz="2200" b="1">
                <a:solidFill>
                  <a:srgbClr val="D99F95"/>
                </a:solidFill>
                <a:latin typeface="DM Sans"/>
              </a:rPr>
              <a:t>9.0K</a:t>
            </a:r>
          </a:p>
          <a:p>
            <a:pPr algn="ctr"/>
            <a:r>
              <a:rPr sz="900" b="1">
                <a:solidFill>
                  <a:srgbClr val="B8965A"/>
                </a:solidFill>
                <a:latin typeface="DM Sans"/>
              </a:rPr>
              <a:t>↑ new activity (low base: 1.6K→9.0K)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4892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Reach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7.0K</a:t>
            </a:r>
          </a:p>
          <a:p>
            <a:pPr algn="ctr"/>
            <a:r>
              <a:rPr sz="900" b="1">
                <a:solidFill>
                  <a:srgbClr val="B8965A"/>
                </a:solidFill>
                <a:latin typeface="DM Sans"/>
              </a:rPr>
              <a:t>↑ new activity (low base: 926→7.0K)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Weighted Eng. Rate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1.21%</a:t>
            </a:r>
          </a:p>
          <a:p>
            <a:pPr algn="ctr"/>
            <a:r>
              <a:rPr sz="900" b="1">
                <a:solidFill>
                  <a:srgbClr val="8A7E74"/>
                </a:solidFill>
                <a:latin typeface="DM Sans"/>
              </a:rPr>
              <a:t>↓ -83.6%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0548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Current Followers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880</a:t>
            </a:r>
          </a:p>
          <a:p>
            <a:pPr algn="ctr"/>
            <a:r>
              <a:rPr sz="900" b="1">
                <a:solidFill>
                  <a:srgbClr val="8A7E74"/>
                </a:solidFill>
                <a:latin typeface="DM Sans"/>
              </a:rPr>
              <a:t>↓ -0.1%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12064" y="1801368"/>
          <a:ext cx="8119872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554480"/>
                <a:gridCol w="2633472"/>
              </a:tblGrid>
              <a:tr h="1645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Metric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Current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Prior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Change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Posts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11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+57.1%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Views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9.0K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1.6K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new activity (low base: 1.6K→9.0K)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Reach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7.0K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926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new activity (low base: 926→7.0K)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Reactions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63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+14.3%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Comments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3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+233.3%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Shares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-50.0%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Saves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new activity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Weighted Eng. Rate (reach)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1.21%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7.34%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-83.6%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" y="3310128"/>
            <a:ext cx="8119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A7E74"/>
                </a:solidFill>
                <a:latin typeface="DM Sans"/>
              </a:rPr>
              <a:t>Shares, Engagement Rate softened despite posting volume increasing (11 vs. 7 posts).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520440"/>
            <a:ext cx="81198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6B5F55"/>
                </a:solidFill>
                <a:latin typeface="DM Sans"/>
              </a:rPr>
              <a:t>Daily Views — Current vs. Prior Period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2064" y="3739896"/>
          <a:ext cx="8119872" cy="115214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Instagram — Top Posts This Period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12064" y="1133856"/>
            <a:ext cx="81198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A2118"/>
                </a:solidFill>
                <a:latin typeface="DM Sans"/>
              </a:rPr>
              <a:t>“Pro tip for dark dye days: massage a little…” drove </a:t>
            </a:r>
            <a:r>
              <a:rPr sz="1400" b="1">
                <a:solidFill>
                  <a:srgbClr val="D99F95"/>
                </a:solidFill>
                <a:latin typeface="DM Sans"/>
              </a:rPr>
              <a:t>60%</a:t>
            </a:r>
            <a:r>
              <a:rPr sz="1400" b="0">
                <a:solidFill>
                  <a:srgbClr val="2A2118"/>
                </a:solidFill>
                <a:latin typeface="DM Sans"/>
              </a:rPr>
              <a:t> of this period's total views.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" y="1709928"/>
          <a:ext cx="811987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7992"/>
                <a:gridCol w="640080"/>
                <a:gridCol w="685800"/>
                <a:gridCol w="777240"/>
                <a:gridCol w="777240"/>
                <a:gridCol w="731520"/>
              </a:tblGrid>
              <a:tr h="5029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Post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Date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Views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Reactions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Comments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Shares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Pro tip for dark dye days: massage a little shampoo onto stained skin while rinsing — it lifts the color right off, no stains left behind. 🖤✨ Watch the full process at Salon Verit…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Aug 30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5.4K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Black doesn’t get more dimensional than this. ✨ From root to tip, this rich, glossy black was crafted with precision at Salon Veritas. Book your next color transformation with us…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Aug 25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2.1K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This St. Louis beauty received a bob, layered bangs, and highlights. Look at her classic main character energy ✨ #SalonVeritas #HairTransformation #backtothebob #freshcut #haircol…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02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287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9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6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 full balayage, a soft blonde smudge at the root, finished with a long, layered, angled cut. This is what we love most: color and cut working together, not as two separate servic…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08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259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Coppery blonde, transformed into a rich, unapologetic red. This wasn't a small ask. She came in ready for a change, and we talked through the depth, the undertone, the maintenance…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05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246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Facebook Insights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12064" y="1133856"/>
            <a:ext cx="264566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Impressions</a:t>
            </a:r>
          </a:p>
          <a:p>
            <a:pPr algn="ctr"/>
            <a:r>
              <a:rPr sz="2200" b="1">
                <a:solidFill>
                  <a:srgbClr val="D99F95"/>
                </a:solidFill>
                <a:latin typeface="DM Sans"/>
              </a:rPr>
              <a:t>829</a:t>
            </a:r>
          </a:p>
          <a:p>
            <a:pPr algn="ctr"/>
            <a:r>
              <a:rPr sz="900" b="1">
                <a:solidFill>
                  <a:srgbClr val="B8965A"/>
                </a:solidFill>
                <a:latin typeface="DM Sans"/>
              </a:rPr>
              <a:t>↑ +101.2%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9168" y="1133856"/>
            <a:ext cx="264566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Weighted Eng. Rate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0.00%</a:t>
            </a:r>
          </a:p>
          <a:p>
            <a:pPr algn="ctr"/>
            <a:r>
              <a:rPr sz="900" b="1">
                <a:solidFill>
                  <a:srgbClr val="8A7E74"/>
                </a:solidFill>
                <a:latin typeface="DM Sans"/>
              </a:rPr>
              <a:t>↓ -100.0%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6272" y="1133856"/>
            <a:ext cx="264566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Current Followers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869</a:t>
            </a:r>
          </a:p>
          <a:p>
            <a:pPr algn="ctr"/>
            <a:r>
              <a:rPr sz="900" b="1">
                <a:solidFill>
                  <a:srgbClr val="8A7E74"/>
                </a:solidFill>
                <a:latin typeface="DM Sans"/>
              </a:rPr>
              <a:t>↓ -0.1%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" y="1801368"/>
          <a:ext cx="8119872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554480"/>
                <a:gridCol w="2633472"/>
              </a:tblGrid>
              <a:tr h="1645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Metric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Current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Prior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Change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Posts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9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3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+200.0%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Impressions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829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412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+101.2%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Reactions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8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-20.0%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Comments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B5F55"/>
                          </a:solidFill>
                          <a:latin typeface="DM Sans"/>
                        </a:defRPr>
                      </a:pPr>
                      <a:r>
                        <a:t>flat (0/0)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Shares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B5F55"/>
                          </a:solidFill>
                          <a:latin typeface="DM Sans"/>
                        </a:defRPr>
                      </a:pPr>
                      <a:r>
                        <a:t>flat (0/0)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Clicks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B8965A"/>
                          </a:solidFill>
                          <a:latin typeface="DM Sans"/>
                        </a:defRPr>
                      </a:pPr>
                      <a:r>
                        <a:t>↑ +28.6%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Weighted Eng. Rate (reach)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0.00%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2.43%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-100.0%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" y="3145536"/>
            <a:ext cx="8119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A7E74"/>
                </a:solidFill>
                <a:latin typeface="DM Sans"/>
              </a:rPr>
              <a:t>Reactions, Engagement Rate softened despite posting volume increasing (9 vs. 3 posts).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3355848"/>
            <a:ext cx="81198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6B5F55"/>
                </a:solidFill>
                <a:latin typeface="DM Sans"/>
              </a:rPr>
              <a:t>Daily Impressions — Current vs. Prior Period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12064" y="3575304"/>
          <a:ext cx="8119872" cy="13167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Facebook — Top Posts This Period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12064" y="1133856"/>
            <a:ext cx="81198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A2118"/>
                </a:solidFill>
                <a:latin typeface="DM Sans"/>
              </a:rPr>
              <a:t>“Pro tip for dark dye days: massage a little…” drove </a:t>
            </a:r>
            <a:r>
              <a:rPr sz="1400" b="1">
                <a:solidFill>
                  <a:srgbClr val="D99F95"/>
                </a:solidFill>
                <a:latin typeface="DM Sans"/>
              </a:rPr>
              <a:t>37%</a:t>
            </a:r>
            <a:r>
              <a:rPr sz="1400" b="0">
                <a:solidFill>
                  <a:srgbClr val="2A2118"/>
                </a:solidFill>
                <a:latin typeface="DM Sans"/>
              </a:rPr>
              <a:t> of this period's total impressions.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" y="1709928"/>
          <a:ext cx="811987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7992"/>
                <a:gridCol w="640080"/>
                <a:gridCol w="685800"/>
                <a:gridCol w="777240"/>
                <a:gridCol w="777240"/>
                <a:gridCol w="731520"/>
              </a:tblGrid>
              <a:tr h="5029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Post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Date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Impressions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Reactions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Comments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Shares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Pro tip for dark dye days: massage a little shampoo onto stained skin while rinsing — it lifts the color right off, no stains left behind. 🖤✨ Watch the full process at Salon Verit…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Aug 30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304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Swipe-worthy transformation. 🖤 From faded and dull to deep, glossy black — this is what precision color can do. Ready for your own before &amp; after moment? Book with Salon Veritas!…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Aug 27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257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Coppery blonde, transformed into a rich, unapologetic red. This wasn't a small ask. She came in ready for a change, and we talked through the depth, the undertone, the maintenance…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05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123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 full balayage, a soft blonde smudge at the root, finished with a long, layered, angled cut. This is what we love most: color and cut working together, not as two separate servic…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08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 classic French twist, done properly. There's a reason this style has never gone out of fashion. It's polished without trying too hard, elegant without being fussy, and it holds…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13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52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TikTok Insights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12064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Views</a:t>
            </a:r>
          </a:p>
          <a:p>
            <a:pPr algn="ctr"/>
            <a:r>
              <a:rPr sz="2200" b="1">
                <a:solidFill>
                  <a:srgbClr val="D99F95"/>
                </a:solidFill>
                <a:latin typeface="DM Sans"/>
              </a:rPr>
              <a:t>1.8K</a:t>
            </a:r>
          </a:p>
          <a:p>
            <a:pPr algn="ctr"/>
            <a:r>
              <a:rPr sz="900" b="1">
                <a:solidFill>
                  <a:srgbClr val="8A7E74"/>
                </a:solidFill>
                <a:latin typeface="DM Sans"/>
              </a:rPr>
              <a:t>↓ -50.9%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4892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Reach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1.5K</a:t>
            </a:r>
          </a:p>
          <a:p>
            <a:pPr algn="ctr"/>
            <a:r>
              <a:rPr sz="900" b="1">
                <a:solidFill>
                  <a:srgbClr val="8A7E74"/>
                </a:solidFill>
                <a:latin typeface="DM Sans"/>
              </a:rPr>
              <a:t>↓ -53.7%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Weighted Eng. Rate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1.63%</a:t>
            </a:r>
          </a:p>
          <a:p>
            <a:pPr algn="ctr"/>
            <a:r>
              <a:rPr sz="900" b="1">
                <a:solidFill>
                  <a:srgbClr val="8A7E74"/>
                </a:solidFill>
                <a:latin typeface="DM Sans"/>
              </a:rPr>
              <a:t>↓ -35.7%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0548" y="1133856"/>
            <a:ext cx="1961388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00">
                <a:solidFill>
                  <a:srgbClr val="6B5F55"/>
                </a:solidFill>
                <a:latin typeface="DM Sans"/>
              </a:rPr>
              <a:t>Current Followers</a:t>
            </a:r>
          </a:p>
          <a:p>
            <a:pPr algn="ctr"/>
            <a:r>
              <a:rPr sz="2200" b="1">
                <a:solidFill>
                  <a:srgbClr val="707252"/>
                </a:solidFill>
                <a:latin typeface="DM Sans"/>
              </a:rPr>
              <a:t>[Count]</a:t>
            </a:r>
          </a:p>
          <a:p>
            <a:pPr algn="ctr"/>
            <a:r>
              <a:rPr sz="900" b="1">
                <a:solidFill>
                  <a:srgbClr val="6B5F55"/>
                </a:solidFill>
                <a:latin typeface="DM Sans"/>
              </a:rPr>
              <a:t>Manual entry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12064" y="1801368"/>
          <a:ext cx="8119872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554480"/>
                <a:gridCol w="2633472"/>
              </a:tblGrid>
              <a:tr h="1645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Metric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Current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Prior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Change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Posts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-30.0%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Views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1.8K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3.7K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-50.9%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Reach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1.5K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3.3K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-53.7%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Reactions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72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-66.7%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Comments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11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-90.9%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Shares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Weighted Eng. Rate (reach)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1.63%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2.54%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8A7E74"/>
                          </a:solidFill>
                          <a:latin typeface="DM Sans"/>
                        </a:defRPr>
                      </a:pPr>
                      <a:r>
                        <a:t>↓ -35.7%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" y="3145536"/>
            <a:ext cx="8119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A7E74"/>
                </a:solidFill>
                <a:latin typeface="DM Sans"/>
              </a:rPr>
              <a:t>Most metrics are down this period alongside a 30% drop in posting frequency (7 vs. 10 posts).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355848"/>
            <a:ext cx="81198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6B5F55"/>
                </a:solidFill>
                <a:latin typeface="DM Sans"/>
              </a:rPr>
              <a:t>Daily Views — Current vs. Prior Period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2064" y="3575304"/>
          <a:ext cx="8119872" cy="13167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TikTok — Top Posts This Period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12064" y="1133856"/>
            <a:ext cx="81198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A2118"/>
                </a:solidFill>
                <a:latin typeface="DM Sans"/>
              </a:rPr>
              <a:t>“Pro tip for dark dye days: massage a little…” drove </a:t>
            </a:r>
            <a:r>
              <a:rPr sz="1400" b="1">
                <a:solidFill>
                  <a:srgbClr val="D99F95"/>
                </a:solidFill>
                <a:latin typeface="DM Sans"/>
              </a:rPr>
              <a:t>59%</a:t>
            </a:r>
            <a:r>
              <a:rPr sz="1400" b="0">
                <a:solidFill>
                  <a:srgbClr val="2A2118"/>
                </a:solidFill>
                <a:latin typeface="DM Sans"/>
              </a:rPr>
              <a:t> of this period's total views.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" y="1709928"/>
          <a:ext cx="811987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7992"/>
                <a:gridCol w="640080"/>
                <a:gridCol w="685800"/>
                <a:gridCol w="777240"/>
                <a:gridCol w="777240"/>
                <a:gridCol w="731520"/>
              </a:tblGrid>
              <a:tr h="5029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Post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Date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Views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Reactions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Comments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DM Sans"/>
                        </a:defRPr>
                      </a:pPr>
                      <a:r>
                        <a:t>Shares</a:t>
                      </a:r>
                    </a:p>
                  </a:txBody>
                  <a:tcPr marT="25400" marB="25400">
                    <a:solidFill>
                      <a:srgbClr val="7072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Pro tip for dark dye days: massage a little shampoo onto stained skin while rinsing — it lifts the color right off, no stains left behind. 🖤✨ Watch the full process at Salon Verit…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Aug 30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1.1K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12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Black doesn't get more dimensional than this. ✨ From root to tip, this rich, glossy black was crafted with precision at Salon Veritas. Book your next color transformation with us…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Aug 25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169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Swipe-worthy transformation. 🖤 From faded and dull to deep, glossy black — this is what precision color can do. Ready for your own before &amp; after moment? Book with Salon Veritas!…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Aug 27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137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2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Coppery blonde, transformed into a rich, unapologetic red. This wasn't a small ask. She came in ready for a change, and we talked through the depth, the undertone, the maintenance…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119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A classic French twist, done properly. There's a reason this style has never gone out of fashion. It's polished without trying too hard, elegant without being fussy, and it holds…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Sep 13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115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A2118"/>
                          </a:solidFill>
                          <a:latin typeface="DM Sans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Miscellaneous Marketing Items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12064" y="1133856"/>
            <a:ext cx="811987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Marketing WINS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12064" y="1133856"/>
            <a:ext cx="811987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[Add item]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Last Month - Goals for August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12064" y="1133856"/>
            <a:ext cx="811987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Diversify Instagram content — one post drove 60% of this period's total; publish more posts capable of carrying reach on their own rather than relying on a single standout.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Restore TikTok posting cadence — down 60% this period (6 vs. 15 posts). Aim for 15+ posts next period.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Improve Facebook engagement quality — rate fell from 2.43% to 0.00% this period.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Publish at least one piece of content spotlighting a Milbon Gold Line package with a clear booking CTA — e.g. a treatment before/after paired with the five-week result window — to drive add-on revenue.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76672" y="25877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5F55"/>
                </a:solidFill>
                <a:latin typeface="DM Sans"/>
              </a:rPr>
              <a:t>What else? Goals for Month? Questions?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4" y="530352"/>
            <a:ext cx="8119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707252"/>
                </a:solidFill>
                <a:latin typeface="Cormorant Garamond"/>
              </a:rPr>
              <a:t>Next Month - Goals for October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2064" y="1060704"/>
            <a:ext cx="8119872" cy="0"/>
          </a:xfrm>
          <a:prstGeom prst="line">
            <a:avLst/>
          </a:prstGeom>
          <a:ln w="9525">
            <a:solidFill>
              <a:srgbClr val="E2D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12064" y="1133856"/>
            <a:ext cx="811987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Diversify Instagram content — one post drove 60% of this period's total; publish more posts capable of carrying reach on their own rather than relying on a single standout.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Restore TikTok posting cadence — down 30% this period (7 vs. 10 posts). Aim for 10+ posts next period.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Improve Facebook engagement quality — rate fell from 2.43% to 0.00% this period.</a:t>
            </a:r>
          </a:p>
          <a:p>
            <a:pPr algn="l" marL="228600" indent="-228600">
              <a:spcAft>
                <a:spcPts val="800"/>
              </a:spcAft>
              <a:buFont typeface="Arial"/>
              <a:buChar char="●"/>
            </a:pPr>
            <a:r>
              <a:rPr sz="1400" b="0">
                <a:solidFill>
                  <a:srgbClr val="2A2118"/>
                </a:solidFill>
                <a:latin typeface="DM Sans"/>
              </a:rPr>
              <a:t>Publish at least one piece of content spotlighting a Milbon Gold Line package with a clear booking CTA — e.g. a treatment before/after paired with the five-week result window — to drive add-on revenue.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76672" y="25877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5F55"/>
                </a:solidFill>
                <a:latin typeface="DM Sans"/>
              </a:rPr>
              <a:t>What else? Goals for Month?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