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B8965A"/>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270</c:v>
                </c:pt>
                <c:pt idx="2">
                  <c:v>0</c:v>
                </c:pt>
                <c:pt idx="3">
                  <c:v>0</c:v>
                </c:pt>
                <c:pt idx="4">
                  <c:v>0</c:v>
                </c:pt>
                <c:pt idx="5">
                  <c:v>394</c:v>
                </c:pt>
                <c:pt idx="6">
                  <c:v>0</c:v>
                </c:pt>
                <c:pt idx="7">
                  <c:v>0</c:v>
                </c:pt>
                <c:pt idx="8">
                  <c:v>0</c:v>
                </c:pt>
                <c:pt idx="9">
                  <c:v>0</c:v>
                </c:pt>
                <c:pt idx="10">
                  <c:v>250</c:v>
                </c:pt>
                <c:pt idx="11">
                  <c:v>0</c:v>
                </c:pt>
                <c:pt idx="12">
                  <c:v>0</c:v>
                </c:pt>
                <c:pt idx="13">
                  <c:v>0</c:v>
                </c:pt>
                <c:pt idx="14">
                  <c:v>0</c:v>
                </c:pt>
                <c:pt idx="15">
                  <c:v>137</c:v>
                </c:pt>
                <c:pt idx="16">
                  <c:v>0</c:v>
                </c:pt>
                <c:pt idx="17">
                  <c:v>238</c:v>
                </c:pt>
                <c:pt idx="18">
                  <c:v>0</c:v>
                </c:pt>
                <c:pt idx="19">
                  <c:v>0</c:v>
                </c:pt>
                <c:pt idx="20">
                  <c:v>327</c:v>
                </c:pt>
                <c:pt idx="21">
                  <c:v>0</c:v>
                </c:pt>
                <c:pt idx="22">
                  <c:v>245</c:v>
                </c:pt>
                <c:pt idx="23">
                  <c:v>0</c:v>
                </c:pt>
                <c:pt idx="24">
                  <c:v>549</c:v>
                </c:pt>
                <c:pt idx="25">
                  <c:v>434</c:v>
                </c:pt>
                <c:pt idx="26">
                  <c:v>133</c:v>
                </c:pt>
                <c:pt idx="27">
                  <c:v>0</c:v>
                </c:pt>
                <c:pt idx="28">
                  <c:v>279</c:v>
                </c:pt>
                <c:pt idx="29">
                  <c:v>483</c:v>
                </c:pt>
              </c:numCache>
            </c:numRef>
          </c:val>
          <c:smooth val="0"/>
        </c:ser>
        <c:ser>
          <c:idx val="1"/>
          <c:order val="1"/>
          <c:tx>
            <c:strRef>
              <c:f>Sheet1!$C$1</c:f>
              <c:strCache>
                <c:ptCount val="1"/>
                <c:pt idx="0">
                  <c:v>Last Period</c:v>
                </c:pt>
              </c:strCache>
            </c:strRef>
          </c:tx>
          <c:spPr>
            <a:ln w="25400">
              <a:solidFill>
                <a:srgbClr val="8A7E74"/>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0</c:v>
                </c:pt>
                <c:pt idx="4">
                  <c:v>0</c:v>
                </c:pt>
                <c:pt idx="5">
                  <c:v>0</c:v>
                </c:pt>
                <c:pt idx="6">
                  <c:v>620</c:v>
                </c:pt>
                <c:pt idx="7">
                  <c:v>0</c:v>
                </c:pt>
                <c:pt idx="8">
                  <c:v>262</c:v>
                </c:pt>
                <c:pt idx="9">
                  <c:v>0</c:v>
                </c:pt>
                <c:pt idx="10">
                  <c:v>0</c:v>
                </c:pt>
                <c:pt idx="11">
                  <c:v>440</c:v>
                </c:pt>
                <c:pt idx="12">
                  <c:v>0</c:v>
                </c:pt>
                <c:pt idx="13">
                  <c:v>0</c:v>
                </c:pt>
                <c:pt idx="14">
                  <c:v>0</c:v>
                </c:pt>
                <c:pt idx="15">
                  <c:v>0</c:v>
                </c:pt>
                <c:pt idx="16">
                  <c:v>270</c:v>
                </c:pt>
                <c:pt idx="17">
                  <c:v>0</c:v>
                </c:pt>
                <c:pt idx="18">
                  <c:v>0</c:v>
                </c:pt>
                <c:pt idx="19">
                  <c:v>0</c:v>
                </c:pt>
                <c:pt idx="20">
                  <c:v>0</c:v>
                </c:pt>
                <c:pt idx="21">
                  <c:v>2164</c:v>
                </c:pt>
                <c:pt idx="22">
                  <c:v>203</c:v>
                </c:pt>
                <c:pt idx="23">
                  <c:v>5407</c:v>
                </c:pt>
                <c:pt idx="24">
                  <c:v>0</c:v>
                </c:pt>
                <c:pt idx="25">
                  <c:v>404</c:v>
                </c:pt>
                <c:pt idx="26">
                  <c:v>267</c:v>
                </c:pt>
                <c:pt idx="27">
                  <c:v>0</c:v>
                </c:pt>
                <c:pt idx="28">
                  <c:v>297</c:v>
                </c:pt>
                <c:pt idx="29">
                  <c:v>225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DBD4"/>
            </a:solidFill>
          </a:ln>
        </c:spPr>
        <c:txPr>
          <a:bodyPr/>
          <a:lstStyle/>
          <a:p>
            <a:pPr>
              <a:defRPr sz="900">
                <a:solidFill>
                  <a:srgbClr val="6B5F55"/>
                </a:solidFill>
                <a:latin typeface="DM Sans"/>
              </a:defRPr>
            </a:pPr>
          </a:p>
        </c:txPr>
        <c:crossAx val="2140495176"/>
        <c:crosses val="autoZero"/>
        <c:auto val="1"/>
        <c:lblAlgn val="ctr"/>
        <c:lblOffset val="100"/>
        <c:noMultiLvlLbl val="0"/>
      </c:catAx>
      <c:valAx>
        <c:axId val="2140495176"/>
        <c:scaling/>
        <c:delete val="0"/>
        <c:axPos val="l"/>
        <c:majorGridlines>
          <c:spPr>
            <a:ln w="6350">
              <a:solidFill>
                <a:srgbClr val="E2DBD4"/>
              </a:solidFill>
            </a:ln>
          </c:spPr>
        </c:majorGridlines>
        <c:majorTickMark val="out"/>
        <c:minorTickMark val="none"/>
        <c:tickLblPos val="nextTo"/>
        <c:spPr>
          <a:ln>
            <a:noFill/>
          </a:ln>
        </c:spPr>
        <c:txPr>
          <a:bodyPr/>
          <a:lstStyle/>
          <a:p>
            <a:pPr>
              <a:defRPr sz="900">
                <a:solidFill>
                  <a:srgbClr val="6B5F55"/>
                </a:solidFill>
                <a:latin typeface="DM Sans"/>
              </a:defRPr>
            </a:pPr>
          </a:p>
        </c:txPr>
        <c:crossAx val="2118791784"/>
        <c:crosses val="autoZero"/>
      </c:valAx>
    </c:plotArea>
    <c:legend>
      <c:legendPos val="t"/>
      <c:layout/>
      <c:overlay val="0"/>
      <c:txPr>
        <a:bodyPr/>
        <a:lstStyle/>
        <a:p>
          <a:pPr>
            <a:defRPr sz="900">
              <a:solidFill>
                <a:srgbClr val="6B5F55"/>
              </a:solidFill>
              <a:latin typeface="DM Sans"/>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B8965A"/>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78</c:v>
                </c:pt>
                <c:pt idx="2">
                  <c:v>0</c:v>
                </c:pt>
                <c:pt idx="3">
                  <c:v>0</c:v>
                </c:pt>
                <c:pt idx="4">
                  <c:v>0</c:v>
                </c:pt>
                <c:pt idx="5">
                  <c:v>80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numCache>
            </c:numRef>
          </c:val>
          <c:smooth val="0"/>
        </c:ser>
        <c:ser>
          <c:idx val="1"/>
          <c:order val="1"/>
          <c:tx>
            <c:strRef>
              <c:f>Sheet1!$C$1</c:f>
              <c:strCache>
                <c:ptCount val="1"/>
                <c:pt idx="0">
                  <c:v>Last Period</c:v>
                </c:pt>
              </c:strCache>
            </c:strRef>
          </c:tx>
          <c:spPr>
            <a:ln w="25400">
              <a:solidFill>
                <a:srgbClr val="8A7E74"/>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258</c:v>
                </c:pt>
                <c:pt idx="15">
                  <c:v>0</c:v>
                </c:pt>
                <c:pt idx="16">
                  <c:v>0</c:v>
                </c:pt>
                <c:pt idx="17">
                  <c:v>307</c:v>
                </c:pt>
                <c:pt idx="18">
                  <c:v>0</c:v>
                </c:pt>
                <c:pt idx="19">
                  <c:v>0</c:v>
                </c:pt>
                <c:pt idx="20">
                  <c:v>0</c:v>
                </c:pt>
                <c:pt idx="21">
                  <c:v>0</c:v>
                </c:pt>
                <c:pt idx="22">
                  <c:v>0</c:v>
                </c:pt>
                <c:pt idx="23">
                  <c:v>123</c:v>
                </c:pt>
                <c:pt idx="24">
                  <c:v>0</c:v>
                </c:pt>
                <c:pt idx="25">
                  <c:v>0</c:v>
                </c:pt>
                <c:pt idx="26">
                  <c:v>75</c:v>
                </c:pt>
                <c:pt idx="27">
                  <c:v>0</c:v>
                </c:pt>
                <c:pt idx="28">
                  <c:v>19</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DBD4"/>
            </a:solidFill>
          </a:ln>
        </c:spPr>
        <c:txPr>
          <a:bodyPr/>
          <a:lstStyle/>
          <a:p>
            <a:pPr>
              <a:defRPr sz="900">
                <a:solidFill>
                  <a:srgbClr val="6B5F55"/>
                </a:solidFill>
                <a:latin typeface="DM Sans"/>
              </a:defRPr>
            </a:pPr>
          </a:p>
        </c:txPr>
        <c:crossAx val="2140495176"/>
        <c:crosses val="autoZero"/>
        <c:auto val="1"/>
        <c:lblAlgn val="ctr"/>
        <c:lblOffset val="100"/>
        <c:noMultiLvlLbl val="0"/>
      </c:catAx>
      <c:valAx>
        <c:axId val="2140495176"/>
        <c:scaling/>
        <c:delete val="0"/>
        <c:axPos val="l"/>
        <c:majorGridlines>
          <c:spPr>
            <a:ln w="6350">
              <a:solidFill>
                <a:srgbClr val="E2DBD4"/>
              </a:solidFill>
            </a:ln>
          </c:spPr>
        </c:majorGridlines>
        <c:majorTickMark val="out"/>
        <c:minorTickMark val="none"/>
        <c:tickLblPos val="nextTo"/>
        <c:spPr>
          <a:ln>
            <a:noFill/>
          </a:ln>
        </c:spPr>
        <c:txPr>
          <a:bodyPr/>
          <a:lstStyle/>
          <a:p>
            <a:pPr>
              <a:defRPr sz="900">
                <a:solidFill>
                  <a:srgbClr val="6B5F55"/>
                </a:solidFill>
                <a:latin typeface="DM Sans"/>
              </a:defRPr>
            </a:pPr>
          </a:p>
        </c:txPr>
        <c:crossAx val="2118791784"/>
        <c:crosses val="autoZero"/>
      </c:valAx>
    </c:plotArea>
    <c:legend>
      <c:legendPos val="t"/>
      <c:layout/>
      <c:overlay val="0"/>
      <c:txPr>
        <a:bodyPr/>
        <a:lstStyle/>
        <a:p>
          <a:pPr>
            <a:defRPr sz="900">
              <a:solidFill>
                <a:srgbClr val="6B5F55"/>
              </a:solidFill>
              <a:latin typeface="DM Sans"/>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B8965A"/>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186</c:v>
                </c:pt>
                <c:pt idx="2">
                  <c:v>0</c:v>
                </c:pt>
                <c:pt idx="3">
                  <c:v>0</c:v>
                </c:pt>
                <c:pt idx="4">
                  <c:v>0</c:v>
                </c:pt>
                <c:pt idx="5">
                  <c:v>0</c:v>
                </c:pt>
                <c:pt idx="6">
                  <c:v>0</c:v>
                </c:pt>
                <c:pt idx="7">
                  <c:v>0</c:v>
                </c:pt>
                <c:pt idx="8">
                  <c:v>0</c:v>
                </c:pt>
                <c:pt idx="9">
                  <c:v>0</c:v>
                </c:pt>
                <c:pt idx="10">
                  <c:v>0</c:v>
                </c:pt>
                <c:pt idx="11">
                  <c:v>0</c:v>
                </c:pt>
                <c:pt idx="12">
                  <c:v>0</c:v>
                </c:pt>
                <c:pt idx="13">
                  <c:v>0</c:v>
                </c:pt>
                <c:pt idx="14">
                  <c:v>0</c:v>
                </c:pt>
                <c:pt idx="15">
                  <c:v>119</c:v>
                </c:pt>
                <c:pt idx="16">
                  <c:v>0</c:v>
                </c:pt>
                <c:pt idx="17">
                  <c:v>0</c:v>
                </c:pt>
                <c:pt idx="18">
                  <c:v>0</c:v>
                </c:pt>
                <c:pt idx="19">
                  <c:v>0</c:v>
                </c:pt>
                <c:pt idx="20">
                  <c:v>0</c:v>
                </c:pt>
                <c:pt idx="21">
                  <c:v>0</c:v>
                </c:pt>
                <c:pt idx="22">
                  <c:v>204</c:v>
                </c:pt>
                <c:pt idx="23">
                  <c:v>0</c:v>
                </c:pt>
                <c:pt idx="24">
                  <c:v>0</c:v>
                </c:pt>
                <c:pt idx="25">
                  <c:v>304</c:v>
                </c:pt>
                <c:pt idx="26">
                  <c:v>145</c:v>
                </c:pt>
                <c:pt idx="27">
                  <c:v>0</c:v>
                </c:pt>
                <c:pt idx="28">
                  <c:v>0</c:v>
                </c:pt>
                <c:pt idx="29">
                  <c:v>0</c:v>
                </c:pt>
              </c:numCache>
            </c:numRef>
          </c:val>
          <c:smooth val="0"/>
        </c:ser>
        <c:ser>
          <c:idx val="1"/>
          <c:order val="1"/>
          <c:tx>
            <c:strRef>
              <c:f>Sheet1!$C$1</c:f>
              <c:strCache>
                <c:ptCount val="1"/>
                <c:pt idx="0">
                  <c:v>Last Period</c:v>
                </c:pt>
              </c:strCache>
            </c:strRef>
          </c:tx>
          <c:spPr>
            <a:ln w="25400">
              <a:solidFill>
                <a:srgbClr val="8A7E74"/>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182</c:v>
                </c:pt>
                <c:pt idx="13">
                  <c:v>0</c:v>
                </c:pt>
                <c:pt idx="14">
                  <c:v>147</c:v>
                </c:pt>
                <c:pt idx="15">
                  <c:v>0</c:v>
                </c:pt>
                <c:pt idx="16">
                  <c:v>0</c:v>
                </c:pt>
                <c:pt idx="17">
                  <c:v>1099</c:v>
                </c:pt>
                <c:pt idx="18">
                  <c:v>0</c:v>
                </c:pt>
                <c:pt idx="19">
                  <c:v>0</c:v>
                </c:pt>
                <c:pt idx="20">
                  <c:v>0</c:v>
                </c:pt>
                <c:pt idx="21">
                  <c:v>0</c:v>
                </c:pt>
                <c:pt idx="22">
                  <c:v>0</c:v>
                </c:pt>
                <c:pt idx="23">
                  <c:v>127</c:v>
                </c:pt>
                <c:pt idx="24">
                  <c:v>0</c:v>
                </c:pt>
                <c:pt idx="25">
                  <c:v>0</c:v>
                </c:pt>
                <c:pt idx="26">
                  <c:v>170</c:v>
                </c:pt>
                <c:pt idx="27">
                  <c:v>0</c:v>
                </c:pt>
                <c:pt idx="28">
                  <c:v>116</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DBD4"/>
            </a:solidFill>
          </a:ln>
        </c:spPr>
        <c:txPr>
          <a:bodyPr/>
          <a:lstStyle/>
          <a:p>
            <a:pPr>
              <a:defRPr sz="900">
                <a:solidFill>
                  <a:srgbClr val="6B5F55"/>
                </a:solidFill>
                <a:latin typeface="DM Sans"/>
              </a:defRPr>
            </a:pPr>
          </a:p>
        </c:txPr>
        <c:crossAx val="2140495176"/>
        <c:crosses val="autoZero"/>
        <c:auto val="1"/>
        <c:lblAlgn val="ctr"/>
        <c:lblOffset val="100"/>
        <c:noMultiLvlLbl val="0"/>
      </c:catAx>
      <c:valAx>
        <c:axId val="2140495176"/>
        <c:scaling/>
        <c:delete val="0"/>
        <c:axPos val="l"/>
        <c:majorGridlines>
          <c:spPr>
            <a:ln w="6350">
              <a:solidFill>
                <a:srgbClr val="E2DBD4"/>
              </a:solidFill>
            </a:ln>
          </c:spPr>
        </c:majorGridlines>
        <c:majorTickMark val="out"/>
        <c:minorTickMark val="none"/>
        <c:tickLblPos val="nextTo"/>
        <c:spPr>
          <a:ln>
            <a:noFill/>
          </a:ln>
        </c:spPr>
        <c:txPr>
          <a:bodyPr/>
          <a:lstStyle/>
          <a:p>
            <a:pPr>
              <a:defRPr sz="900">
                <a:solidFill>
                  <a:srgbClr val="6B5F55"/>
                </a:solidFill>
                <a:latin typeface="DM Sans"/>
              </a:defRPr>
            </a:pPr>
          </a:p>
        </c:txPr>
        <c:crossAx val="2118791784"/>
        <c:crosses val="autoZero"/>
      </c:valAx>
    </c:plotArea>
    <c:legend>
      <c:legendPos val="t"/>
      <c:layout/>
      <c:overlay val="0"/>
      <c:txPr>
        <a:bodyPr/>
        <a:lstStyle/>
        <a:p>
          <a:pPr>
            <a:defRPr sz="900">
              <a:solidFill>
                <a:srgbClr val="6B5F55"/>
              </a:solidFill>
              <a:latin typeface="DM Sans"/>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1078992" y="1463040"/>
            <a:ext cx="6986016" cy="1691640"/>
          </a:xfrm>
          <a:prstGeom prst="rect">
            <a:avLst/>
          </a:prstGeom>
          <a:noFill/>
        </p:spPr>
        <p:txBody>
          <a:bodyPr wrap="square">
            <a:spAutoFit/>
          </a:bodyPr>
          <a:lstStyle/>
          <a:p>
            <a:pPr algn="ctr"/>
            <a:r>
              <a:rPr sz="4800" b="1">
                <a:solidFill>
                  <a:srgbClr val="707252"/>
                </a:solidFill>
                <a:latin typeface="Cormorant Garamond"/>
              </a:rPr>
              <a:t>Monthly Marketing Report</a:t>
            </a:r>
          </a:p>
        </p:txBody>
      </p:sp>
      <p:cxnSp>
        <p:nvCxnSpPr>
          <p:cNvPr id="3" name="Connector 2"/>
          <p:cNvCxnSpPr/>
          <p:nvPr/>
        </p:nvCxnSpPr>
        <p:spPr>
          <a:xfrm>
            <a:off x="3657600" y="3200400"/>
            <a:ext cx="1828800" cy="0"/>
          </a:xfrm>
          <a:prstGeom prst="line">
            <a:avLst/>
          </a:prstGeom>
          <a:ln w="9525">
            <a:solidFill>
              <a:srgbClr val="D99F9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465576" y="1207008"/>
            <a:ext cx="2212848" cy="438912"/>
          </a:xfrm>
          <a:prstGeom prst="rect">
            <a:avLst/>
          </a:prstGeom>
          <a:noFill/>
        </p:spPr>
        <p:txBody>
          <a:bodyPr wrap="none">
            <a:spAutoFit/>
          </a:bodyPr>
          <a:lstStyle/>
          <a:p>
            <a:pPr algn="ctr"/>
            <a:r>
              <a:rPr sz="1300">
                <a:solidFill>
                  <a:srgbClr val="6B5F55"/>
                </a:solidFill>
                <a:latin typeface="DM Sans"/>
              </a:rPr>
              <a:t>Salon Veritas</a:t>
            </a:r>
          </a:p>
        </p:txBody>
      </p:sp>
      <p:sp>
        <p:nvSpPr>
          <p:cNvPr id="5" name="TextBox 4"/>
          <p:cNvSpPr txBox="1"/>
          <p:nvPr/>
        </p:nvSpPr>
        <p:spPr>
          <a:xfrm>
            <a:off x="3950208" y="3291840"/>
            <a:ext cx="1234440" cy="457200"/>
          </a:xfrm>
          <a:prstGeom prst="rect">
            <a:avLst/>
          </a:prstGeom>
          <a:noFill/>
        </p:spPr>
        <p:txBody>
          <a:bodyPr wrap="none">
            <a:spAutoFit/>
          </a:bodyPr>
          <a:lstStyle/>
          <a:p>
            <a:pPr algn="ctr"/>
            <a:r>
              <a:rPr sz="1800" b="1">
                <a:solidFill>
                  <a:srgbClr val="D99F95"/>
                </a:solidFill>
                <a:latin typeface="DM Sans"/>
              </a:rPr>
              <a:t>October</a:t>
            </a:r>
          </a:p>
        </p:txBody>
      </p:sp>
      <p:sp>
        <p:nvSpPr>
          <p:cNvPr id="6" name="TextBox 5"/>
          <p:cNvSpPr txBox="1"/>
          <p:nvPr/>
        </p:nvSpPr>
        <p:spPr>
          <a:xfrm>
            <a:off x="246888" y="3922776"/>
            <a:ext cx="2212848" cy="438912"/>
          </a:xfrm>
          <a:prstGeom prst="rect">
            <a:avLst/>
          </a:prstGeom>
          <a:noFill/>
        </p:spPr>
        <p:txBody>
          <a:bodyPr wrap="none">
            <a:spAutoFit/>
          </a:bodyPr>
          <a:lstStyle/>
          <a:p>
            <a:pPr algn="ctr"/>
            <a:r>
              <a:rPr sz="1300" b="1">
                <a:solidFill>
                  <a:srgbClr val="6B5F55"/>
                </a:solidFill>
                <a:latin typeface="DM Sans"/>
              </a:rPr>
              <a:t>Content Link:</a:t>
            </a:r>
          </a:p>
        </p:txBody>
      </p:sp>
      <p:sp>
        <p:nvSpPr>
          <p:cNvPr id="7" name="TextBox 6"/>
          <p:cNvSpPr txBox="1"/>
          <p:nvPr/>
        </p:nvSpPr>
        <p:spPr>
          <a:xfrm>
            <a:off x="1143000" y="4434840"/>
            <a:ext cx="5184648" cy="365760"/>
          </a:xfrm>
          <a:prstGeom prst="rect">
            <a:avLst/>
          </a:prstGeom>
          <a:noFill/>
        </p:spPr>
        <p:txBody>
          <a:bodyPr wrap="none">
            <a:spAutoFit/>
          </a:bodyPr>
          <a:lstStyle/>
          <a:p>
            <a:pPr algn="l"/>
            <a:r>
              <a:rPr sz="1200">
                <a:solidFill>
                  <a:srgbClr val="2A2118"/>
                </a:solidFill>
                <a:latin typeface="DM Sans"/>
              </a:rPr>
              <a:t>[Add content link]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Instagram Insights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Views</a:t>
            </a:r>
          </a:p>
          <a:p>
            <a:pPr algn="ctr"/>
            <a:r>
              <a:rPr sz="2200" b="1">
                <a:solidFill>
                  <a:srgbClr val="D99F95"/>
                </a:solidFill>
                <a:latin typeface="DM Sans"/>
              </a:rPr>
              <a:t>3.7K</a:t>
            </a:r>
          </a:p>
          <a:p>
            <a:pPr algn="ctr"/>
            <a:r>
              <a:rPr sz="900" b="1">
                <a:solidFill>
                  <a:srgbClr val="8A7E74"/>
                </a:solidFill>
                <a:latin typeface="DM Sans"/>
              </a:rPr>
              <a:t>↓ -64.5%</a:t>
            </a:r>
          </a:p>
        </p:txBody>
      </p:sp>
      <p:sp>
        <p:nvSpPr>
          <p:cNvPr id="5" name="Rounded Rectangle 4"/>
          <p:cNvSpPr/>
          <p:nvPr/>
        </p:nvSpPr>
        <p:spPr>
          <a:xfrm>
            <a:off x="2564892"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Reach</a:t>
            </a:r>
          </a:p>
          <a:p>
            <a:pPr algn="ctr"/>
            <a:r>
              <a:rPr sz="2200" b="1">
                <a:solidFill>
                  <a:srgbClr val="707252"/>
                </a:solidFill>
                <a:latin typeface="DM Sans"/>
              </a:rPr>
              <a:t>2.4K</a:t>
            </a:r>
          </a:p>
          <a:p>
            <a:pPr algn="ctr"/>
            <a:r>
              <a:rPr sz="900" b="1">
                <a:solidFill>
                  <a:srgbClr val="8A7E74"/>
                </a:solidFill>
                <a:latin typeface="DM Sans"/>
              </a:rPr>
              <a:t>↓ -70.3%</a:t>
            </a:r>
          </a:p>
        </p:txBody>
      </p:sp>
      <p:sp>
        <p:nvSpPr>
          <p:cNvPr id="6" name="Rounded Rectangle 5"/>
          <p:cNvSpPr/>
          <p:nvPr/>
        </p:nvSpPr>
        <p:spPr>
          <a:xfrm>
            <a:off x="4617720"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Weighted Eng. Rate</a:t>
            </a:r>
          </a:p>
          <a:p>
            <a:pPr algn="ctr"/>
            <a:r>
              <a:rPr sz="2200" b="1">
                <a:solidFill>
                  <a:srgbClr val="707252"/>
                </a:solidFill>
                <a:latin typeface="DM Sans"/>
              </a:rPr>
              <a:t>6.35%</a:t>
            </a:r>
          </a:p>
          <a:p>
            <a:pPr algn="ctr"/>
            <a:r>
              <a:rPr sz="900" b="1">
                <a:solidFill>
                  <a:srgbClr val="B8965A"/>
                </a:solidFill>
                <a:latin typeface="DM Sans"/>
              </a:rPr>
              <a:t>↑ +236.7%</a:t>
            </a:r>
          </a:p>
        </p:txBody>
      </p:sp>
      <p:sp>
        <p:nvSpPr>
          <p:cNvPr id="7" name="Rounded Rectangle 6"/>
          <p:cNvSpPr/>
          <p:nvPr/>
        </p:nvSpPr>
        <p:spPr>
          <a:xfrm>
            <a:off x="6670548"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Current Followers</a:t>
            </a:r>
          </a:p>
          <a:p>
            <a:pPr algn="ctr"/>
            <a:r>
              <a:rPr sz="2200" b="1">
                <a:solidFill>
                  <a:srgbClr val="707252"/>
                </a:solidFill>
                <a:latin typeface="DM Sans"/>
              </a:rPr>
              <a:t>882</a:t>
            </a:r>
          </a:p>
          <a:p>
            <a:pPr algn="ctr"/>
            <a:r>
              <a:rPr sz="900" b="1">
                <a:solidFill>
                  <a:srgbClr val="B8965A"/>
                </a:solidFill>
                <a:latin typeface="DM Sans"/>
              </a:rPr>
              <a:t>↑ +0.2%</a:t>
            </a:r>
          </a:p>
        </p:txBody>
      </p:sp>
      <p:graphicFrame>
        <p:nvGraphicFramePr>
          <p:cNvPr id="8" name="Table 7"/>
          <p:cNvGraphicFramePr>
            <a:graphicFrameLocks noGrp="1"/>
          </p:cNvGraphicFramePr>
          <p:nvPr/>
        </p:nvGraphicFramePr>
        <p:xfrm>
          <a:off x="512064" y="1801368"/>
          <a:ext cx="8119872" cy="1481328"/>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DM Sans"/>
                        </a:defRPr>
                      </a:pPr>
                      <a:r>
                        <a:t>Metric</a:t>
                      </a:r>
                    </a:p>
                  </a:txBody>
                  <a:tcPr marT="25400" marB="25400">
                    <a:solidFill>
                      <a:srgbClr val="707252"/>
                    </a:solidFill>
                  </a:tcPr>
                </a:tc>
                <a:tc>
                  <a:txBody>
                    <a:bodyPr/>
                    <a:lstStyle/>
                    <a:p>
                      <a:pPr>
                        <a:defRPr sz="800" b="1">
                          <a:solidFill>
                            <a:srgbClr val="FFFFFF"/>
                          </a:solidFill>
                          <a:latin typeface="DM Sans"/>
                        </a:defRPr>
                      </a:pPr>
                      <a:r>
                        <a:t>Current</a:t>
                      </a:r>
                    </a:p>
                  </a:txBody>
                  <a:tcPr marT="25400" marB="25400">
                    <a:solidFill>
                      <a:srgbClr val="707252"/>
                    </a:solidFill>
                  </a:tcPr>
                </a:tc>
                <a:tc>
                  <a:txBody>
                    <a:bodyPr/>
                    <a:lstStyle/>
                    <a:p>
                      <a:pPr>
                        <a:defRPr sz="800" b="1">
                          <a:solidFill>
                            <a:srgbClr val="FFFFFF"/>
                          </a:solidFill>
                          <a:latin typeface="DM Sans"/>
                        </a:defRPr>
                      </a:pPr>
                      <a:r>
                        <a:t>Prior</a:t>
                      </a:r>
                    </a:p>
                  </a:txBody>
                  <a:tcPr marT="25400" marB="25400">
                    <a:solidFill>
                      <a:srgbClr val="707252"/>
                    </a:solidFill>
                  </a:tcPr>
                </a:tc>
                <a:tc>
                  <a:txBody>
                    <a:bodyPr/>
                    <a:lstStyle/>
                    <a:p>
                      <a:pPr>
                        <a:defRPr sz="800" b="1">
                          <a:solidFill>
                            <a:srgbClr val="FFFFFF"/>
                          </a:solidFill>
                          <a:latin typeface="DM Sans"/>
                        </a:defRPr>
                      </a:pPr>
                      <a:r>
                        <a:t>Change</a:t>
                      </a:r>
                    </a:p>
                  </a:txBody>
                  <a:tcPr marT="25400" marB="25400">
                    <a:solidFill>
                      <a:srgbClr val="707252"/>
                    </a:solidFill>
                  </a:tcPr>
                </a:tc>
              </a:tr>
              <a:tr h="164592">
                <a:tc>
                  <a:txBody>
                    <a:bodyPr/>
                    <a:lstStyle/>
                    <a:p>
                      <a:pPr>
                        <a:defRPr sz="800">
                          <a:solidFill>
                            <a:srgbClr val="2A2118"/>
                          </a:solidFill>
                          <a:latin typeface="DM Sans"/>
                        </a:defRPr>
                      </a:pPr>
                      <a:r>
                        <a:t>Posts</a:t>
                      </a:r>
                    </a:p>
                  </a:txBody>
                  <a:tcPr marT="25400" marB="25400">
                    <a:solidFill>
                      <a:srgbClr val="FAF7F4"/>
                    </a:solidFill>
                  </a:tcPr>
                </a:tc>
                <a:tc>
                  <a:txBody>
                    <a:bodyPr/>
                    <a:lstStyle/>
                    <a:p>
                      <a:pPr>
                        <a:defRPr sz="800">
                          <a:solidFill>
                            <a:srgbClr val="2A2118"/>
                          </a:solidFill>
                          <a:latin typeface="DM Sans"/>
                        </a:defRPr>
                      </a:pPr>
                      <a:r>
                        <a:t>23</a:t>
                      </a:r>
                    </a:p>
                  </a:txBody>
                  <a:tcPr marT="25400" marB="25400">
                    <a:solidFill>
                      <a:srgbClr val="FAF7F4"/>
                    </a:solidFill>
                  </a:tcPr>
                </a:tc>
                <a:tc>
                  <a:txBody>
                    <a:bodyPr/>
                    <a:lstStyle/>
                    <a:p>
                      <a:pPr>
                        <a:defRPr sz="800">
                          <a:solidFill>
                            <a:srgbClr val="2A2118"/>
                          </a:solidFill>
                          <a:latin typeface="DM Sans"/>
                        </a:defRPr>
                      </a:pPr>
                      <a:r>
                        <a:t>17</a:t>
                      </a:r>
                    </a:p>
                  </a:txBody>
                  <a:tcPr marT="25400" marB="25400">
                    <a:solidFill>
                      <a:srgbClr val="FAF7F4"/>
                    </a:solidFill>
                  </a:tcPr>
                </a:tc>
                <a:tc>
                  <a:txBody>
                    <a:bodyPr/>
                    <a:lstStyle/>
                    <a:p>
                      <a:pPr>
                        <a:defRPr sz="800">
                          <a:solidFill>
                            <a:srgbClr val="B8965A"/>
                          </a:solidFill>
                          <a:latin typeface="DM Sans"/>
                        </a:defRPr>
                      </a:pPr>
                      <a:r>
                        <a:t>↑ +35.3%</a:t>
                      </a:r>
                    </a:p>
                  </a:txBody>
                  <a:tcPr marT="25400" marB="25400">
                    <a:solidFill>
                      <a:srgbClr val="FAF7F4"/>
                    </a:solidFill>
                  </a:tcPr>
                </a:tc>
              </a:tr>
              <a:tr h="164592">
                <a:tc>
                  <a:txBody>
                    <a:bodyPr/>
                    <a:lstStyle/>
                    <a:p>
                      <a:pPr>
                        <a:defRPr sz="800">
                          <a:solidFill>
                            <a:srgbClr val="2A2118"/>
                          </a:solidFill>
                          <a:latin typeface="DM Sans"/>
                        </a:defRPr>
                      </a:pPr>
                      <a:r>
                        <a:t>Views</a:t>
                      </a:r>
                    </a:p>
                  </a:txBody>
                  <a:tcPr marT="25400" marB="25400">
                    <a:solidFill>
                      <a:srgbClr val="FFFFFF"/>
                    </a:solidFill>
                  </a:tcPr>
                </a:tc>
                <a:tc>
                  <a:txBody>
                    <a:bodyPr/>
                    <a:lstStyle/>
                    <a:p>
                      <a:pPr>
                        <a:defRPr sz="800">
                          <a:solidFill>
                            <a:srgbClr val="2A2118"/>
                          </a:solidFill>
                          <a:latin typeface="DM Sans"/>
                        </a:defRPr>
                      </a:pPr>
                      <a:r>
                        <a:t>3.7K</a:t>
                      </a:r>
                    </a:p>
                  </a:txBody>
                  <a:tcPr marT="25400" marB="25400">
                    <a:solidFill>
                      <a:srgbClr val="FFFFFF"/>
                    </a:solidFill>
                  </a:tcPr>
                </a:tc>
                <a:tc>
                  <a:txBody>
                    <a:bodyPr/>
                    <a:lstStyle/>
                    <a:p>
                      <a:pPr>
                        <a:defRPr sz="800">
                          <a:solidFill>
                            <a:srgbClr val="2A2118"/>
                          </a:solidFill>
                          <a:latin typeface="DM Sans"/>
                        </a:defRPr>
                      </a:pPr>
                      <a:r>
                        <a:t>10.6K</a:t>
                      </a:r>
                    </a:p>
                  </a:txBody>
                  <a:tcPr marT="25400" marB="25400">
                    <a:solidFill>
                      <a:srgbClr val="FFFFFF"/>
                    </a:solidFill>
                  </a:tcPr>
                </a:tc>
                <a:tc>
                  <a:txBody>
                    <a:bodyPr/>
                    <a:lstStyle/>
                    <a:p>
                      <a:pPr>
                        <a:defRPr sz="800">
                          <a:solidFill>
                            <a:srgbClr val="8A7E74"/>
                          </a:solidFill>
                          <a:latin typeface="DM Sans"/>
                        </a:defRPr>
                      </a:pPr>
                      <a:r>
                        <a:t>↓ -64.5%</a:t>
                      </a:r>
                    </a:p>
                  </a:txBody>
                  <a:tcPr marT="25400" marB="25400">
                    <a:solidFill>
                      <a:srgbClr val="FFFFFF"/>
                    </a:solidFill>
                  </a:tcPr>
                </a:tc>
              </a:tr>
              <a:tr h="164592">
                <a:tc>
                  <a:txBody>
                    <a:bodyPr/>
                    <a:lstStyle/>
                    <a:p>
                      <a:pPr>
                        <a:defRPr sz="800">
                          <a:solidFill>
                            <a:srgbClr val="2A2118"/>
                          </a:solidFill>
                          <a:latin typeface="DM Sans"/>
                        </a:defRPr>
                      </a:pPr>
                      <a:r>
                        <a:t>Reach</a:t>
                      </a:r>
                    </a:p>
                  </a:txBody>
                  <a:tcPr marT="25400" marB="25400">
                    <a:solidFill>
                      <a:srgbClr val="FAF7F4"/>
                    </a:solidFill>
                  </a:tcPr>
                </a:tc>
                <a:tc>
                  <a:txBody>
                    <a:bodyPr/>
                    <a:lstStyle/>
                    <a:p>
                      <a:pPr>
                        <a:defRPr sz="800">
                          <a:solidFill>
                            <a:srgbClr val="2A2118"/>
                          </a:solidFill>
                          <a:latin typeface="DM Sans"/>
                        </a:defRPr>
                      </a:pPr>
                      <a:r>
                        <a:t>2.4K</a:t>
                      </a:r>
                    </a:p>
                  </a:txBody>
                  <a:tcPr marT="25400" marB="25400">
                    <a:solidFill>
                      <a:srgbClr val="FAF7F4"/>
                    </a:solidFill>
                  </a:tcPr>
                </a:tc>
                <a:tc>
                  <a:txBody>
                    <a:bodyPr/>
                    <a:lstStyle/>
                    <a:p>
                      <a:pPr>
                        <a:defRPr sz="800">
                          <a:solidFill>
                            <a:srgbClr val="2A2118"/>
                          </a:solidFill>
                          <a:latin typeface="DM Sans"/>
                        </a:defRPr>
                      </a:pPr>
                      <a:r>
                        <a:t>8.0K</a:t>
                      </a:r>
                    </a:p>
                  </a:txBody>
                  <a:tcPr marT="25400" marB="25400">
                    <a:solidFill>
                      <a:srgbClr val="FAF7F4"/>
                    </a:solidFill>
                  </a:tcPr>
                </a:tc>
                <a:tc>
                  <a:txBody>
                    <a:bodyPr/>
                    <a:lstStyle/>
                    <a:p>
                      <a:pPr>
                        <a:defRPr sz="800">
                          <a:solidFill>
                            <a:srgbClr val="8A7E74"/>
                          </a:solidFill>
                          <a:latin typeface="DM Sans"/>
                        </a:defRPr>
                      </a:pPr>
                      <a:r>
                        <a:t>↓ -70.3%</a:t>
                      </a:r>
                    </a:p>
                  </a:txBody>
                  <a:tcPr marT="25400" marB="25400">
                    <a:solidFill>
                      <a:srgbClr val="FAF7F4"/>
                    </a:solidFill>
                  </a:tcPr>
                </a:tc>
              </a:tr>
              <a:tr h="164592">
                <a:tc>
                  <a:txBody>
                    <a:bodyPr/>
                    <a:lstStyle/>
                    <a:p>
                      <a:pPr>
                        <a:defRPr sz="800">
                          <a:solidFill>
                            <a:srgbClr val="2A2118"/>
                          </a:solidFill>
                          <a:latin typeface="DM Sans"/>
                        </a:defRPr>
                      </a:pPr>
                      <a:r>
                        <a:t>Reactions</a:t>
                      </a:r>
                    </a:p>
                  </a:txBody>
                  <a:tcPr marT="25400" marB="25400">
                    <a:solidFill>
                      <a:srgbClr val="FFFFFF"/>
                    </a:solidFill>
                  </a:tcPr>
                </a:tc>
                <a:tc>
                  <a:txBody>
                    <a:bodyPr/>
                    <a:lstStyle/>
                    <a:p>
                      <a:pPr>
                        <a:defRPr sz="800">
                          <a:solidFill>
                            <a:srgbClr val="2A2118"/>
                          </a:solidFill>
                          <a:latin typeface="DM Sans"/>
                        </a:defRPr>
                      </a:pPr>
                      <a:r>
                        <a:t>132</a:t>
                      </a:r>
                    </a:p>
                  </a:txBody>
                  <a:tcPr marT="25400" marB="25400">
                    <a:solidFill>
                      <a:srgbClr val="FFFFFF"/>
                    </a:solidFill>
                  </a:tcPr>
                </a:tc>
                <a:tc>
                  <a:txBody>
                    <a:bodyPr/>
                    <a:lstStyle/>
                    <a:p>
                      <a:pPr>
                        <a:defRPr sz="800">
                          <a:solidFill>
                            <a:srgbClr val="2A2118"/>
                          </a:solidFill>
                          <a:latin typeface="DM Sans"/>
                        </a:defRPr>
                      </a:pPr>
                      <a:r>
                        <a:t>133</a:t>
                      </a:r>
                    </a:p>
                  </a:txBody>
                  <a:tcPr marT="25400" marB="25400">
                    <a:solidFill>
                      <a:srgbClr val="FFFFFF"/>
                    </a:solidFill>
                  </a:tcPr>
                </a:tc>
                <a:tc>
                  <a:txBody>
                    <a:bodyPr/>
                    <a:lstStyle/>
                    <a:p>
                      <a:pPr>
                        <a:defRPr sz="800">
                          <a:solidFill>
                            <a:srgbClr val="8A7E74"/>
                          </a:solidFill>
                          <a:latin typeface="DM Sans"/>
                        </a:defRPr>
                      </a:pPr>
                      <a:r>
                        <a:t>↓ -0.8%</a:t>
                      </a:r>
                    </a:p>
                  </a:txBody>
                  <a:tcPr marT="25400" marB="25400">
                    <a:solidFill>
                      <a:srgbClr val="FFFFFF"/>
                    </a:solidFill>
                  </a:tcPr>
                </a:tc>
              </a:tr>
              <a:tr h="164592">
                <a:tc>
                  <a:txBody>
                    <a:bodyPr/>
                    <a:lstStyle/>
                    <a:p>
                      <a:pPr>
                        <a:defRPr sz="800">
                          <a:solidFill>
                            <a:srgbClr val="2A2118"/>
                          </a:solidFill>
                          <a:latin typeface="DM Sans"/>
                        </a:defRPr>
                      </a:pPr>
                      <a:r>
                        <a:t>Comments</a:t>
                      </a:r>
                    </a:p>
                  </a:txBody>
                  <a:tcPr marT="25400" marB="25400">
                    <a:solidFill>
                      <a:srgbClr val="FAF7F4"/>
                    </a:solidFill>
                  </a:tcPr>
                </a:tc>
                <a:tc>
                  <a:txBody>
                    <a:bodyPr/>
                    <a:lstStyle/>
                    <a:p>
                      <a:pPr>
                        <a:defRPr sz="800">
                          <a:solidFill>
                            <a:srgbClr val="2A2118"/>
                          </a:solidFill>
                          <a:latin typeface="DM Sans"/>
                        </a:defRPr>
                      </a:pPr>
                      <a:r>
                        <a:t>14</a:t>
                      </a:r>
                    </a:p>
                  </a:txBody>
                  <a:tcPr marT="25400" marB="25400">
                    <a:solidFill>
                      <a:srgbClr val="FAF7F4"/>
                    </a:solidFill>
                  </a:tcPr>
                </a:tc>
                <a:tc>
                  <a:txBody>
                    <a:bodyPr/>
                    <a:lstStyle/>
                    <a:p>
                      <a:pPr>
                        <a:defRPr sz="800">
                          <a:solidFill>
                            <a:srgbClr val="2A2118"/>
                          </a:solidFill>
                          <a:latin typeface="DM Sans"/>
                        </a:defRPr>
                      </a:pPr>
                      <a:r>
                        <a:t>13</a:t>
                      </a:r>
                    </a:p>
                  </a:txBody>
                  <a:tcPr marT="25400" marB="25400">
                    <a:solidFill>
                      <a:srgbClr val="FAF7F4"/>
                    </a:solidFill>
                  </a:tcPr>
                </a:tc>
                <a:tc>
                  <a:txBody>
                    <a:bodyPr/>
                    <a:lstStyle/>
                    <a:p>
                      <a:pPr>
                        <a:defRPr sz="800">
                          <a:solidFill>
                            <a:srgbClr val="B8965A"/>
                          </a:solidFill>
                          <a:latin typeface="DM Sans"/>
                        </a:defRPr>
                      </a:pPr>
                      <a:r>
                        <a:t>↑ +7.7%</a:t>
                      </a:r>
                    </a:p>
                  </a:txBody>
                  <a:tcPr marT="25400" marB="25400">
                    <a:solidFill>
                      <a:srgbClr val="FAF7F4"/>
                    </a:solidFill>
                  </a:tcPr>
                </a:tc>
              </a:tr>
              <a:tr h="164592">
                <a:tc>
                  <a:txBody>
                    <a:bodyPr/>
                    <a:lstStyle/>
                    <a:p>
                      <a:pPr>
                        <a:defRPr sz="800">
                          <a:solidFill>
                            <a:srgbClr val="2A2118"/>
                          </a:solidFill>
                          <a:latin typeface="DM Sans"/>
                        </a:defRPr>
                      </a:pPr>
                      <a:r>
                        <a:t>Shares</a:t>
                      </a:r>
                    </a:p>
                  </a:txBody>
                  <a:tcPr marT="25400" marB="25400">
                    <a:solidFill>
                      <a:srgbClr val="FFFFFF"/>
                    </a:solidFill>
                  </a:tcPr>
                </a:tc>
                <a:tc>
                  <a:txBody>
                    <a:bodyPr/>
                    <a:lstStyle/>
                    <a:p>
                      <a:pPr>
                        <a:defRPr sz="800">
                          <a:solidFill>
                            <a:srgbClr val="2A2118"/>
                          </a:solidFill>
                          <a:latin typeface="DM Sans"/>
                        </a:defRPr>
                      </a:pPr>
                      <a:r>
                        <a:t>2</a:t>
                      </a:r>
                    </a:p>
                  </a:txBody>
                  <a:tcPr marT="25400" marB="25400">
                    <a:solidFill>
                      <a:srgbClr val="FFFFFF"/>
                    </a:solidFill>
                  </a:tcPr>
                </a:tc>
                <a:tc>
                  <a:txBody>
                    <a:bodyPr/>
                    <a:lstStyle/>
                    <a:p>
                      <a:pPr>
                        <a:defRPr sz="800">
                          <a:solidFill>
                            <a:srgbClr val="2A2118"/>
                          </a:solidFill>
                          <a:latin typeface="DM Sans"/>
                        </a:defRPr>
                      </a:pPr>
                      <a:r>
                        <a:t>3</a:t>
                      </a:r>
                    </a:p>
                  </a:txBody>
                  <a:tcPr marT="25400" marB="25400">
                    <a:solidFill>
                      <a:srgbClr val="FFFFFF"/>
                    </a:solidFill>
                  </a:tcPr>
                </a:tc>
                <a:tc>
                  <a:txBody>
                    <a:bodyPr/>
                    <a:lstStyle/>
                    <a:p>
                      <a:pPr>
                        <a:defRPr sz="800">
                          <a:solidFill>
                            <a:srgbClr val="8A7E74"/>
                          </a:solidFill>
                          <a:latin typeface="DM Sans"/>
                        </a:defRPr>
                      </a:pPr>
                      <a:r>
                        <a:t>↓ -33.3%</a:t>
                      </a:r>
                    </a:p>
                  </a:txBody>
                  <a:tcPr marT="25400" marB="25400">
                    <a:solidFill>
                      <a:srgbClr val="FFFFFF"/>
                    </a:solidFill>
                  </a:tcPr>
                </a:tc>
              </a:tr>
              <a:tr h="164592">
                <a:tc>
                  <a:txBody>
                    <a:bodyPr/>
                    <a:lstStyle/>
                    <a:p>
                      <a:pPr>
                        <a:defRPr sz="800">
                          <a:solidFill>
                            <a:srgbClr val="2A2118"/>
                          </a:solidFill>
                          <a:latin typeface="DM Sans"/>
                        </a:defRPr>
                      </a:pPr>
                      <a:r>
                        <a:t>Saves</a:t>
                      </a:r>
                    </a:p>
                  </a:txBody>
                  <a:tcPr marT="25400" marB="25400">
                    <a:solidFill>
                      <a:srgbClr val="FAF7F4"/>
                    </a:solidFill>
                  </a:tcPr>
                </a:tc>
                <a:tc>
                  <a:txBody>
                    <a:bodyPr/>
                    <a:lstStyle/>
                    <a:p>
                      <a:pPr>
                        <a:defRPr sz="800">
                          <a:solidFill>
                            <a:srgbClr val="2A2118"/>
                          </a:solidFill>
                          <a:latin typeface="DM Sans"/>
                        </a:defRPr>
                      </a:pPr>
                      <a:r>
                        <a:t>2</a:t>
                      </a:r>
                    </a:p>
                  </a:txBody>
                  <a:tcPr marT="25400" marB="25400">
                    <a:solidFill>
                      <a:srgbClr val="FAF7F4"/>
                    </a:solidFill>
                  </a:tcPr>
                </a:tc>
                <a:tc>
                  <a:txBody>
                    <a:bodyPr/>
                    <a:lstStyle/>
                    <a:p>
                      <a:pPr>
                        <a:defRPr sz="800">
                          <a:solidFill>
                            <a:srgbClr val="2A2118"/>
                          </a:solidFill>
                          <a:latin typeface="DM Sans"/>
                        </a:defRPr>
                      </a:pPr>
                      <a:r>
                        <a:t>1</a:t>
                      </a:r>
                    </a:p>
                  </a:txBody>
                  <a:tcPr marT="25400" marB="25400">
                    <a:solidFill>
                      <a:srgbClr val="FAF7F4"/>
                    </a:solidFill>
                  </a:tcPr>
                </a:tc>
                <a:tc>
                  <a:txBody>
                    <a:bodyPr/>
                    <a:lstStyle/>
                    <a:p>
                      <a:pPr>
                        <a:defRPr sz="800">
                          <a:solidFill>
                            <a:srgbClr val="B8965A"/>
                          </a:solidFill>
                          <a:latin typeface="DM Sans"/>
                        </a:defRPr>
                      </a:pPr>
                      <a:r>
                        <a:t>↑ +100.0%</a:t>
                      </a:r>
                    </a:p>
                  </a:txBody>
                  <a:tcPr marT="25400" marB="25400">
                    <a:solidFill>
                      <a:srgbClr val="FAF7F4"/>
                    </a:solidFill>
                  </a:tcPr>
                </a:tc>
              </a:tr>
              <a:tr h="164592">
                <a:tc>
                  <a:txBody>
                    <a:bodyPr/>
                    <a:lstStyle/>
                    <a:p>
                      <a:pPr>
                        <a:defRPr sz="800">
                          <a:solidFill>
                            <a:srgbClr val="2A2118"/>
                          </a:solidFill>
                          <a:latin typeface="DM Sans"/>
                        </a:defRPr>
                      </a:pPr>
                      <a:r>
                        <a:t>Weighted Eng. Rate (reach)</a:t>
                      </a:r>
                    </a:p>
                  </a:txBody>
                  <a:tcPr marT="25400" marB="25400">
                    <a:solidFill>
                      <a:srgbClr val="FFFFFF"/>
                    </a:solidFill>
                  </a:tcPr>
                </a:tc>
                <a:tc>
                  <a:txBody>
                    <a:bodyPr/>
                    <a:lstStyle/>
                    <a:p>
                      <a:pPr>
                        <a:defRPr sz="800">
                          <a:solidFill>
                            <a:srgbClr val="2A2118"/>
                          </a:solidFill>
                          <a:latin typeface="DM Sans"/>
                        </a:defRPr>
                      </a:pPr>
                      <a:r>
                        <a:t>6.35%</a:t>
                      </a:r>
                    </a:p>
                  </a:txBody>
                  <a:tcPr marT="25400" marB="25400">
                    <a:solidFill>
                      <a:srgbClr val="FFFFFF"/>
                    </a:solidFill>
                  </a:tcPr>
                </a:tc>
                <a:tc>
                  <a:txBody>
                    <a:bodyPr/>
                    <a:lstStyle/>
                    <a:p>
                      <a:pPr>
                        <a:defRPr sz="800">
                          <a:solidFill>
                            <a:srgbClr val="2A2118"/>
                          </a:solidFill>
                          <a:latin typeface="DM Sans"/>
                        </a:defRPr>
                      </a:pPr>
                      <a:r>
                        <a:t>1.89%</a:t>
                      </a:r>
                    </a:p>
                  </a:txBody>
                  <a:tcPr marT="25400" marB="25400">
                    <a:solidFill>
                      <a:srgbClr val="FFFFFF"/>
                    </a:solidFill>
                  </a:tcPr>
                </a:tc>
                <a:tc>
                  <a:txBody>
                    <a:bodyPr/>
                    <a:lstStyle/>
                    <a:p>
                      <a:pPr>
                        <a:defRPr sz="800">
                          <a:solidFill>
                            <a:srgbClr val="B8965A"/>
                          </a:solidFill>
                          <a:latin typeface="DM Sans"/>
                        </a:defRPr>
                      </a:pPr>
                      <a:r>
                        <a:t>↑ +236.7%</a:t>
                      </a:r>
                    </a:p>
                  </a:txBody>
                  <a:tcPr marT="25400" marB="25400">
                    <a:solidFill>
                      <a:srgbClr val="FFFFFF"/>
                    </a:solidFill>
                  </a:tcPr>
                </a:tc>
              </a:tr>
            </a:tbl>
          </a:graphicData>
        </a:graphic>
      </p:graphicFrame>
      <p:sp>
        <p:nvSpPr>
          <p:cNvPr id="9" name="TextBox 8"/>
          <p:cNvSpPr txBox="1"/>
          <p:nvPr/>
        </p:nvSpPr>
        <p:spPr>
          <a:xfrm>
            <a:off x="512064" y="3310128"/>
            <a:ext cx="8119872" cy="182880"/>
          </a:xfrm>
          <a:prstGeom prst="rect">
            <a:avLst/>
          </a:prstGeom>
          <a:noFill/>
        </p:spPr>
        <p:txBody>
          <a:bodyPr wrap="square">
            <a:spAutoFit/>
          </a:bodyPr>
          <a:lstStyle/>
          <a:p>
            <a:r>
              <a:rPr sz="1000" i="1">
                <a:solidFill>
                  <a:srgbClr val="8A7E74"/>
                </a:solidFill>
                <a:latin typeface="DM Sans"/>
              </a:rPr>
              <a:t>Views, Reach, Reactions, Shares softened despite posting volume increasing (23 vs. 17 posts).</a:t>
            </a:r>
          </a:p>
        </p:txBody>
      </p:sp>
      <p:sp>
        <p:nvSpPr>
          <p:cNvPr id="10" name="TextBox 9"/>
          <p:cNvSpPr txBox="1"/>
          <p:nvPr/>
        </p:nvSpPr>
        <p:spPr>
          <a:xfrm>
            <a:off x="512064" y="3520440"/>
            <a:ext cx="8119872" cy="219456"/>
          </a:xfrm>
          <a:prstGeom prst="rect">
            <a:avLst/>
          </a:prstGeom>
          <a:noFill/>
        </p:spPr>
        <p:txBody>
          <a:bodyPr wrap="none">
            <a:spAutoFit/>
          </a:bodyPr>
          <a:lstStyle/>
          <a:p>
            <a:r>
              <a:rPr sz="1200" b="1">
                <a:solidFill>
                  <a:srgbClr val="6B5F55"/>
                </a:solidFill>
                <a:latin typeface="DM Sans"/>
              </a:rPr>
              <a:t>Daily Views — Current vs. Prior Period</a:t>
            </a:r>
          </a:p>
        </p:txBody>
      </p:sp>
      <p:graphicFrame>
        <p:nvGraphicFramePr>
          <p:cNvPr id="11" name="Chart 10"/>
          <p:cNvGraphicFramePr>
            <a:graphicFrameLocks noGrp="1"/>
          </p:cNvGraphicFramePr>
          <p:nvPr/>
        </p:nvGraphicFramePr>
        <p:xfrm>
          <a:off x="512064" y="3739896"/>
          <a:ext cx="8119872" cy="1152144"/>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Instagram — Top Posts This Period</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2A2118"/>
                </a:solidFill>
                <a:latin typeface="DM Sans"/>
              </a:rPr>
              <a:t>“Finally grown back — and Ashley made it look…” drove </a:t>
            </a:r>
            <a:r>
              <a:rPr sz="1400" b="1">
                <a:solidFill>
                  <a:srgbClr val="D99F95"/>
                </a:solidFill>
                <a:latin typeface="DM Sans"/>
              </a:rPr>
              <a:t>12%</a:t>
            </a:r>
            <a:r>
              <a:rPr sz="1400" b="0">
                <a:solidFill>
                  <a:srgbClr val="2A2118"/>
                </a:solidFill>
                <a:latin typeface="DM Sans"/>
              </a:rPr>
              <a:t> of this period's total views.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DM Sans"/>
                        </a:defRPr>
                      </a:pPr>
                      <a:r>
                        <a:t>Post</a:t>
                      </a:r>
                    </a:p>
                  </a:txBody>
                  <a:tcPr marT="25400" marB="25400">
                    <a:solidFill>
                      <a:srgbClr val="707252"/>
                    </a:solidFill>
                  </a:tcPr>
                </a:tc>
                <a:tc>
                  <a:txBody>
                    <a:bodyPr/>
                    <a:lstStyle/>
                    <a:p>
                      <a:pPr>
                        <a:defRPr sz="900" b="1">
                          <a:solidFill>
                            <a:srgbClr val="FFFFFF"/>
                          </a:solidFill>
                          <a:latin typeface="DM Sans"/>
                        </a:defRPr>
                      </a:pPr>
                      <a:r>
                        <a:t>Date</a:t>
                      </a:r>
                    </a:p>
                  </a:txBody>
                  <a:tcPr marT="25400" marB="25400">
                    <a:solidFill>
                      <a:srgbClr val="707252"/>
                    </a:solidFill>
                  </a:tcPr>
                </a:tc>
                <a:tc>
                  <a:txBody>
                    <a:bodyPr/>
                    <a:lstStyle/>
                    <a:p>
                      <a:pPr>
                        <a:defRPr sz="900" b="1">
                          <a:solidFill>
                            <a:srgbClr val="FFFFFF"/>
                          </a:solidFill>
                          <a:latin typeface="DM Sans"/>
                        </a:defRPr>
                      </a:pPr>
                      <a:r>
                        <a:t>Views</a:t>
                      </a:r>
                    </a:p>
                  </a:txBody>
                  <a:tcPr marT="25400" marB="25400">
                    <a:solidFill>
                      <a:srgbClr val="707252"/>
                    </a:solidFill>
                  </a:tcPr>
                </a:tc>
                <a:tc>
                  <a:txBody>
                    <a:bodyPr/>
                    <a:lstStyle/>
                    <a:p>
                      <a:pPr>
                        <a:defRPr sz="900" b="1">
                          <a:solidFill>
                            <a:srgbClr val="FFFFFF"/>
                          </a:solidFill>
                          <a:latin typeface="DM Sans"/>
                        </a:defRPr>
                      </a:pPr>
                      <a:r>
                        <a:t>Reactions</a:t>
                      </a:r>
                    </a:p>
                  </a:txBody>
                  <a:tcPr marT="25400" marB="25400">
                    <a:solidFill>
                      <a:srgbClr val="707252"/>
                    </a:solidFill>
                  </a:tcPr>
                </a:tc>
                <a:tc>
                  <a:txBody>
                    <a:bodyPr/>
                    <a:lstStyle/>
                    <a:p>
                      <a:pPr>
                        <a:defRPr sz="900" b="1">
                          <a:solidFill>
                            <a:srgbClr val="FFFFFF"/>
                          </a:solidFill>
                          <a:latin typeface="DM Sans"/>
                        </a:defRPr>
                      </a:pPr>
                      <a:r>
                        <a:t>Comments</a:t>
                      </a:r>
                    </a:p>
                  </a:txBody>
                  <a:tcPr marT="25400" marB="25400">
                    <a:solidFill>
                      <a:srgbClr val="707252"/>
                    </a:solidFill>
                  </a:tcPr>
                </a:tc>
                <a:tc>
                  <a:txBody>
                    <a:bodyPr/>
                    <a:lstStyle/>
                    <a:p>
                      <a:pPr>
                        <a:defRPr sz="900" b="1">
                          <a:solidFill>
                            <a:srgbClr val="FFFFFF"/>
                          </a:solidFill>
                          <a:latin typeface="DM Sans"/>
                        </a:defRPr>
                      </a:pPr>
                      <a:r>
                        <a:t>Shares</a:t>
                      </a:r>
                    </a:p>
                  </a:txBody>
                  <a:tcPr marT="25400" marB="25400">
                    <a:solidFill>
                      <a:srgbClr val="707252"/>
                    </a:solidFill>
                  </a:tcPr>
                </a:tc>
              </a:tr>
              <a:tr h="502920">
                <a:tc>
                  <a:txBody>
                    <a:bodyPr/>
                    <a:lstStyle/>
                    <a:p>
                      <a:pPr>
                        <a:defRPr sz="900">
                          <a:solidFill>
                            <a:srgbClr val="2A2118"/>
                          </a:solidFill>
                          <a:latin typeface="DM Sans"/>
                        </a:defRPr>
                      </a:pPr>
                      <a:r>
                        <a:t>Finally grown back — and Ashley made it look like it was the plan all along ✂️ Back at @salonveritas_ for a men’s cut in Raleigh to shape the grow-out. A precise cut, a deep scalp…</a:t>
                      </a:r>
                    </a:p>
                  </a:txBody>
                  <a:tcPr marT="25400" marB="25400">
                    <a:solidFill>
                      <a:srgbClr val="FAF7F4"/>
                    </a:solidFill>
                  </a:tcPr>
                </a:tc>
                <a:tc>
                  <a:txBody>
                    <a:bodyPr/>
                    <a:lstStyle/>
                    <a:p>
                      <a:pPr>
                        <a:defRPr sz="900">
                          <a:solidFill>
                            <a:srgbClr val="2A2118"/>
                          </a:solidFill>
                          <a:latin typeface="DM Sans"/>
                        </a:defRPr>
                      </a:pPr>
                      <a:r>
                        <a:t>Oct 07</a:t>
                      </a:r>
                    </a:p>
                  </a:txBody>
                  <a:tcPr marT="25400" marB="25400">
                    <a:solidFill>
                      <a:srgbClr val="FAF7F4"/>
                    </a:solidFill>
                  </a:tcPr>
                </a:tc>
                <a:tc>
                  <a:txBody>
                    <a:bodyPr/>
                    <a:lstStyle/>
                    <a:p>
                      <a:pPr>
                        <a:defRPr sz="900">
                          <a:solidFill>
                            <a:srgbClr val="2A2118"/>
                          </a:solidFill>
                          <a:latin typeface="DM Sans"/>
                        </a:defRPr>
                      </a:pPr>
                      <a:r>
                        <a:t>434</a:t>
                      </a:r>
                    </a:p>
                  </a:txBody>
                  <a:tcPr marT="25400" marB="25400">
                    <a:solidFill>
                      <a:srgbClr val="FAF7F4"/>
                    </a:solidFill>
                  </a:tcPr>
                </a:tc>
                <a:tc>
                  <a:txBody>
                    <a:bodyPr/>
                    <a:lstStyle/>
                    <a:p>
                      <a:pPr>
                        <a:defRPr sz="900">
                          <a:solidFill>
                            <a:srgbClr val="2A2118"/>
                          </a:solidFill>
                          <a:latin typeface="DM Sans"/>
                        </a:defRPr>
                      </a:pPr>
                      <a:r>
                        <a:t>13</a:t>
                      </a:r>
                    </a:p>
                  </a:txBody>
                  <a:tcPr marT="25400" marB="25400">
                    <a:solidFill>
                      <a:srgbClr val="FAF7F4"/>
                    </a:solidFill>
                  </a:tcPr>
                </a:tc>
                <a:tc>
                  <a:txBody>
                    <a:bodyPr/>
                    <a:lstStyle/>
                    <a:p>
                      <a:pPr>
                        <a:defRPr sz="900">
                          <a:solidFill>
                            <a:srgbClr val="2A2118"/>
                          </a:solidFill>
                          <a:latin typeface="DM Sans"/>
                        </a:defRPr>
                      </a:pPr>
                      <a:r>
                        <a:t>4</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You may have already heard but as you book you next appointment you need to know that WE ARE MOVING! Ashley is really excited to continue the suite life back in Downtown Raleigh a…</a:t>
                      </a:r>
                    </a:p>
                  </a:txBody>
                  <a:tcPr marT="25400" marB="25400">
                    <a:solidFill>
                      <a:srgbClr val="FFFFFF"/>
                    </a:solidFill>
                  </a:tcPr>
                </a:tc>
                <a:tc>
                  <a:txBody>
                    <a:bodyPr/>
                    <a:lstStyle/>
                    <a:p>
                      <a:pPr>
                        <a:defRPr sz="900">
                          <a:solidFill>
                            <a:srgbClr val="2A2118"/>
                          </a:solidFill>
                          <a:latin typeface="DM Sans"/>
                        </a:defRPr>
                      </a:pPr>
                      <a:r>
                        <a:t>Oct 11</a:t>
                      </a:r>
                    </a:p>
                  </a:txBody>
                  <a:tcPr marT="25400" marB="25400">
                    <a:solidFill>
                      <a:srgbClr val="FFFFFF"/>
                    </a:solidFill>
                  </a:tcPr>
                </a:tc>
                <a:tc>
                  <a:txBody>
                    <a:bodyPr/>
                    <a:lstStyle/>
                    <a:p>
                      <a:pPr>
                        <a:defRPr sz="900">
                          <a:solidFill>
                            <a:srgbClr val="2A2118"/>
                          </a:solidFill>
                          <a:latin typeface="DM Sans"/>
                        </a:defRPr>
                      </a:pPr>
                      <a:r>
                        <a:t>414</a:t>
                      </a:r>
                    </a:p>
                  </a:txBody>
                  <a:tcPr marT="25400" marB="25400">
                    <a:solidFill>
                      <a:srgbClr val="FFFFFF"/>
                    </a:solidFill>
                  </a:tcPr>
                </a:tc>
                <a:tc>
                  <a:txBody>
                    <a:bodyPr/>
                    <a:lstStyle/>
                    <a:p>
                      <a:pPr>
                        <a:defRPr sz="900">
                          <a:solidFill>
                            <a:srgbClr val="2A2118"/>
                          </a:solidFill>
                          <a:latin typeface="DM Sans"/>
                        </a:defRPr>
                      </a:pPr>
                      <a:r>
                        <a:t>22</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New year, new confidence. There's something about a fresh cut that sends a kid into the first day of school standing a little taller. Whether it's a first trim or a favorite ritua…</a:t>
                      </a:r>
                    </a:p>
                  </a:txBody>
                  <a:tcPr marT="25400" marB="25400">
                    <a:solidFill>
                      <a:srgbClr val="FAF7F4"/>
                    </a:solidFill>
                  </a:tcPr>
                </a:tc>
                <a:tc>
                  <a:txBody>
                    <a:bodyPr/>
                    <a:lstStyle/>
                    <a:p>
                      <a:pPr>
                        <a:defRPr sz="900">
                          <a:solidFill>
                            <a:srgbClr val="2A2118"/>
                          </a:solidFill>
                          <a:latin typeface="DM Sans"/>
                        </a:defRPr>
                      </a:pPr>
                      <a:r>
                        <a:t>Sep 17</a:t>
                      </a:r>
                    </a:p>
                  </a:txBody>
                  <a:tcPr marT="25400" marB="25400">
                    <a:solidFill>
                      <a:srgbClr val="FAF7F4"/>
                    </a:solidFill>
                  </a:tcPr>
                </a:tc>
                <a:tc>
                  <a:txBody>
                    <a:bodyPr/>
                    <a:lstStyle/>
                    <a:p>
                      <a:pPr>
                        <a:defRPr sz="900">
                          <a:solidFill>
                            <a:srgbClr val="2A2118"/>
                          </a:solidFill>
                          <a:latin typeface="DM Sans"/>
                        </a:defRPr>
                      </a:pPr>
                      <a:r>
                        <a:t>367</a:t>
                      </a:r>
                    </a:p>
                  </a:txBody>
                  <a:tcPr marT="25400" marB="25400">
                    <a:solidFill>
                      <a:srgbClr val="FAF7F4"/>
                    </a:solidFill>
                  </a:tcPr>
                </a:tc>
                <a:tc>
                  <a:txBody>
                    <a:bodyPr/>
                    <a:lstStyle/>
                    <a:p>
                      <a:pPr>
                        <a:defRPr sz="900">
                          <a:solidFill>
                            <a:srgbClr val="2A2118"/>
                          </a:solidFill>
                          <a:latin typeface="DM Sans"/>
                        </a:defRPr>
                      </a:pPr>
                      <a:r>
                        <a:t>17</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So much fun getting to play with your bestie’s hair! 🤍✨ Today we refreshed her color, gave her extensions a little love, and finished with a gorgeous blowout. Nothing beats creati…</a:t>
                      </a:r>
                    </a:p>
                  </a:txBody>
                  <a:tcPr marT="25400" marB="25400">
                    <a:solidFill>
                      <a:srgbClr val="FFFFFF"/>
                    </a:solidFill>
                  </a:tcPr>
                </a:tc>
                <a:tc>
                  <a:txBody>
                    <a:bodyPr/>
                    <a:lstStyle/>
                    <a:p>
                      <a:pPr>
                        <a:defRPr sz="900">
                          <a:solidFill>
                            <a:srgbClr val="2A2118"/>
                          </a:solidFill>
                          <a:latin typeface="DM Sans"/>
                        </a:defRPr>
                      </a:pPr>
                      <a:r>
                        <a:t>Oct 06</a:t>
                      </a:r>
                    </a:p>
                  </a:txBody>
                  <a:tcPr marT="25400" marB="25400">
                    <a:solidFill>
                      <a:srgbClr val="FFFFFF"/>
                    </a:solidFill>
                  </a:tcPr>
                </a:tc>
                <a:tc>
                  <a:txBody>
                    <a:bodyPr/>
                    <a:lstStyle/>
                    <a:p>
                      <a:pPr>
                        <a:defRPr sz="900">
                          <a:solidFill>
                            <a:srgbClr val="2A2118"/>
                          </a:solidFill>
                          <a:latin typeface="DM Sans"/>
                        </a:defRPr>
                      </a:pPr>
                      <a:r>
                        <a:t>365</a:t>
                      </a:r>
                    </a:p>
                  </a:txBody>
                  <a:tcPr marT="25400" marB="25400">
                    <a:solidFill>
                      <a:srgbClr val="FFFFFF"/>
                    </a:solidFill>
                  </a:tcPr>
                </a:tc>
                <a:tc>
                  <a:txBody>
                    <a:bodyPr/>
                    <a:lstStyle/>
                    <a:p>
                      <a:pPr>
                        <a:defRPr sz="900">
                          <a:solidFill>
                            <a:srgbClr val="2A2118"/>
                          </a:solidFill>
                          <a:latin typeface="DM Sans"/>
                        </a:defRPr>
                      </a:pPr>
                      <a:r>
                        <a:t>12</a:t>
                      </a:r>
                    </a:p>
                  </a:txBody>
                  <a:tcPr marT="25400" marB="25400">
                    <a:solidFill>
                      <a:srgbClr val="FFFFFF"/>
                    </a:solidFill>
                  </a:tcPr>
                </a:tc>
                <a:tc>
                  <a:txBody>
                    <a:bodyPr/>
                    <a:lstStyle/>
                    <a:p>
                      <a:pPr>
                        <a:defRPr sz="900">
                          <a:solidFill>
                            <a:srgbClr val="2A2118"/>
                          </a:solidFill>
                          <a:latin typeface="DM Sans"/>
                        </a:defRPr>
                      </a:pPr>
                      <a:r>
                        <a:t>1</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A classic French twist, done properly. There's a reason this style has never gone out of fashion. It's polished without trying too hard, elegant without being fussy, and it holds…</a:t>
                      </a:r>
                    </a:p>
                  </a:txBody>
                  <a:tcPr marT="25400" marB="25400">
                    <a:solidFill>
                      <a:srgbClr val="FAF7F4"/>
                    </a:solidFill>
                  </a:tcPr>
                </a:tc>
                <a:tc>
                  <a:txBody>
                    <a:bodyPr/>
                    <a:lstStyle/>
                    <a:p>
                      <a:pPr>
                        <a:defRPr sz="900">
                          <a:solidFill>
                            <a:srgbClr val="2A2118"/>
                          </a:solidFill>
                          <a:latin typeface="DM Sans"/>
                        </a:defRPr>
                      </a:pPr>
                      <a:r>
                        <a:t>Sep 13</a:t>
                      </a:r>
                    </a:p>
                  </a:txBody>
                  <a:tcPr marT="25400" marB="25400">
                    <a:solidFill>
                      <a:srgbClr val="FAF7F4"/>
                    </a:solidFill>
                  </a:tcPr>
                </a:tc>
                <a:tc>
                  <a:txBody>
                    <a:bodyPr/>
                    <a:lstStyle/>
                    <a:p>
                      <a:pPr>
                        <a:defRPr sz="900">
                          <a:solidFill>
                            <a:srgbClr val="2A2118"/>
                          </a:solidFill>
                          <a:latin typeface="DM Sans"/>
                        </a:defRPr>
                      </a:pPr>
                      <a:r>
                        <a:t>270</a:t>
                      </a:r>
                    </a:p>
                  </a:txBody>
                  <a:tcPr marT="25400" marB="25400">
                    <a:solidFill>
                      <a:srgbClr val="FAF7F4"/>
                    </a:solidFill>
                  </a:tcPr>
                </a:tc>
                <a:tc>
                  <a:txBody>
                    <a:bodyPr/>
                    <a:lstStyle/>
                    <a:p>
                      <a:pPr>
                        <a:defRPr sz="900">
                          <a:solidFill>
                            <a:srgbClr val="2A2118"/>
                          </a:solidFill>
                          <a:latin typeface="DM Sans"/>
                        </a:defRPr>
                      </a:pPr>
                      <a:r>
                        <a:t>7</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Facebook Insights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2645664"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Impressions</a:t>
            </a:r>
          </a:p>
          <a:p>
            <a:pPr algn="ctr"/>
            <a:r>
              <a:rPr sz="2200" b="1">
                <a:solidFill>
                  <a:srgbClr val="D99F95"/>
                </a:solidFill>
                <a:latin typeface="DM Sans"/>
              </a:rPr>
              <a:t>158</a:t>
            </a:r>
          </a:p>
          <a:p>
            <a:pPr algn="ctr"/>
            <a:r>
              <a:rPr sz="900" b="1">
                <a:solidFill>
                  <a:srgbClr val="8A7E74"/>
                </a:solidFill>
                <a:latin typeface="DM Sans"/>
              </a:rPr>
              <a:t>↓ -79.8%</a:t>
            </a:r>
          </a:p>
        </p:txBody>
      </p:sp>
      <p:sp>
        <p:nvSpPr>
          <p:cNvPr id="5" name="Rounded Rectangle 4"/>
          <p:cNvSpPr/>
          <p:nvPr/>
        </p:nvSpPr>
        <p:spPr>
          <a:xfrm>
            <a:off x="3249168" y="1133856"/>
            <a:ext cx="2645664"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Weighted Eng. Rate</a:t>
            </a:r>
          </a:p>
          <a:p>
            <a:pPr algn="ctr"/>
            <a:r>
              <a:rPr sz="2200" b="1">
                <a:solidFill>
                  <a:srgbClr val="707252"/>
                </a:solidFill>
                <a:latin typeface="DM Sans"/>
              </a:rPr>
              <a:t>0.00%</a:t>
            </a:r>
          </a:p>
          <a:p>
            <a:pPr algn="ctr"/>
            <a:r>
              <a:rPr sz="900" b="1">
                <a:solidFill>
                  <a:srgbClr val="6B5F55"/>
                </a:solidFill>
                <a:latin typeface="DM Sans"/>
              </a:rPr>
              <a:t>flat (0/0)</a:t>
            </a:r>
          </a:p>
        </p:txBody>
      </p:sp>
      <p:sp>
        <p:nvSpPr>
          <p:cNvPr id="6" name="Rounded Rectangle 5"/>
          <p:cNvSpPr/>
          <p:nvPr/>
        </p:nvSpPr>
        <p:spPr>
          <a:xfrm>
            <a:off x="5986272" y="1133856"/>
            <a:ext cx="2645664"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Current Followers</a:t>
            </a:r>
          </a:p>
          <a:p>
            <a:pPr algn="ctr"/>
            <a:r>
              <a:rPr sz="2200" b="1">
                <a:solidFill>
                  <a:srgbClr val="707252"/>
                </a:solidFill>
                <a:latin typeface="DM Sans"/>
              </a:rPr>
              <a:t>867</a:t>
            </a:r>
          </a:p>
          <a:p>
            <a:pPr algn="ctr"/>
            <a:r>
              <a:rPr sz="900" b="1">
                <a:solidFill>
                  <a:srgbClr val="8A7E74"/>
                </a:solidFill>
                <a:latin typeface="DM Sans"/>
              </a:rPr>
              <a:t>↓ -0.2%</a:t>
            </a:r>
          </a:p>
        </p:txBody>
      </p:sp>
      <p:graphicFrame>
        <p:nvGraphicFramePr>
          <p:cNvPr id="7" name="Table 6"/>
          <p:cNvGraphicFramePr>
            <a:graphicFrameLocks noGrp="1"/>
          </p:cNvGraphicFramePr>
          <p:nvPr/>
        </p:nvGraphicFramePr>
        <p:xfrm>
          <a:off x="512064" y="1801368"/>
          <a:ext cx="8119872" cy="1316736"/>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DM Sans"/>
                        </a:defRPr>
                      </a:pPr>
                      <a:r>
                        <a:t>Metric</a:t>
                      </a:r>
                    </a:p>
                  </a:txBody>
                  <a:tcPr marT="25400" marB="25400">
                    <a:solidFill>
                      <a:srgbClr val="707252"/>
                    </a:solidFill>
                  </a:tcPr>
                </a:tc>
                <a:tc>
                  <a:txBody>
                    <a:bodyPr/>
                    <a:lstStyle/>
                    <a:p>
                      <a:pPr>
                        <a:defRPr sz="800" b="1">
                          <a:solidFill>
                            <a:srgbClr val="FFFFFF"/>
                          </a:solidFill>
                          <a:latin typeface="DM Sans"/>
                        </a:defRPr>
                      </a:pPr>
                      <a:r>
                        <a:t>Current</a:t>
                      </a:r>
                    </a:p>
                  </a:txBody>
                  <a:tcPr marT="25400" marB="25400">
                    <a:solidFill>
                      <a:srgbClr val="707252"/>
                    </a:solidFill>
                  </a:tcPr>
                </a:tc>
                <a:tc>
                  <a:txBody>
                    <a:bodyPr/>
                    <a:lstStyle/>
                    <a:p>
                      <a:pPr>
                        <a:defRPr sz="800" b="1">
                          <a:solidFill>
                            <a:srgbClr val="FFFFFF"/>
                          </a:solidFill>
                          <a:latin typeface="DM Sans"/>
                        </a:defRPr>
                      </a:pPr>
                      <a:r>
                        <a:t>Prior</a:t>
                      </a:r>
                    </a:p>
                  </a:txBody>
                  <a:tcPr marT="25400" marB="25400">
                    <a:solidFill>
                      <a:srgbClr val="707252"/>
                    </a:solidFill>
                  </a:tcPr>
                </a:tc>
                <a:tc>
                  <a:txBody>
                    <a:bodyPr/>
                    <a:lstStyle/>
                    <a:p>
                      <a:pPr>
                        <a:defRPr sz="800" b="1">
                          <a:solidFill>
                            <a:srgbClr val="FFFFFF"/>
                          </a:solidFill>
                          <a:latin typeface="DM Sans"/>
                        </a:defRPr>
                      </a:pPr>
                      <a:r>
                        <a:t>Change</a:t>
                      </a:r>
                    </a:p>
                  </a:txBody>
                  <a:tcPr marT="25400" marB="25400">
                    <a:solidFill>
                      <a:srgbClr val="707252"/>
                    </a:solidFill>
                  </a:tcPr>
                </a:tc>
              </a:tr>
              <a:tr h="164592">
                <a:tc>
                  <a:txBody>
                    <a:bodyPr/>
                    <a:lstStyle/>
                    <a:p>
                      <a:pPr>
                        <a:defRPr sz="800">
                          <a:solidFill>
                            <a:srgbClr val="2A2118"/>
                          </a:solidFill>
                          <a:latin typeface="DM Sans"/>
                        </a:defRPr>
                      </a:pPr>
                      <a:r>
                        <a:t>Posts</a:t>
                      </a:r>
                    </a:p>
                  </a:txBody>
                  <a:tcPr marT="25400" marB="25400">
                    <a:solidFill>
                      <a:srgbClr val="FAF7F4"/>
                    </a:solidFill>
                  </a:tcPr>
                </a:tc>
                <a:tc>
                  <a:txBody>
                    <a:bodyPr/>
                    <a:lstStyle/>
                    <a:p>
                      <a:pPr>
                        <a:defRPr sz="800">
                          <a:solidFill>
                            <a:srgbClr val="2A2118"/>
                          </a:solidFill>
                          <a:latin typeface="DM Sans"/>
                        </a:defRPr>
                      </a:pPr>
                      <a:r>
                        <a:t>6</a:t>
                      </a:r>
                    </a:p>
                  </a:txBody>
                  <a:tcPr marT="25400" marB="25400">
                    <a:solidFill>
                      <a:srgbClr val="FAF7F4"/>
                    </a:solidFill>
                  </a:tcPr>
                </a:tc>
                <a:tc>
                  <a:txBody>
                    <a:bodyPr/>
                    <a:lstStyle/>
                    <a:p>
                      <a:pPr>
                        <a:defRPr sz="800">
                          <a:solidFill>
                            <a:srgbClr val="2A2118"/>
                          </a:solidFill>
                          <a:latin typeface="DM Sans"/>
                        </a:defRPr>
                      </a:pPr>
                      <a:r>
                        <a:t>8</a:t>
                      </a:r>
                    </a:p>
                  </a:txBody>
                  <a:tcPr marT="25400" marB="25400">
                    <a:solidFill>
                      <a:srgbClr val="FAF7F4"/>
                    </a:solidFill>
                  </a:tcPr>
                </a:tc>
                <a:tc>
                  <a:txBody>
                    <a:bodyPr/>
                    <a:lstStyle/>
                    <a:p>
                      <a:pPr>
                        <a:defRPr sz="800">
                          <a:solidFill>
                            <a:srgbClr val="8A7E74"/>
                          </a:solidFill>
                          <a:latin typeface="DM Sans"/>
                        </a:defRPr>
                      </a:pPr>
                      <a:r>
                        <a:t>↓ -25.0%</a:t>
                      </a:r>
                    </a:p>
                  </a:txBody>
                  <a:tcPr marT="25400" marB="25400">
                    <a:solidFill>
                      <a:srgbClr val="FAF7F4"/>
                    </a:solidFill>
                  </a:tcPr>
                </a:tc>
              </a:tr>
              <a:tr h="164592">
                <a:tc>
                  <a:txBody>
                    <a:bodyPr/>
                    <a:lstStyle/>
                    <a:p>
                      <a:pPr>
                        <a:defRPr sz="800">
                          <a:solidFill>
                            <a:srgbClr val="2A2118"/>
                          </a:solidFill>
                          <a:latin typeface="DM Sans"/>
                        </a:defRPr>
                      </a:pPr>
                      <a:r>
                        <a:t>Impressions</a:t>
                      </a:r>
                    </a:p>
                  </a:txBody>
                  <a:tcPr marT="25400" marB="25400">
                    <a:solidFill>
                      <a:srgbClr val="FFFFFF"/>
                    </a:solidFill>
                  </a:tcPr>
                </a:tc>
                <a:tc>
                  <a:txBody>
                    <a:bodyPr/>
                    <a:lstStyle/>
                    <a:p>
                      <a:pPr>
                        <a:defRPr sz="800">
                          <a:solidFill>
                            <a:srgbClr val="2A2118"/>
                          </a:solidFill>
                          <a:latin typeface="DM Sans"/>
                        </a:defRPr>
                      </a:pPr>
                      <a:r>
                        <a:t>158</a:t>
                      </a:r>
                    </a:p>
                  </a:txBody>
                  <a:tcPr marT="25400" marB="25400">
                    <a:solidFill>
                      <a:srgbClr val="FFFFFF"/>
                    </a:solidFill>
                  </a:tcPr>
                </a:tc>
                <a:tc>
                  <a:txBody>
                    <a:bodyPr/>
                    <a:lstStyle/>
                    <a:p>
                      <a:pPr>
                        <a:defRPr sz="800">
                          <a:solidFill>
                            <a:srgbClr val="2A2118"/>
                          </a:solidFill>
                          <a:latin typeface="DM Sans"/>
                        </a:defRPr>
                      </a:pPr>
                      <a:r>
                        <a:t>782</a:t>
                      </a:r>
                    </a:p>
                  </a:txBody>
                  <a:tcPr marT="25400" marB="25400">
                    <a:solidFill>
                      <a:srgbClr val="FFFFFF"/>
                    </a:solidFill>
                  </a:tcPr>
                </a:tc>
                <a:tc>
                  <a:txBody>
                    <a:bodyPr/>
                    <a:lstStyle/>
                    <a:p>
                      <a:pPr>
                        <a:defRPr sz="800">
                          <a:solidFill>
                            <a:srgbClr val="8A7E74"/>
                          </a:solidFill>
                          <a:latin typeface="DM Sans"/>
                        </a:defRPr>
                      </a:pPr>
                      <a:r>
                        <a:t>↓ -79.8%</a:t>
                      </a:r>
                    </a:p>
                  </a:txBody>
                  <a:tcPr marT="25400" marB="25400">
                    <a:solidFill>
                      <a:srgbClr val="FFFFFF"/>
                    </a:solidFill>
                  </a:tcPr>
                </a:tc>
              </a:tr>
              <a:tr h="164592">
                <a:tc>
                  <a:txBody>
                    <a:bodyPr/>
                    <a:lstStyle/>
                    <a:p>
                      <a:pPr>
                        <a:defRPr sz="800">
                          <a:solidFill>
                            <a:srgbClr val="2A2118"/>
                          </a:solidFill>
                          <a:latin typeface="DM Sans"/>
                        </a:defRPr>
                      </a:pPr>
                      <a:r>
                        <a:t>Reactions</a:t>
                      </a:r>
                    </a:p>
                  </a:txBody>
                  <a:tcPr marT="25400" marB="25400">
                    <a:solidFill>
                      <a:srgbClr val="FAF7F4"/>
                    </a:solidFill>
                  </a:tcPr>
                </a:tc>
                <a:tc>
                  <a:txBody>
                    <a:bodyPr/>
                    <a:lstStyle/>
                    <a:p>
                      <a:pPr>
                        <a:defRPr sz="800">
                          <a:solidFill>
                            <a:srgbClr val="2A2118"/>
                          </a:solidFill>
                          <a:latin typeface="DM Sans"/>
                        </a:defRPr>
                      </a:pPr>
                      <a:r>
                        <a:t>1</a:t>
                      </a:r>
                    </a:p>
                  </a:txBody>
                  <a:tcPr marT="25400" marB="25400">
                    <a:solidFill>
                      <a:srgbClr val="FAF7F4"/>
                    </a:solidFill>
                  </a:tcPr>
                </a:tc>
                <a:tc>
                  <a:txBody>
                    <a:bodyPr/>
                    <a:lstStyle/>
                    <a:p>
                      <a:pPr>
                        <a:defRPr sz="800">
                          <a:solidFill>
                            <a:srgbClr val="2A2118"/>
                          </a:solidFill>
                          <a:latin typeface="DM Sans"/>
                        </a:defRPr>
                      </a:pPr>
                      <a:r>
                        <a:t>8</a:t>
                      </a:r>
                    </a:p>
                  </a:txBody>
                  <a:tcPr marT="25400" marB="25400">
                    <a:solidFill>
                      <a:srgbClr val="FAF7F4"/>
                    </a:solidFill>
                  </a:tcPr>
                </a:tc>
                <a:tc>
                  <a:txBody>
                    <a:bodyPr/>
                    <a:lstStyle/>
                    <a:p>
                      <a:pPr>
                        <a:defRPr sz="800">
                          <a:solidFill>
                            <a:srgbClr val="8A7E74"/>
                          </a:solidFill>
                          <a:latin typeface="DM Sans"/>
                        </a:defRPr>
                      </a:pPr>
                      <a:r>
                        <a:t>↓ -87.5%</a:t>
                      </a:r>
                    </a:p>
                  </a:txBody>
                  <a:tcPr marT="25400" marB="25400">
                    <a:solidFill>
                      <a:srgbClr val="FAF7F4"/>
                    </a:solidFill>
                  </a:tcPr>
                </a:tc>
              </a:tr>
              <a:tr h="164592">
                <a:tc>
                  <a:txBody>
                    <a:bodyPr/>
                    <a:lstStyle/>
                    <a:p>
                      <a:pPr>
                        <a:defRPr sz="800">
                          <a:solidFill>
                            <a:srgbClr val="2A2118"/>
                          </a:solidFill>
                          <a:latin typeface="DM Sans"/>
                        </a:defRPr>
                      </a:pPr>
                      <a:r>
                        <a:t>Comments</a:t>
                      </a:r>
                    </a:p>
                  </a:txBody>
                  <a:tcPr marT="25400" marB="25400">
                    <a:solidFill>
                      <a:srgbClr val="FFFFFF"/>
                    </a:solidFill>
                  </a:tcPr>
                </a:tc>
                <a:tc>
                  <a:txBody>
                    <a:bodyPr/>
                    <a:lstStyle/>
                    <a:p>
                      <a:pPr>
                        <a:defRPr sz="800">
                          <a:solidFill>
                            <a:srgbClr val="2A2118"/>
                          </a:solidFill>
                          <a:latin typeface="DM Sans"/>
                        </a:defRPr>
                      </a:pPr>
                      <a:r>
                        <a:t>0</a:t>
                      </a:r>
                    </a:p>
                  </a:txBody>
                  <a:tcPr marT="25400" marB="25400">
                    <a:solidFill>
                      <a:srgbClr val="FFFFFF"/>
                    </a:solidFill>
                  </a:tcPr>
                </a:tc>
                <a:tc>
                  <a:txBody>
                    <a:bodyPr/>
                    <a:lstStyle/>
                    <a:p>
                      <a:pPr>
                        <a:defRPr sz="800">
                          <a:solidFill>
                            <a:srgbClr val="2A2118"/>
                          </a:solidFill>
                          <a:latin typeface="DM Sans"/>
                        </a:defRPr>
                      </a:pPr>
                      <a:r>
                        <a:t>0</a:t>
                      </a:r>
                    </a:p>
                  </a:txBody>
                  <a:tcPr marT="25400" marB="25400">
                    <a:solidFill>
                      <a:srgbClr val="FFFFFF"/>
                    </a:solidFill>
                  </a:tcPr>
                </a:tc>
                <a:tc>
                  <a:txBody>
                    <a:bodyPr/>
                    <a:lstStyle/>
                    <a:p>
                      <a:pPr>
                        <a:defRPr sz="800">
                          <a:solidFill>
                            <a:srgbClr val="6B5F55"/>
                          </a:solidFill>
                          <a:latin typeface="DM Sans"/>
                        </a:defRPr>
                      </a:pPr>
                      <a:r>
                        <a:t>flat (0/0)</a:t>
                      </a:r>
                    </a:p>
                  </a:txBody>
                  <a:tcPr marT="25400" marB="25400">
                    <a:solidFill>
                      <a:srgbClr val="FFFFFF"/>
                    </a:solidFill>
                  </a:tcPr>
                </a:tc>
              </a:tr>
              <a:tr h="164592">
                <a:tc>
                  <a:txBody>
                    <a:bodyPr/>
                    <a:lstStyle/>
                    <a:p>
                      <a:pPr>
                        <a:defRPr sz="800">
                          <a:solidFill>
                            <a:srgbClr val="2A2118"/>
                          </a:solidFill>
                          <a:latin typeface="DM Sans"/>
                        </a:defRPr>
                      </a:pPr>
                      <a:r>
                        <a:t>Shares</a:t>
                      </a:r>
                    </a:p>
                  </a:txBody>
                  <a:tcPr marT="25400" marB="25400">
                    <a:solidFill>
                      <a:srgbClr val="FAF7F4"/>
                    </a:solidFill>
                  </a:tcPr>
                </a:tc>
                <a:tc>
                  <a:txBody>
                    <a:bodyPr/>
                    <a:lstStyle/>
                    <a:p>
                      <a:pPr>
                        <a:defRPr sz="800">
                          <a:solidFill>
                            <a:srgbClr val="2A2118"/>
                          </a:solidFill>
                          <a:latin typeface="DM Sans"/>
                        </a:defRPr>
                      </a:pPr>
                      <a:r>
                        <a:t>0</a:t>
                      </a:r>
                    </a:p>
                  </a:txBody>
                  <a:tcPr marT="25400" marB="25400">
                    <a:solidFill>
                      <a:srgbClr val="FAF7F4"/>
                    </a:solidFill>
                  </a:tcPr>
                </a:tc>
                <a:tc>
                  <a:txBody>
                    <a:bodyPr/>
                    <a:lstStyle/>
                    <a:p>
                      <a:pPr>
                        <a:defRPr sz="800">
                          <a:solidFill>
                            <a:srgbClr val="2A2118"/>
                          </a:solidFill>
                          <a:latin typeface="DM Sans"/>
                        </a:defRPr>
                      </a:pPr>
                      <a:r>
                        <a:t>0</a:t>
                      </a:r>
                    </a:p>
                  </a:txBody>
                  <a:tcPr marT="25400" marB="25400">
                    <a:solidFill>
                      <a:srgbClr val="FAF7F4"/>
                    </a:solidFill>
                  </a:tcPr>
                </a:tc>
                <a:tc>
                  <a:txBody>
                    <a:bodyPr/>
                    <a:lstStyle/>
                    <a:p>
                      <a:pPr>
                        <a:defRPr sz="800">
                          <a:solidFill>
                            <a:srgbClr val="6B5F55"/>
                          </a:solidFill>
                          <a:latin typeface="DM Sans"/>
                        </a:defRPr>
                      </a:pPr>
                      <a:r>
                        <a:t>flat (0/0)</a:t>
                      </a:r>
                    </a:p>
                  </a:txBody>
                  <a:tcPr marT="25400" marB="25400">
                    <a:solidFill>
                      <a:srgbClr val="FAF7F4"/>
                    </a:solidFill>
                  </a:tcPr>
                </a:tc>
              </a:tr>
              <a:tr h="164592">
                <a:tc>
                  <a:txBody>
                    <a:bodyPr/>
                    <a:lstStyle/>
                    <a:p>
                      <a:pPr>
                        <a:defRPr sz="800">
                          <a:solidFill>
                            <a:srgbClr val="2A2118"/>
                          </a:solidFill>
                          <a:latin typeface="DM Sans"/>
                        </a:defRPr>
                      </a:pPr>
                      <a:r>
                        <a:t>Clicks</a:t>
                      </a:r>
                    </a:p>
                  </a:txBody>
                  <a:tcPr marT="25400" marB="25400">
                    <a:solidFill>
                      <a:srgbClr val="FFFFFF"/>
                    </a:solidFill>
                  </a:tcPr>
                </a:tc>
                <a:tc>
                  <a:txBody>
                    <a:bodyPr/>
                    <a:lstStyle/>
                    <a:p>
                      <a:pPr>
                        <a:defRPr sz="800">
                          <a:solidFill>
                            <a:srgbClr val="2A2118"/>
                          </a:solidFill>
                          <a:latin typeface="DM Sans"/>
                        </a:defRPr>
                      </a:pPr>
                      <a:r>
                        <a:t>12</a:t>
                      </a:r>
                    </a:p>
                  </a:txBody>
                  <a:tcPr marT="25400" marB="25400">
                    <a:solidFill>
                      <a:srgbClr val="FFFFFF"/>
                    </a:solidFill>
                  </a:tcPr>
                </a:tc>
                <a:tc>
                  <a:txBody>
                    <a:bodyPr/>
                    <a:lstStyle/>
                    <a:p>
                      <a:pPr>
                        <a:defRPr sz="800">
                          <a:solidFill>
                            <a:srgbClr val="2A2118"/>
                          </a:solidFill>
                          <a:latin typeface="DM Sans"/>
                        </a:defRPr>
                      </a:pPr>
                      <a:r>
                        <a:t>5</a:t>
                      </a:r>
                    </a:p>
                  </a:txBody>
                  <a:tcPr marT="25400" marB="25400">
                    <a:solidFill>
                      <a:srgbClr val="FFFFFF"/>
                    </a:solidFill>
                  </a:tcPr>
                </a:tc>
                <a:tc>
                  <a:txBody>
                    <a:bodyPr/>
                    <a:lstStyle/>
                    <a:p>
                      <a:pPr>
                        <a:defRPr sz="800">
                          <a:solidFill>
                            <a:srgbClr val="B8965A"/>
                          </a:solidFill>
                          <a:latin typeface="DM Sans"/>
                        </a:defRPr>
                      </a:pPr>
                      <a:r>
                        <a:t>↑ +140.0%</a:t>
                      </a:r>
                    </a:p>
                  </a:txBody>
                  <a:tcPr marT="25400" marB="25400">
                    <a:solidFill>
                      <a:srgbClr val="FFFFFF"/>
                    </a:solidFill>
                  </a:tcPr>
                </a:tc>
              </a:tr>
              <a:tr h="164592">
                <a:tc>
                  <a:txBody>
                    <a:bodyPr/>
                    <a:lstStyle/>
                    <a:p>
                      <a:pPr>
                        <a:defRPr sz="800">
                          <a:solidFill>
                            <a:srgbClr val="2A2118"/>
                          </a:solidFill>
                          <a:latin typeface="DM Sans"/>
                        </a:defRPr>
                      </a:pPr>
                      <a:r>
                        <a:t>Weighted Eng. Rate (reach)</a:t>
                      </a:r>
                    </a:p>
                  </a:txBody>
                  <a:tcPr marT="25400" marB="25400">
                    <a:solidFill>
                      <a:srgbClr val="FAF7F4"/>
                    </a:solidFill>
                  </a:tcPr>
                </a:tc>
                <a:tc>
                  <a:txBody>
                    <a:bodyPr/>
                    <a:lstStyle/>
                    <a:p>
                      <a:pPr>
                        <a:defRPr sz="800">
                          <a:solidFill>
                            <a:srgbClr val="2A2118"/>
                          </a:solidFill>
                          <a:latin typeface="DM Sans"/>
                        </a:defRPr>
                      </a:pPr>
                      <a:r>
                        <a:t>0.00%</a:t>
                      </a:r>
                    </a:p>
                  </a:txBody>
                  <a:tcPr marT="25400" marB="25400">
                    <a:solidFill>
                      <a:srgbClr val="FAF7F4"/>
                    </a:solidFill>
                  </a:tcPr>
                </a:tc>
                <a:tc>
                  <a:txBody>
                    <a:bodyPr/>
                    <a:lstStyle/>
                    <a:p>
                      <a:pPr>
                        <a:defRPr sz="800">
                          <a:solidFill>
                            <a:srgbClr val="2A2118"/>
                          </a:solidFill>
                          <a:latin typeface="DM Sans"/>
                        </a:defRPr>
                      </a:pPr>
                      <a:r>
                        <a:t>0.00%</a:t>
                      </a:r>
                    </a:p>
                  </a:txBody>
                  <a:tcPr marT="25400" marB="25400">
                    <a:solidFill>
                      <a:srgbClr val="FAF7F4"/>
                    </a:solidFill>
                  </a:tcPr>
                </a:tc>
                <a:tc>
                  <a:txBody>
                    <a:bodyPr/>
                    <a:lstStyle/>
                    <a:p>
                      <a:pPr>
                        <a:defRPr sz="800">
                          <a:solidFill>
                            <a:srgbClr val="6B5F55"/>
                          </a:solidFill>
                          <a:latin typeface="DM Sans"/>
                        </a:defRPr>
                      </a:pPr>
                      <a:r>
                        <a:t>flat (0/0)</a:t>
                      </a:r>
                    </a:p>
                  </a:txBody>
                  <a:tcPr marT="25400" marB="25400">
                    <a:solidFill>
                      <a:srgbClr val="FAF7F4"/>
                    </a:solidFill>
                  </a:tcPr>
                </a:tc>
              </a:tr>
            </a:tbl>
          </a:graphicData>
        </a:graphic>
      </p:graphicFrame>
      <p:sp>
        <p:nvSpPr>
          <p:cNvPr id="8" name="TextBox 7"/>
          <p:cNvSpPr txBox="1"/>
          <p:nvPr/>
        </p:nvSpPr>
        <p:spPr>
          <a:xfrm>
            <a:off x="512064" y="3145536"/>
            <a:ext cx="8119872" cy="182880"/>
          </a:xfrm>
          <a:prstGeom prst="rect">
            <a:avLst/>
          </a:prstGeom>
          <a:noFill/>
        </p:spPr>
        <p:txBody>
          <a:bodyPr wrap="square">
            <a:spAutoFit/>
          </a:bodyPr>
          <a:lstStyle/>
          <a:p>
            <a:r>
              <a:rPr sz="1000" i="1">
                <a:solidFill>
                  <a:srgbClr val="8A7E74"/>
                </a:solidFill>
                <a:latin typeface="DM Sans"/>
              </a:rPr>
              <a:t>Impressions, Reactions declined versus the prior period.</a:t>
            </a:r>
          </a:p>
        </p:txBody>
      </p:sp>
      <p:sp>
        <p:nvSpPr>
          <p:cNvPr id="9" name="TextBox 8"/>
          <p:cNvSpPr txBox="1"/>
          <p:nvPr/>
        </p:nvSpPr>
        <p:spPr>
          <a:xfrm>
            <a:off x="512064" y="3355848"/>
            <a:ext cx="8119872" cy="219456"/>
          </a:xfrm>
          <a:prstGeom prst="rect">
            <a:avLst/>
          </a:prstGeom>
          <a:noFill/>
        </p:spPr>
        <p:txBody>
          <a:bodyPr wrap="none">
            <a:spAutoFit/>
          </a:bodyPr>
          <a:lstStyle/>
          <a:p>
            <a:r>
              <a:rPr sz="1200" b="1">
                <a:solidFill>
                  <a:srgbClr val="6B5F55"/>
                </a:solidFill>
                <a:latin typeface="DM Sans"/>
              </a:rPr>
              <a:t>Daily Impressions — Current vs. Prior Period</a:t>
            </a:r>
          </a:p>
        </p:txBody>
      </p:sp>
      <p:graphicFrame>
        <p:nvGraphicFramePr>
          <p:cNvPr id="10" name="Chart 9"/>
          <p:cNvGraphicFramePr>
            <a:graphicFrameLocks noGrp="1"/>
          </p:cNvGraphicFramePr>
          <p:nvPr/>
        </p:nvGraphicFramePr>
        <p:xfrm>
          <a:off x="512064" y="3575304"/>
          <a:ext cx="8119872" cy="1316736"/>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Facebook — Top Posts This Period</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2A2118"/>
                </a:solidFill>
                <a:latin typeface="DM Sans"/>
              </a:rPr>
              <a:t>“New year, new confidence. There's something…” drove </a:t>
            </a:r>
            <a:r>
              <a:rPr sz="1400" b="1">
                <a:solidFill>
                  <a:srgbClr val="D99F95"/>
                </a:solidFill>
                <a:latin typeface="DM Sans"/>
              </a:rPr>
              <a:t>51%</a:t>
            </a:r>
            <a:r>
              <a:rPr sz="1400" b="0">
                <a:solidFill>
                  <a:srgbClr val="2A2118"/>
                </a:solidFill>
                <a:latin typeface="DM Sans"/>
              </a:rPr>
              <a:t> of this period's total impressions.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DM Sans"/>
                        </a:defRPr>
                      </a:pPr>
                      <a:r>
                        <a:t>Post</a:t>
                      </a:r>
                    </a:p>
                  </a:txBody>
                  <a:tcPr marT="25400" marB="25400">
                    <a:solidFill>
                      <a:srgbClr val="707252"/>
                    </a:solidFill>
                  </a:tcPr>
                </a:tc>
                <a:tc>
                  <a:txBody>
                    <a:bodyPr/>
                    <a:lstStyle/>
                    <a:p>
                      <a:pPr>
                        <a:defRPr sz="900" b="1">
                          <a:solidFill>
                            <a:srgbClr val="FFFFFF"/>
                          </a:solidFill>
                          <a:latin typeface="DM Sans"/>
                        </a:defRPr>
                      </a:pPr>
                      <a:r>
                        <a:t>Date</a:t>
                      </a:r>
                    </a:p>
                  </a:txBody>
                  <a:tcPr marT="25400" marB="25400">
                    <a:solidFill>
                      <a:srgbClr val="707252"/>
                    </a:solidFill>
                  </a:tcPr>
                </a:tc>
                <a:tc>
                  <a:txBody>
                    <a:bodyPr/>
                    <a:lstStyle/>
                    <a:p>
                      <a:pPr>
                        <a:defRPr sz="900" b="1">
                          <a:solidFill>
                            <a:srgbClr val="FFFFFF"/>
                          </a:solidFill>
                          <a:latin typeface="DM Sans"/>
                        </a:defRPr>
                      </a:pPr>
                      <a:r>
                        <a:t>Impressions</a:t>
                      </a:r>
                    </a:p>
                  </a:txBody>
                  <a:tcPr marT="25400" marB="25400">
                    <a:solidFill>
                      <a:srgbClr val="707252"/>
                    </a:solidFill>
                  </a:tcPr>
                </a:tc>
                <a:tc>
                  <a:txBody>
                    <a:bodyPr/>
                    <a:lstStyle/>
                    <a:p>
                      <a:pPr>
                        <a:defRPr sz="900" b="1">
                          <a:solidFill>
                            <a:srgbClr val="FFFFFF"/>
                          </a:solidFill>
                          <a:latin typeface="DM Sans"/>
                        </a:defRPr>
                      </a:pPr>
                      <a:r>
                        <a:t>Reactions</a:t>
                      </a:r>
                    </a:p>
                  </a:txBody>
                  <a:tcPr marT="25400" marB="25400">
                    <a:solidFill>
                      <a:srgbClr val="707252"/>
                    </a:solidFill>
                  </a:tcPr>
                </a:tc>
                <a:tc>
                  <a:txBody>
                    <a:bodyPr/>
                    <a:lstStyle/>
                    <a:p>
                      <a:pPr>
                        <a:defRPr sz="900" b="1">
                          <a:solidFill>
                            <a:srgbClr val="FFFFFF"/>
                          </a:solidFill>
                          <a:latin typeface="DM Sans"/>
                        </a:defRPr>
                      </a:pPr>
                      <a:r>
                        <a:t>Comments</a:t>
                      </a:r>
                    </a:p>
                  </a:txBody>
                  <a:tcPr marT="25400" marB="25400">
                    <a:solidFill>
                      <a:srgbClr val="707252"/>
                    </a:solidFill>
                  </a:tcPr>
                </a:tc>
                <a:tc>
                  <a:txBody>
                    <a:bodyPr/>
                    <a:lstStyle/>
                    <a:p>
                      <a:pPr>
                        <a:defRPr sz="900" b="1">
                          <a:solidFill>
                            <a:srgbClr val="FFFFFF"/>
                          </a:solidFill>
                          <a:latin typeface="DM Sans"/>
                        </a:defRPr>
                      </a:pPr>
                      <a:r>
                        <a:t>Shares</a:t>
                      </a:r>
                    </a:p>
                  </a:txBody>
                  <a:tcPr marT="25400" marB="25400">
                    <a:solidFill>
                      <a:srgbClr val="707252"/>
                    </a:solidFill>
                  </a:tcPr>
                </a:tc>
              </a:tr>
              <a:tr h="502920">
                <a:tc>
                  <a:txBody>
                    <a:bodyPr/>
                    <a:lstStyle/>
                    <a:p>
                      <a:pPr>
                        <a:defRPr sz="900">
                          <a:solidFill>
                            <a:srgbClr val="2A2118"/>
                          </a:solidFill>
                          <a:latin typeface="DM Sans"/>
                        </a:defRPr>
                      </a:pPr>
                      <a:r>
                        <a:t>New year, new confidence. There's something about a fresh cut that sends a kid into the first day of school standing a little taller. Whether it's a first trim or a favorite ritua…</a:t>
                      </a:r>
                    </a:p>
                  </a:txBody>
                  <a:tcPr marT="25400" marB="25400">
                    <a:solidFill>
                      <a:srgbClr val="FAF7F4"/>
                    </a:solidFill>
                  </a:tcPr>
                </a:tc>
                <a:tc>
                  <a:txBody>
                    <a:bodyPr/>
                    <a:lstStyle/>
                    <a:p>
                      <a:pPr>
                        <a:defRPr sz="900">
                          <a:solidFill>
                            <a:srgbClr val="2A2118"/>
                          </a:solidFill>
                          <a:latin typeface="DM Sans"/>
                        </a:defRPr>
                      </a:pPr>
                      <a:r>
                        <a:t>Sep 17</a:t>
                      </a:r>
                    </a:p>
                  </a:txBody>
                  <a:tcPr marT="25400" marB="25400">
                    <a:solidFill>
                      <a:srgbClr val="FAF7F4"/>
                    </a:solidFill>
                  </a:tcPr>
                </a:tc>
                <a:tc>
                  <a:txBody>
                    <a:bodyPr/>
                    <a:lstStyle/>
                    <a:p>
                      <a:pPr>
                        <a:defRPr sz="900">
                          <a:solidFill>
                            <a:srgbClr val="2A2118"/>
                          </a:solidFill>
                          <a:latin typeface="DM Sans"/>
                        </a:defRPr>
                      </a:pPr>
                      <a:r>
                        <a:t>80</a:t>
                      </a:r>
                    </a:p>
                  </a:txBody>
                  <a:tcPr marT="25400" marB="25400">
                    <a:solidFill>
                      <a:srgbClr val="FAF7F4"/>
                    </a:solidFill>
                  </a:tcPr>
                </a:tc>
                <a:tc>
                  <a:txBody>
                    <a:bodyPr/>
                    <a:lstStyle/>
                    <a:p>
                      <a:pPr>
                        <a:defRPr sz="900">
                          <a:solidFill>
                            <a:srgbClr val="2A2118"/>
                          </a:solidFill>
                          <a:latin typeface="DM Sans"/>
                        </a:defRPr>
                      </a:pPr>
                      <a:r>
                        <a:t>1</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A classic French twist, done properly. There's a reason this style has never gone out of fashion. It's polished without trying too hard, elegant without being fussy, and it holds…</a:t>
                      </a:r>
                    </a:p>
                  </a:txBody>
                  <a:tcPr marT="25400" marB="25400">
                    <a:solidFill>
                      <a:srgbClr val="FFFFFF"/>
                    </a:solidFill>
                  </a:tcPr>
                </a:tc>
                <a:tc>
                  <a:txBody>
                    <a:bodyPr/>
                    <a:lstStyle/>
                    <a:p>
                      <a:pPr>
                        <a:defRPr sz="900">
                          <a:solidFill>
                            <a:srgbClr val="2A2118"/>
                          </a:solidFill>
                          <a:latin typeface="DM Sans"/>
                        </a:defRPr>
                      </a:pPr>
                      <a:r>
                        <a:t>Sep 13</a:t>
                      </a:r>
                    </a:p>
                  </a:txBody>
                  <a:tcPr marT="25400" marB="25400">
                    <a:solidFill>
                      <a:srgbClr val="FFFFFF"/>
                    </a:solidFill>
                  </a:tcPr>
                </a:tc>
                <a:tc>
                  <a:txBody>
                    <a:bodyPr/>
                    <a:lstStyle/>
                    <a:p>
                      <a:pPr>
                        <a:defRPr sz="900">
                          <a:solidFill>
                            <a:srgbClr val="2A2118"/>
                          </a:solidFill>
                          <a:latin typeface="DM Sans"/>
                        </a:defRPr>
                      </a:pPr>
                      <a:r>
                        <a:t>78</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6acbcca3b29a5936c145ad18</a:t>
                      </a:r>
                    </a:p>
                  </a:txBody>
                  <a:tcPr marT="25400" marB="25400">
                    <a:solidFill>
                      <a:srgbClr val="FAF7F4"/>
                    </a:solidFill>
                  </a:tcPr>
                </a:tc>
                <a:tc>
                  <a:txBody>
                    <a:bodyPr/>
                    <a:lstStyle/>
                    <a:p>
                      <a:pPr>
                        <a:defRPr sz="900">
                          <a:solidFill>
                            <a:srgbClr val="2A2118"/>
                          </a:solidFill>
                          <a:latin typeface="DM Sans"/>
                        </a:defRPr>
                      </a:pPr>
                      <a:r>
                        <a:t>Oct 11</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6aca4eccbb3a494963f8ab42</a:t>
                      </a:r>
                    </a:p>
                  </a:txBody>
                  <a:tcPr marT="25400" marB="25400">
                    <a:solidFill>
                      <a:srgbClr val="FFFFFF"/>
                    </a:solidFill>
                  </a:tcPr>
                </a:tc>
                <a:tc>
                  <a:txBody>
                    <a:bodyPr/>
                    <a:lstStyle/>
                    <a:p>
                      <a:pPr>
                        <a:defRPr sz="900">
                          <a:solidFill>
                            <a:srgbClr val="2A2118"/>
                          </a:solidFill>
                          <a:latin typeface="DM Sans"/>
                        </a:defRPr>
                      </a:pPr>
                      <a:r>
                        <a:t>Oct 10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6ab3103a756dfd4ee3c38ee5</a:t>
                      </a:r>
                    </a:p>
                  </a:txBody>
                  <a:tcPr marT="25400" marB="25400">
                    <a:solidFill>
                      <a:srgbClr val="FAF7F4"/>
                    </a:solidFill>
                  </a:tcPr>
                </a:tc>
                <a:tc>
                  <a:txBody>
                    <a:bodyPr/>
                    <a:lstStyle/>
                    <a:p>
                      <a:pPr>
                        <a:defRPr sz="900">
                          <a:solidFill>
                            <a:srgbClr val="2A2118"/>
                          </a:solidFill>
                          <a:latin typeface="DM Sans"/>
                        </a:defRPr>
                      </a:pPr>
                      <a:r>
                        <a:t>Sep 22</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TikTok Insights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Views</a:t>
            </a:r>
          </a:p>
          <a:p>
            <a:pPr algn="ctr"/>
            <a:r>
              <a:rPr sz="2200" b="1">
                <a:solidFill>
                  <a:srgbClr val="D99F95"/>
                </a:solidFill>
                <a:latin typeface="DM Sans"/>
              </a:rPr>
              <a:t>958</a:t>
            </a:r>
          </a:p>
          <a:p>
            <a:pPr algn="ctr"/>
            <a:r>
              <a:rPr sz="900" b="1">
                <a:solidFill>
                  <a:srgbClr val="8A7E74"/>
                </a:solidFill>
                <a:latin typeface="DM Sans"/>
              </a:rPr>
              <a:t>↓ -48.0%</a:t>
            </a:r>
          </a:p>
        </p:txBody>
      </p:sp>
      <p:sp>
        <p:nvSpPr>
          <p:cNvPr id="5" name="Rounded Rectangle 4"/>
          <p:cNvSpPr/>
          <p:nvPr/>
        </p:nvSpPr>
        <p:spPr>
          <a:xfrm>
            <a:off x="2564892"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Reach</a:t>
            </a:r>
          </a:p>
          <a:p>
            <a:pPr algn="ctr"/>
            <a:r>
              <a:rPr sz="2200" b="1">
                <a:solidFill>
                  <a:srgbClr val="707252"/>
                </a:solidFill>
                <a:latin typeface="DM Sans"/>
              </a:rPr>
              <a:t>854</a:t>
            </a:r>
          </a:p>
          <a:p>
            <a:pPr algn="ctr"/>
            <a:r>
              <a:rPr sz="900" b="1">
                <a:solidFill>
                  <a:srgbClr val="8A7E74"/>
                </a:solidFill>
                <a:latin typeface="DM Sans"/>
              </a:rPr>
              <a:t>↓ -48.5%</a:t>
            </a:r>
          </a:p>
        </p:txBody>
      </p:sp>
      <p:sp>
        <p:nvSpPr>
          <p:cNvPr id="6" name="Rounded Rectangle 5"/>
          <p:cNvSpPr/>
          <p:nvPr/>
        </p:nvSpPr>
        <p:spPr>
          <a:xfrm>
            <a:off x="4617720"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Weighted Eng. Rate</a:t>
            </a:r>
          </a:p>
          <a:p>
            <a:pPr algn="ctr"/>
            <a:r>
              <a:rPr sz="2200" b="1">
                <a:solidFill>
                  <a:srgbClr val="707252"/>
                </a:solidFill>
                <a:latin typeface="DM Sans"/>
              </a:rPr>
              <a:t>4.22%</a:t>
            </a:r>
          </a:p>
          <a:p>
            <a:pPr algn="ctr"/>
            <a:r>
              <a:rPr sz="900" b="1">
                <a:solidFill>
                  <a:srgbClr val="B8965A"/>
                </a:solidFill>
                <a:latin typeface="DM Sans"/>
              </a:rPr>
              <a:t>↑ +94.0%</a:t>
            </a:r>
          </a:p>
        </p:txBody>
      </p:sp>
      <p:sp>
        <p:nvSpPr>
          <p:cNvPr id="7" name="Rounded Rectangle 6"/>
          <p:cNvSpPr/>
          <p:nvPr/>
        </p:nvSpPr>
        <p:spPr>
          <a:xfrm>
            <a:off x="6670548"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Current Followers</a:t>
            </a:r>
          </a:p>
          <a:p>
            <a:pPr algn="ctr"/>
            <a:r>
              <a:rPr sz="2200" b="1">
                <a:solidFill>
                  <a:srgbClr val="707252"/>
                </a:solidFill>
                <a:latin typeface="DM Sans"/>
              </a:rPr>
              <a:t>[Count]</a:t>
            </a:r>
          </a:p>
          <a:p>
            <a:pPr algn="ctr"/>
            <a:r>
              <a:rPr sz="900" b="1">
                <a:solidFill>
                  <a:srgbClr val="6B5F55"/>
                </a:solidFill>
                <a:latin typeface="DM Sans"/>
              </a:rPr>
              <a:t>Manual entry</a:t>
            </a:r>
          </a:p>
        </p:txBody>
      </p:sp>
      <p:graphicFrame>
        <p:nvGraphicFramePr>
          <p:cNvPr id="8" name="Table 7"/>
          <p:cNvGraphicFramePr>
            <a:graphicFrameLocks noGrp="1"/>
          </p:cNvGraphicFramePr>
          <p:nvPr/>
        </p:nvGraphicFramePr>
        <p:xfrm>
          <a:off x="512064" y="1801368"/>
          <a:ext cx="8119872" cy="1316736"/>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DM Sans"/>
                        </a:defRPr>
                      </a:pPr>
                      <a:r>
                        <a:t>Metric</a:t>
                      </a:r>
                    </a:p>
                  </a:txBody>
                  <a:tcPr marT="25400" marB="25400">
                    <a:solidFill>
                      <a:srgbClr val="707252"/>
                    </a:solidFill>
                  </a:tcPr>
                </a:tc>
                <a:tc>
                  <a:txBody>
                    <a:bodyPr/>
                    <a:lstStyle/>
                    <a:p>
                      <a:pPr>
                        <a:defRPr sz="800" b="1">
                          <a:solidFill>
                            <a:srgbClr val="FFFFFF"/>
                          </a:solidFill>
                          <a:latin typeface="DM Sans"/>
                        </a:defRPr>
                      </a:pPr>
                      <a:r>
                        <a:t>Current</a:t>
                      </a:r>
                    </a:p>
                  </a:txBody>
                  <a:tcPr marT="25400" marB="25400">
                    <a:solidFill>
                      <a:srgbClr val="707252"/>
                    </a:solidFill>
                  </a:tcPr>
                </a:tc>
                <a:tc>
                  <a:txBody>
                    <a:bodyPr/>
                    <a:lstStyle/>
                    <a:p>
                      <a:pPr>
                        <a:defRPr sz="800" b="1">
                          <a:solidFill>
                            <a:srgbClr val="FFFFFF"/>
                          </a:solidFill>
                          <a:latin typeface="DM Sans"/>
                        </a:defRPr>
                      </a:pPr>
                      <a:r>
                        <a:t>Prior</a:t>
                      </a:r>
                    </a:p>
                  </a:txBody>
                  <a:tcPr marT="25400" marB="25400">
                    <a:solidFill>
                      <a:srgbClr val="707252"/>
                    </a:solidFill>
                  </a:tcPr>
                </a:tc>
                <a:tc>
                  <a:txBody>
                    <a:bodyPr/>
                    <a:lstStyle/>
                    <a:p>
                      <a:pPr>
                        <a:defRPr sz="800" b="1">
                          <a:solidFill>
                            <a:srgbClr val="FFFFFF"/>
                          </a:solidFill>
                          <a:latin typeface="DM Sans"/>
                        </a:defRPr>
                      </a:pPr>
                      <a:r>
                        <a:t>Change</a:t>
                      </a:r>
                    </a:p>
                  </a:txBody>
                  <a:tcPr marT="25400" marB="25400">
                    <a:solidFill>
                      <a:srgbClr val="707252"/>
                    </a:solidFill>
                  </a:tcPr>
                </a:tc>
              </a:tr>
              <a:tr h="164592">
                <a:tc>
                  <a:txBody>
                    <a:bodyPr/>
                    <a:lstStyle/>
                    <a:p>
                      <a:pPr>
                        <a:defRPr sz="800">
                          <a:solidFill>
                            <a:srgbClr val="2A2118"/>
                          </a:solidFill>
                          <a:latin typeface="DM Sans"/>
                        </a:defRPr>
                      </a:pPr>
                      <a:r>
                        <a:t>Posts</a:t>
                      </a:r>
                    </a:p>
                  </a:txBody>
                  <a:tcPr marT="25400" marB="25400">
                    <a:solidFill>
                      <a:srgbClr val="FAF7F4"/>
                    </a:solidFill>
                  </a:tcPr>
                </a:tc>
                <a:tc>
                  <a:txBody>
                    <a:bodyPr/>
                    <a:lstStyle/>
                    <a:p>
                      <a:pPr>
                        <a:defRPr sz="800">
                          <a:solidFill>
                            <a:srgbClr val="2A2118"/>
                          </a:solidFill>
                          <a:latin typeface="DM Sans"/>
                        </a:defRPr>
                      </a:pPr>
                      <a:r>
                        <a:t>5</a:t>
                      </a:r>
                    </a:p>
                  </a:txBody>
                  <a:tcPr marT="25400" marB="25400">
                    <a:solidFill>
                      <a:srgbClr val="FAF7F4"/>
                    </a:solidFill>
                  </a:tcPr>
                </a:tc>
                <a:tc>
                  <a:txBody>
                    <a:bodyPr/>
                    <a:lstStyle/>
                    <a:p>
                      <a:pPr>
                        <a:defRPr sz="800">
                          <a:solidFill>
                            <a:srgbClr val="2A2118"/>
                          </a:solidFill>
                          <a:latin typeface="DM Sans"/>
                        </a:defRPr>
                      </a:pPr>
                      <a:r>
                        <a:t>6</a:t>
                      </a:r>
                    </a:p>
                  </a:txBody>
                  <a:tcPr marT="25400" marB="25400">
                    <a:solidFill>
                      <a:srgbClr val="FAF7F4"/>
                    </a:solidFill>
                  </a:tcPr>
                </a:tc>
                <a:tc>
                  <a:txBody>
                    <a:bodyPr/>
                    <a:lstStyle/>
                    <a:p>
                      <a:pPr>
                        <a:defRPr sz="800">
                          <a:solidFill>
                            <a:srgbClr val="8A7E74"/>
                          </a:solidFill>
                          <a:latin typeface="DM Sans"/>
                        </a:defRPr>
                      </a:pPr>
                      <a:r>
                        <a:t>↓ -16.7%</a:t>
                      </a:r>
                    </a:p>
                  </a:txBody>
                  <a:tcPr marT="25400" marB="25400">
                    <a:solidFill>
                      <a:srgbClr val="FAF7F4"/>
                    </a:solidFill>
                  </a:tcPr>
                </a:tc>
              </a:tr>
              <a:tr h="164592">
                <a:tc>
                  <a:txBody>
                    <a:bodyPr/>
                    <a:lstStyle/>
                    <a:p>
                      <a:pPr>
                        <a:defRPr sz="800">
                          <a:solidFill>
                            <a:srgbClr val="2A2118"/>
                          </a:solidFill>
                          <a:latin typeface="DM Sans"/>
                        </a:defRPr>
                      </a:pPr>
                      <a:r>
                        <a:t>Views</a:t>
                      </a:r>
                    </a:p>
                  </a:txBody>
                  <a:tcPr marT="25400" marB="25400">
                    <a:solidFill>
                      <a:srgbClr val="FFFFFF"/>
                    </a:solidFill>
                  </a:tcPr>
                </a:tc>
                <a:tc>
                  <a:txBody>
                    <a:bodyPr/>
                    <a:lstStyle/>
                    <a:p>
                      <a:pPr>
                        <a:defRPr sz="800">
                          <a:solidFill>
                            <a:srgbClr val="2A2118"/>
                          </a:solidFill>
                          <a:latin typeface="DM Sans"/>
                        </a:defRPr>
                      </a:pPr>
                      <a:r>
                        <a:t>958</a:t>
                      </a:r>
                    </a:p>
                  </a:txBody>
                  <a:tcPr marT="25400" marB="25400">
                    <a:solidFill>
                      <a:srgbClr val="FFFFFF"/>
                    </a:solidFill>
                  </a:tcPr>
                </a:tc>
                <a:tc>
                  <a:txBody>
                    <a:bodyPr/>
                    <a:lstStyle/>
                    <a:p>
                      <a:pPr>
                        <a:defRPr sz="800">
                          <a:solidFill>
                            <a:srgbClr val="2A2118"/>
                          </a:solidFill>
                          <a:latin typeface="DM Sans"/>
                        </a:defRPr>
                      </a:pPr>
                      <a:r>
                        <a:t>1.8K</a:t>
                      </a:r>
                    </a:p>
                  </a:txBody>
                  <a:tcPr marT="25400" marB="25400">
                    <a:solidFill>
                      <a:srgbClr val="FFFFFF"/>
                    </a:solidFill>
                  </a:tcPr>
                </a:tc>
                <a:tc>
                  <a:txBody>
                    <a:bodyPr/>
                    <a:lstStyle/>
                    <a:p>
                      <a:pPr>
                        <a:defRPr sz="800">
                          <a:solidFill>
                            <a:srgbClr val="8A7E74"/>
                          </a:solidFill>
                          <a:latin typeface="DM Sans"/>
                        </a:defRPr>
                      </a:pPr>
                      <a:r>
                        <a:t>↓ -48.0%</a:t>
                      </a:r>
                    </a:p>
                  </a:txBody>
                  <a:tcPr marT="25400" marB="25400">
                    <a:solidFill>
                      <a:srgbClr val="FFFFFF"/>
                    </a:solidFill>
                  </a:tcPr>
                </a:tc>
              </a:tr>
              <a:tr h="164592">
                <a:tc>
                  <a:txBody>
                    <a:bodyPr/>
                    <a:lstStyle/>
                    <a:p>
                      <a:pPr>
                        <a:defRPr sz="800">
                          <a:solidFill>
                            <a:srgbClr val="2A2118"/>
                          </a:solidFill>
                          <a:latin typeface="DM Sans"/>
                        </a:defRPr>
                      </a:pPr>
                      <a:r>
                        <a:t>Reach</a:t>
                      </a:r>
                    </a:p>
                  </a:txBody>
                  <a:tcPr marT="25400" marB="25400">
                    <a:solidFill>
                      <a:srgbClr val="FAF7F4"/>
                    </a:solidFill>
                  </a:tcPr>
                </a:tc>
                <a:tc>
                  <a:txBody>
                    <a:bodyPr/>
                    <a:lstStyle/>
                    <a:p>
                      <a:pPr>
                        <a:defRPr sz="800">
                          <a:solidFill>
                            <a:srgbClr val="2A2118"/>
                          </a:solidFill>
                          <a:latin typeface="DM Sans"/>
                        </a:defRPr>
                      </a:pPr>
                      <a:r>
                        <a:t>854</a:t>
                      </a:r>
                    </a:p>
                  </a:txBody>
                  <a:tcPr marT="25400" marB="25400">
                    <a:solidFill>
                      <a:srgbClr val="FAF7F4"/>
                    </a:solidFill>
                  </a:tcPr>
                </a:tc>
                <a:tc>
                  <a:txBody>
                    <a:bodyPr/>
                    <a:lstStyle/>
                    <a:p>
                      <a:pPr>
                        <a:defRPr sz="800">
                          <a:solidFill>
                            <a:srgbClr val="2A2118"/>
                          </a:solidFill>
                          <a:latin typeface="DM Sans"/>
                        </a:defRPr>
                      </a:pPr>
                      <a:r>
                        <a:t>1.7K</a:t>
                      </a:r>
                    </a:p>
                  </a:txBody>
                  <a:tcPr marT="25400" marB="25400">
                    <a:solidFill>
                      <a:srgbClr val="FAF7F4"/>
                    </a:solidFill>
                  </a:tcPr>
                </a:tc>
                <a:tc>
                  <a:txBody>
                    <a:bodyPr/>
                    <a:lstStyle/>
                    <a:p>
                      <a:pPr>
                        <a:defRPr sz="800">
                          <a:solidFill>
                            <a:srgbClr val="8A7E74"/>
                          </a:solidFill>
                          <a:latin typeface="DM Sans"/>
                        </a:defRPr>
                      </a:pPr>
                      <a:r>
                        <a:t>↓ -48.5%</a:t>
                      </a:r>
                    </a:p>
                  </a:txBody>
                  <a:tcPr marT="25400" marB="25400">
                    <a:solidFill>
                      <a:srgbClr val="FAF7F4"/>
                    </a:solidFill>
                  </a:tcPr>
                </a:tc>
              </a:tr>
              <a:tr h="164592">
                <a:tc>
                  <a:txBody>
                    <a:bodyPr/>
                    <a:lstStyle/>
                    <a:p>
                      <a:pPr>
                        <a:defRPr sz="800">
                          <a:solidFill>
                            <a:srgbClr val="2A2118"/>
                          </a:solidFill>
                          <a:latin typeface="DM Sans"/>
                        </a:defRPr>
                      </a:pPr>
                      <a:r>
                        <a:t>Reactions</a:t>
                      </a:r>
                    </a:p>
                  </a:txBody>
                  <a:tcPr marT="25400" marB="25400">
                    <a:solidFill>
                      <a:srgbClr val="FFFFFF"/>
                    </a:solidFill>
                  </a:tcPr>
                </a:tc>
                <a:tc>
                  <a:txBody>
                    <a:bodyPr/>
                    <a:lstStyle/>
                    <a:p>
                      <a:pPr>
                        <a:defRPr sz="800">
                          <a:solidFill>
                            <a:srgbClr val="2A2118"/>
                          </a:solidFill>
                          <a:latin typeface="DM Sans"/>
                        </a:defRPr>
                      </a:pPr>
                      <a:r>
                        <a:t>35</a:t>
                      </a:r>
                    </a:p>
                  </a:txBody>
                  <a:tcPr marT="25400" marB="25400">
                    <a:solidFill>
                      <a:srgbClr val="FFFFFF"/>
                    </a:solidFill>
                  </a:tcPr>
                </a:tc>
                <a:tc>
                  <a:txBody>
                    <a:bodyPr/>
                    <a:lstStyle/>
                    <a:p>
                      <a:pPr>
                        <a:defRPr sz="800">
                          <a:solidFill>
                            <a:srgbClr val="2A2118"/>
                          </a:solidFill>
                          <a:latin typeface="DM Sans"/>
                        </a:defRPr>
                      </a:pPr>
                      <a:r>
                        <a:t>35</a:t>
                      </a:r>
                    </a:p>
                  </a:txBody>
                  <a:tcPr marT="25400" marB="25400">
                    <a:solidFill>
                      <a:srgbClr val="FFFFFF"/>
                    </a:solidFill>
                  </a:tcPr>
                </a:tc>
                <a:tc>
                  <a:txBody>
                    <a:bodyPr/>
                    <a:lstStyle/>
                    <a:p>
                      <a:pPr>
                        <a:defRPr sz="800">
                          <a:solidFill>
                            <a:srgbClr val="B8965A"/>
                          </a:solidFill>
                          <a:latin typeface="DM Sans"/>
                        </a:defRPr>
                      </a:pPr>
                      <a:r>
                        <a:t>↑ +0.0%</a:t>
                      </a:r>
                    </a:p>
                  </a:txBody>
                  <a:tcPr marT="25400" marB="25400">
                    <a:solidFill>
                      <a:srgbClr val="FFFFFF"/>
                    </a:solidFill>
                  </a:tcPr>
                </a:tc>
              </a:tr>
              <a:tr h="164592">
                <a:tc>
                  <a:txBody>
                    <a:bodyPr/>
                    <a:lstStyle/>
                    <a:p>
                      <a:pPr>
                        <a:defRPr sz="800">
                          <a:solidFill>
                            <a:srgbClr val="2A2118"/>
                          </a:solidFill>
                          <a:latin typeface="DM Sans"/>
                        </a:defRPr>
                      </a:pPr>
                      <a:r>
                        <a:t>Comments</a:t>
                      </a:r>
                    </a:p>
                  </a:txBody>
                  <a:tcPr marT="25400" marB="25400">
                    <a:solidFill>
                      <a:srgbClr val="FAF7F4"/>
                    </a:solidFill>
                  </a:tcPr>
                </a:tc>
                <a:tc>
                  <a:txBody>
                    <a:bodyPr/>
                    <a:lstStyle/>
                    <a:p>
                      <a:pPr>
                        <a:defRPr sz="800">
                          <a:solidFill>
                            <a:srgbClr val="2A2118"/>
                          </a:solidFill>
                          <a:latin typeface="DM Sans"/>
                        </a:defRPr>
                      </a:pPr>
                      <a:r>
                        <a:t>0</a:t>
                      </a:r>
                    </a:p>
                  </a:txBody>
                  <a:tcPr marT="25400" marB="25400">
                    <a:solidFill>
                      <a:srgbClr val="FAF7F4"/>
                    </a:solidFill>
                  </a:tcPr>
                </a:tc>
                <a:tc>
                  <a:txBody>
                    <a:bodyPr/>
                    <a:lstStyle/>
                    <a:p>
                      <a:pPr>
                        <a:defRPr sz="800">
                          <a:solidFill>
                            <a:srgbClr val="2A2118"/>
                          </a:solidFill>
                          <a:latin typeface="DM Sans"/>
                        </a:defRPr>
                      </a:pPr>
                      <a:r>
                        <a:t>1</a:t>
                      </a:r>
                    </a:p>
                  </a:txBody>
                  <a:tcPr marT="25400" marB="25400">
                    <a:solidFill>
                      <a:srgbClr val="FAF7F4"/>
                    </a:solidFill>
                  </a:tcPr>
                </a:tc>
                <a:tc>
                  <a:txBody>
                    <a:bodyPr/>
                    <a:lstStyle/>
                    <a:p>
                      <a:pPr>
                        <a:defRPr sz="800">
                          <a:solidFill>
                            <a:srgbClr val="8A7E74"/>
                          </a:solidFill>
                          <a:latin typeface="DM Sans"/>
                        </a:defRPr>
                      </a:pPr>
                      <a:r>
                        <a:t>↓ -100.0%</a:t>
                      </a:r>
                    </a:p>
                  </a:txBody>
                  <a:tcPr marT="25400" marB="25400">
                    <a:solidFill>
                      <a:srgbClr val="FAF7F4"/>
                    </a:solidFill>
                  </a:tcPr>
                </a:tc>
              </a:tr>
              <a:tr h="164592">
                <a:tc>
                  <a:txBody>
                    <a:bodyPr/>
                    <a:lstStyle/>
                    <a:p>
                      <a:pPr>
                        <a:defRPr sz="800">
                          <a:solidFill>
                            <a:srgbClr val="2A2118"/>
                          </a:solidFill>
                          <a:latin typeface="DM Sans"/>
                        </a:defRPr>
                      </a:pPr>
                      <a:r>
                        <a:t>Shares</a:t>
                      </a:r>
                    </a:p>
                  </a:txBody>
                  <a:tcPr marT="25400" marB="25400">
                    <a:solidFill>
                      <a:srgbClr val="FFFFFF"/>
                    </a:solidFill>
                  </a:tcPr>
                </a:tc>
                <a:tc>
                  <a:txBody>
                    <a:bodyPr/>
                    <a:lstStyle/>
                    <a:p>
                      <a:pPr>
                        <a:defRPr sz="800">
                          <a:solidFill>
                            <a:srgbClr val="2A2118"/>
                          </a:solidFill>
                          <a:latin typeface="DM Sans"/>
                        </a:defRPr>
                      </a:pPr>
                      <a:r>
                        <a:t>1</a:t>
                      </a:r>
                    </a:p>
                  </a:txBody>
                  <a:tcPr marT="25400" marB="25400">
                    <a:solidFill>
                      <a:srgbClr val="FFFFFF"/>
                    </a:solidFill>
                  </a:tcPr>
                </a:tc>
                <a:tc>
                  <a:txBody>
                    <a:bodyPr/>
                    <a:lstStyle/>
                    <a:p>
                      <a:pPr>
                        <a:defRPr sz="800">
                          <a:solidFill>
                            <a:srgbClr val="2A2118"/>
                          </a:solidFill>
                          <a:latin typeface="DM Sans"/>
                        </a:defRPr>
                      </a:pPr>
                      <a:r>
                        <a:t>0</a:t>
                      </a:r>
                    </a:p>
                  </a:txBody>
                  <a:tcPr marT="25400" marB="25400">
                    <a:solidFill>
                      <a:srgbClr val="FFFFFF"/>
                    </a:solidFill>
                  </a:tcPr>
                </a:tc>
                <a:tc>
                  <a:txBody>
                    <a:bodyPr/>
                    <a:lstStyle/>
                    <a:p>
                      <a:pPr>
                        <a:defRPr sz="800">
                          <a:solidFill>
                            <a:srgbClr val="B8965A"/>
                          </a:solidFill>
                          <a:latin typeface="DM Sans"/>
                        </a:defRPr>
                      </a:pPr>
                      <a:r>
                        <a:t>↑ new activity</a:t>
                      </a:r>
                    </a:p>
                  </a:txBody>
                  <a:tcPr marT="25400" marB="25400">
                    <a:solidFill>
                      <a:srgbClr val="FFFFFF"/>
                    </a:solidFill>
                  </a:tcPr>
                </a:tc>
              </a:tr>
              <a:tr h="164592">
                <a:tc>
                  <a:txBody>
                    <a:bodyPr/>
                    <a:lstStyle/>
                    <a:p>
                      <a:pPr>
                        <a:defRPr sz="800">
                          <a:solidFill>
                            <a:srgbClr val="2A2118"/>
                          </a:solidFill>
                          <a:latin typeface="DM Sans"/>
                        </a:defRPr>
                      </a:pPr>
                      <a:r>
                        <a:t>Weighted Eng. Rate (reach)</a:t>
                      </a:r>
                    </a:p>
                  </a:txBody>
                  <a:tcPr marT="25400" marB="25400">
                    <a:solidFill>
                      <a:srgbClr val="FAF7F4"/>
                    </a:solidFill>
                  </a:tcPr>
                </a:tc>
                <a:tc>
                  <a:txBody>
                    <a:bodyPr/>
                    <a:lstStyle/>
                    <a:p>
                      <a:pPr>
                        <a:defRPr sz="800">
                          <a:solidFill>
                            <a:srgbClr val="2A2118"/>
                          </a:solidFill>
                          <a:latin typeface="DM Sans"/>
                        </a:defRPr>
                      </a:pPr>
                      <a:r>
                        <a:t>4.22%</a:t>
                      </a:r>
                    </a:p>
                  </a:txBody>
                  <a:tcPr marT="25400" marB="25400">
                    <a:solidFill>
                      <a:srgbClr val="FAF7F4"/>
                    </a:solidFill>
                  </a:tcPr>
                </a:tc>
                <a:tc>
                  <a:txBody>
                    <a:bodyPr/>
                    <a:lstStyle/>
                    <a:p>
                      <a:pPr>
                        <a:defRPr sz="800">
                          <a:solidFill>
                            <a:srgbClr val="2A2118"/>
                          </a:solidFill>
                          <a:latin typeface="DM Sans"/>
                        </a:defRPr>
                      </a:pPr>
                      <a:r>
                        <a:t>2.17%</a:t>
                      </a:r>
                    </a:p>
                  </a:txBody>
                  <a:tcPr marT="25400" marB="25400">
                    <a:solidFill>
                      <a:srgbClr val="FAF7F4"/>
                    </a:solidFill>
                  </a:tcPr>
                </a:tc>
                <a:tc>
                  <a:txBody>
                    <a:bodyPr/>
                    <a:lstStyle/>
                    <a:p>
                      <a:pPr>
                        <a:defRPr sz="800">
                          <a:solidFill>
                            <a:srgbClr val="B8965A"/>
                          </a:solidFill>
                          <a:latin typeface="DM Sans"/>
                        </a:defRPr>
                      </a:pPr>
                      <a:r>
                        <a:t>↑ +94.0%</a:t>
                      </a:r>
                    </a:p>
                  </a:txBody>
                  <a:tcPr marT="25400" marB="25400">
                    <a:solidFill>
                      <a:srgbClr val="FAF7F4"/>
                    </a:solidFill>
                  </a:tcPr>
                </a:tc>
              </a:tr>
            </a:tbl>
          </a:graphicData>
        </a:graphic>
      </p:graphicFrame>
      <p:sp>
        <p:nvSpPr>
          <p:cNvPr id="9" name="TextBox 8"/>
          <p:cNvSpPr txBox="1"/>
          <p:nvPr/>
        </p:nvSpPr>
        <p:spPr>
          <a:xfrm>
            <a:off x="512064" y="3145536"/>
            <a:ext cx="8119872" cy="182880"/>
          </a:xfrm>
          <a:prstGeom prst="rect">
            <a:avLst/>
          </a:prstGeom>
          <a:noFill/>
        </p:spPr>
        <p:txBody>
          <a:bodyPr wrap="square">
            <a:spAutoFit/>
          </a:bodyPr>
          <a:lstStyle/>
          <a:p>
            <a:r>
              <a:rPr sz="1000" i="1">
                <a:solidFill>
                  <a:srgbClr val="8A7E74"/>
                </a:solidFill>
                <a:latin typeface="DM Sans"/>
              </a:rPr>
              <a:t>Most metrics are down this period alongside a 17% drop in posting frequency (5 vs. 6 posts).</a:t>
            </a:r>
          </a:p>
        </p:txBody>
      </p:sp>
      <p:sp>
        <p:nvSpPr>
          <p:cNvPr id="10" name="TextBox 9"/>
          <p:cNvSpPr txBox="1"/>
          <p:nvPr/>
        </p:nvSpPr>
        <p:spPr>
          <a:xfrm>
            <a:off x="512064" y="3355848"/>
            <a:ext cx="8119872" cy="219456"/>
          </a:xfrm>
          <a:prstGeom prst="rect">
            <a:avLst/>
          </a:prstGeom>
          <a:noFill/>
        </p:spPr>
        <p:txBody>
          <a:bodyPr wrap="none">
            <a:spAutoFit/>
          </a:bodyPr>
          <a:lstStyle/>
          <a:p>
            <a:r>
              <a:rPr sz="1200" b="1">
                <a:solidFill>
                  <a:srgbClr val="6B5F55"/>
                </a:solidFill>
                <a:latin typeface="DM Sans"/>
              </a:rPr>
              <a:t>Daily Views — Current vs. Prior Period</a:t>
            </a:r>
          </a:p>
        </p:txBody>
      </p:sp>
      <p:graphicFrame>
        <p:nvGraphicFramePr>
          <p:cNvPr id="11" name="Chart 10"/>
          <p:cNvGraphicFramePr>
            <a:graphicFrameLocks noGrp="1"/>
          </p:cNvGraphicFramePr>
          <p:nvPr/>
        </p:nvGraphicFramePr>
        <p:xfrm>
          <a:off x="512064" y="3575304"/>
          <a:ext cx="8119872" cy="1316736"/>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TikTok — Top Posts This Period</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2A2118"/>
                </a:solidFill>
                <a:latin typeface="DM Sans"/>
              </a:rPr>
              <a:t>“Finally grown back, and Ashley made it look…” drove </a:t>
            </a:r>
            <a:r>
              <a:rPr sz="1400" b="1">
                <a:solidFill>
                  <a:srgbClr val="D99F95"/>
                </a:solidFill>
                <a:latin typeface="DM Sans"/>
              </a:rPr>
              <a:t>32%</a:t>
            </a:r>
            <a:r>
              <a:rPr sz="1400" b="0">
                <a:solidFill>
                  <a:srgbClr val="2A2118"/>
                </a:solidFill>
                <a:latin typeface="DM Sans"/>
              </a:rPr>
              <a:t> of this period's total views.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DM Sans"/>
                        </a:defRPr>
                      </a:pPr>
                      <a:r>
                        <a:t>Post</a:t>
                      </a:r>
                    </a:p>
                  </a:txBody>
                  <a:tcPr marT="25400" marB="25400">
                    <a:solidFill>
                      <a:srgbClr val="707252"/>
                    </a:solidFill>
                  </a:tcPr>
                </a:tc>
                <a:tc>
                  <a:txBody>
                    <a:bodyPr/>
                    <a:lstStyle/>
                    <a:p>
                      <a:pPr>
                        <a:defRPr sz="900" b="1">
                          <a:solidFill>
                            <a:srgbClr val="FFFFFF"/>
                          </a:solidFill>
                          <a:latin typeface="DM Sans"/>
                        </a:defRPr>
                      </a:pPr>
                      <a:r>
                        <a:t>Date</a:t>
                      </a:r>
                    </a:p>
                  </a:txBody>
                  <a:tcPr marT="25400" marB="25400">
                    <a:solidFill>
                      <a:srgbClr val="707252"/>
                    </a:solidFill>
                  </a:tcPr>
                </a:tc>
                <a:tc>
                  <a:txBody>
                    <a:bodyPr/>
                    <a:lstStyle/>
                    <a:p>
                      <a:pPr>
                        <a:defRPr sz="900" b="1">
                          <a:solidFill>
                            <a:srgbClr val="FFFFFF"/>
                          </a:solidFill>
                          <a:latin typeface="DM Sans"/>
                        </a:defRPr>
                      </a:pPr>
                      <a:r>
                        <a:t>Views</a:t>
                      </a:r>
                    </a:p>
                  </a:txBody>
                  <a:tcPr marT="25400" marB="25400">
                    <a:solidFill>
                      <a:srgbClr val="707252"/>
                    </a:solidFill>
                  </a:tcPr>
                </a:tc>
                <a:tc>
                  <a:txBody>
                    <a:bodyPr/>
                    <a:lstStyle/>
                    <a:p>
                      <a:pPr>
                        <a:defRPr sz="900" b="1">
                          <a:solidFill>
                            <a:srgbClr val="FFFFFF"/>
                          </a:solidFill>
                          <a:latin typeface="DM Sans"/>
                        </a:defRPr>
                      </a:pPr>
                      <a:r>
                        <a:t>Reactions</a:t>
                      </a:r>
                    </a:p>
                  </a:txBody>
                  <a:tcPr marT="25400" marB="25400">
                    <a:solidFill>
                      <a:srgbClr val="707252"/>
                    </a:solidFill>
                  </a:tcPr>
                </a:tc>
                <a:tc>
                  <a:txBody>
                    <a:bodyPr/>
                    <a:lstStyle/>
                    <a:p>
                      <a:pPr>
                        <a:defRPr sz="900" b="1">
                          <a:solidFill>
                            <a:srgbClr val="FFFFFF"/>
                          </a:solidFill>
                          <a:latin typeface="DM Sans"/>
                        </a:defRPr>
                      </a:pPr>
                      <a:r>
                        <a:t>Comments</a:t>
                      </a:r>
                    </a:p>
                  </a:txBody>
                  <a:tcPr marT="25400" marB="25400">
                    <a:solidFill>
                      <a:srgbClr val="707252"/>
                    </a:solidFill>
                  </a:tcPr>
                </a:tc>
                <a:tc>
                  <a:txBody>
                    <a:bodyPr/>
                    <a:lstStyle/>
                    <a:p>
                      <a:pPr>
                        <a:defRPr sz="900" b="1">
                          <a:solidFill>
                            <a:srgbClr val="FFFFFF"/>
                          </a:solidFill>
                          <a:latin typeface="DM Sans"/>
                        </a:defRPr>
                      </a:pPr>
                      <a:r>
                        <a:t>Shares</a:t>
                      </a:r>
                    </a:p>
                  </a:txBody>
                  <a:tcPr marT="25400" marB="25400">
                    <a:solidFill>
                      <a:srgbClr val="707252"/>
                    </a:solidFill>
                  </a:tcPr>
                </a:tc>
              </a:tr>
              <a:tr h="502920">
                <a:tc>
                  <a:txBody>
                    <a:bodyPr/>
                    <a:lstStyle/>
                    <a:p>
                      <a:pPr>
                        <a:defRPr sz="900">
                          <a:solidFill>
                            <a:srgbClr val="2A2118"/>
                          </a:solidFill>
                          <a:latin typeface="DM Sans"/>
                        </a:defRPr>
                      </a:pPr>
                      <a:r>
                        <a:t>Finally grown back, and Ashley made it look like it was the plan all along ✂️ After a full chop a while back, I went back to @salonveritas_ to shape the grow-out. A precise cut, a…</a:t>
                      </a:r>
                    </a:p>
                  </a:txBody>
                  <a:tcPr marT="25400" marB="25400">
                    <a:solidFill>
                      <a:srgbClr val="FAF7F4"/>
                    </a:solidFill>
                  </a:tcPr>
                </a:tc>
                <a:tc>
                  <a:txBody>
                    <a:bodyPr/>
                    <a:lstStyle/>
                    <a:p>
                      <a:pPr>
                        <a:defRPr sz="900">
                          <a:solidFill>
                            <a:srgbClr val="2A2118"/>
                          </a:solidFill>
                          <a:latin typeface="DM Sans"/>
                        </a:defRPr>
                      </a:pPr>
                      <a:r>
                        <a:t>Oct 07</a:t>
                      </a:r>
                    </a:p>
                  </a:txBody>
                  <a:tcPr marT="25400" marB="25400">
                    <a:solidFill>
                      <a:srgbClr val="FAF7F4"/>
                    </a:solidFill>
                  </a:tcPr>
                </a:tc>
                <a:tc>
                  <a:txBody>
                    <a:bodyPr/>
                    <a:lstStyle/>
                    <a:p>
                      <a:pPr>
                        <a:defRPr sz="900">
                          <a:solidFill>
                            <a:srgbClr val="2A2118"/>
                          </a:solidFill>
                          <a:latin typeface="DM Sans"/>
                        </a:defRPr>
                      </a:pPr>
                      <a:r>
                        <a:t>304</a:t>
                      </a:r>
                    </a:p>
                  </a:txBody>
                  <a:tcPr marT="25400" marB="25400">
                    <a:solidFill>
                      <a:srgbClr val="FAF7F4"/>
                    </a:solidFill>
                  </a:tcPr>
                </a:tc>
                <a:tc>
                  <a:txBody>
                    <a:bodyPr/>
                    <a:lstStyle/>
                    <a:p>
                      <a:pPr>
                        <a:defRPr sz="900">
                          <a:solidFill>
                            <a:srgbClr val="2A2118"/>
                          </a:solidFill>
                          <a:latin typeface="DM Sans"/>
                        </a:defRPr>
                      </a:pPr>
                      <a:r>
                        <a:t>15</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1</a:t>
                      </a:r>
                    </a:p>
                  </a:txBody>
                  <a:tcPr marT="25400" marB="25400">
                    <a:solidFill>
                      <a:srgbClr val="FAF7F4"/>
                    </a:solidFill>
                  </a:tcPr>
                </a:tc>
              </a:tr>
              <a:tr h="502920">
                <a:tc>
                  <a:txBody>
                    <a:bodyPr/>
                    <a:lstStyle/>
                    <a:p>
                      <a:pPr>
                        <a:defRPr sz="900">
                          <a:solidFill>
                            <a:srgbClr val="2A2118"/>
                          </a:solidFill>
                          <a:latin typeface="DM Sans"/>
                        </a:defRPr>
                      </a:pPr>
                      <a:r>
                        <a:t>Her words, not ours: "Ashley does the best color in Raleigh." 🤎 Natural chocolate balayage for fall. Hand-painted dimension on a rich brunette base, made to grow out soft and low…</a:t>
                      </a:r>
                    </a:p>
                  </a:txBody>
                  <a:tcPr marT="25400" marB="25400">
                    <a:solidFill>
                      <a:srgbClr val="FFFFFF"/>
                    </a:solidFill>
                  </a:tcPr>
                </a:tc>
                <a:tc>
                  <a:txBody>
                    <a:bodyPr/>
                    <a:lstStyle/>
                    <a:p>
                      <a:pPr>
                        <a:defRPr sz="900">
                          <a:solidFill>
                            <a:srgbClr val="2A2118"/>
                          </a:solidFill>
                          <a:latin typeface="DM Sans"/>
                        </a:defRPr>
                      </a:pPr>
                      <a:r>
                        <a:t>Oct 04</a:t>
                      </a:r>
                    </a:p>
                  </a:txBody>
                  <a:tcPr marT="25400" marB="25400">
                    <a:solidFill>
                      <a:srgbClr val="FFFFFF"/>
                    </a:solidFill>
                  </a:tcPr>
                </a:tc>
                <a:tc>
                  <a:txBody>
                    <a:bodyPr/>
                    <a:lstStyle/>
                    <a:p>
                      <a:pPr>
                        <a:defRPr sz="900">
                          <a:solidFill>
                            <a:srgbClr val="2A2118"/>
                          </a:solidFill>
                          <a:latin typeface="DM Sans"/>
                        </a:defRPr>
                      </a:pPr>
                      <a:r>
                        <a:t>204</a:t>
                      </a:r>
                    </a:p>
                  </a:txBody>
                  <a:tcPr marT="25400" marB="25400">
                    <a:solidFill>
                      <a:srgbClr val="FFFFFF"/>
                    </a:solidFill>
                  </a:tcPr>
                </a:tc>
                <a:tc>
                  <a:txBody>
                    <a:bodyPr/>
                    <a:lstStyle/>
                    <a:p>
                      <a:pPr>
                        <a:defRPr sz="900">
                          <a:solidFill>
                            <a:srgbClr val="2A2118"/>
                          </a:solidFill>
                          <a:latin typeface="DM Sans"/>
                        </a:defRPr>
                      </a:pPr>
                      <a:r>
                        <a:t>9</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A classic French twist, done properly. There's a reason this style has never gone out of fashion. It's polished without trying too hard, elegant without being fussy, and it holds…</a:t>
                      </a:r>
                    </a:p>
                  </a:txBody>
                  <a:tcPr marT="25400" marB="25400">
                    <a:solidFill>
                      <a:srgbClr val="FAF7F4"/>
                    </a:solidFill>
                  </a:tcPr>
                </a:tc>
                <a:tc>
                  <a:txBody>
                    <a:bodyPr/>
                    <a:lstStyle/>
                    <a:p>
                      <a:pPr>
                        <a:defRPr sz="900">
                          <a:solidFill>
                            <a:srgbClr val="2A2118"/>
                          </a:solidFill>
                          <a:latin typeface="DM Sans"/>
                        </a:defRPr>
                      </a:pPr>
                      <a:r>
                        <a:t>Sep 13</a:t>
                      </a:r>
                    </a:p>
                  </a:txBody>
                  <a:tcPr marT="25400" marB="25400">
                    <a:solidFill>
                      <a:srgbClr val="FAF7F4"/>
                    </a:solidFill>
                  </a:tcPr>
                </a:tc>
                <a:tc>
                  <a:txBody>
                    <a:bodyPr/>
                    <a:lstStyle/>
                    <a:p>
                      <a:pPr>
                        <a:defRPr sz="900">
                          <a:solidFill>
                            <a:srgbClr val="2A2118"/>
                          </a:solidFill>
                          <a:latin typeface="DM Sans"/>
                        </a:defRPr>
                      </a:pPr>
                      <a:r>
                        <a:t>186</a:t>
                      </a:r>
                    </a:p>
                  </a:txBody>
                  <a:tcPr marT="25400" marB="25400">
                    <a:solidFill>
                      <a:srgbClr val="FAF7F4"/>
                    </a:solidFill>
                  </a:tcPr>
                </a:tc>
                <a:tc>
                  <a:txBody>
                    <a:bodyPr/>
                    <a:lstStyle/>
                    <a:p>
                      <a:pPr>
                        <a:defRPr sz="900">
                          <a:solidFill>
                            <a:srgbClr val="2A2118"/>
                          </a:solidFill>
                          <a:latin typeface="DM Sans"/>
                        </a:defRPr>
                      </a:pPr>
                      <a:r>
                        <a:t>3</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 Before ➡️ After ✨ From summer blonde to rich fall dimension 🍂🤎 Fall is all about rich tones, healthy hair, and low-maintenance luxury ✨ Ready for your seasonal refresh? DM us or…</a:t>
                      </a:r>
                    </a:p>
                  </a:txBody>
                  <a:tcPr marT="25400" marB="25400">
                    <a:solidFill>
                      <a:srgbClr val="FFFFFF"/>
                    </a:solidFill>
                  </a:tcPr>
                </a:tc>
                <a:tc>
                  <a:txBody>
                    <a:bodyPr/>
                    <a:lstStyle/>
                    <a:p>
                      <a:pPr>
                        <a:defRPr sz="900">
                          <a:solidFill>
                            <a:srgbClr val="2A2118"/>
                          </a:solidFill>
                          <a:latin typeface="DM Sans"/>
                        </a:defRPr>
                      </a:pPr>
                      <a:r>
                        <a:t>Oct 08</a:t>
                      </a:r>
                    </a:p>
                  </a:txBody>
                  <a:tcPr marT="25400" marB="25400">
                    <a:solidFill>
                      <a:srgbClr val="FFFFFF"/>
                    </a:solidFill>
                  </a:tcPr>
                </a:tc>
                <a:tc>
                  <a:txBody>
                    <a:bodyPr/>
                    <a:lstStyle/>
                    <a:p>
                      <a:pPr>
                        <a:defRPr sz="900">
                          <a:solidFill>
                            <a:srgbClr val="2A2118"/>
                          </a:solidFill>
                          <a:latin typeface="DM Sans"/>
                        </a:defRPr>
                      </a:pPr>
                      <a:r>
                        <a:t>145</a:t>
                      </a:r>
                    </a:p>
                  </a:txBody>
                  <a:tcPr marT="25400" marB="25400">
                    <a:solidFill>
                      <a:srgbClr val="FFFFFF"/>
                    </a:solidFill>
                  </a:tcPr>
                </a:tc>
                <a:tc>
                  <a:txBody>
                    <a:bodyPr/>
                    <a:lstStyle/>
                    <a:p>
                      <a:pPr>
                        <a:defRPr sz="900">
                          <a:solidFill>
                            <a:srgbClr val="2A2118"/>
                          </a:solidFill>
                          <a:latin typeface="DM Sans"/>
                        </a:defRPr>
                      </a:pPr>
                      <a:r>
                        <a:t>4</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POV: your hair looks so good the car becomes your photo studio 📸✨ Raleigh hair color that makes you want to take the long way home. Plus, big news: we're moving closer to downtown…</a:t>
                      </a:r>
                    </a:p>
                  </a:txBody>
                  <a:tcPr marT="25400" marB="25400">
                    <a:solidFill>
                      <a:srgbClr val="FAF7F4"/>
                    </a:solidFill>
                  </a:tcPr>
                </a:tc>
                <a:tc>
                  <a:txBody>
                    <a:bodyPr/>
                    <a:lstStyle/>
                    <a:p>
                      <a:pPr>
                        <a:defRPr sz="900">
                          <a:solidFill>
                            <a:srgbClr val="2A2118"/>
                          </a:solidFill>
                          <a:latin typeface="DM Sans"/>
                        </a:defRPr>
                      </a:pPr>
                      <a:r>
                        <a:t>Sep 27</a:t>
                      </a:r>
                    </a:p>
                  </a:txBody>
                  <a:tcPr marT="25400" marB="25400">
                    <a:solidFill>
                      <a:srgbClr val="FAF7F4"/>
                    </a:solidFill>
                  </a:tcPr>
                </a:tc>
                <a:tc>
                  <a:txBody>
                    <a:bodyPr/>
                    <a:lstStyle/>
                    <a:p>
                      <a:pPr>
                        <a:defRPr sz="900">
                          <a:solidFill>
                            <a:srgbClr val="2A2118"/>
                          </a:solidFill>
                          <a:latin typeface="DM Sans"/>
                        </a:defRPr>
                      </a:pPr>
                      <a:r>
                        <a:t>119</a:t>
                      </a:r>
                    </a:p>
                  </a:txBody>
                  <a:tcPr marT="25400" marB="25400">
                    <a:solidFill>
                      <a:srgbClr val="FAF7F4"/>
                    </a:solidFill>
                  </a:tcPr>
                </a:tc>
                <a:tc>
                  <a:txBody>
                    <a:bodyPr/>
                    <a:lstStyle/>
                    <a:p>
                      <a:pPr>
                        <a:defRPr sz="900">
                          <a:solidFill>
                            <a:srgbClr val="2A2118"/>
                          </a:solidFill>
                          <a:latin typeface="DM Sans"/>
                        </a:defRPr>
                      </a:pPr>
                      <a:r>
                        <a:t>4</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Miscellaneous Marketing Items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Marketing WINS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Last Month - Goals for September</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Diversify Instagram content — one post drove 60% of this period's total; publish more posts capable of carrying reach on their own rather than relying on a single standout. ✅</a:t>
            </a:r>
          </a:p>
          <a:p>
            <a:pPr algn="l" marL="228600" indent="-228600">
              <a:spcAft>
                <a:spcPts val="800"/>
              </a:spcAft>
              <a:buFont typeface="Arial"/>
              <a:buChar char="●"/>
            </a:pPr>
            <a:r>
              <a:rPr sz="1400" b="0">
                <a:solidFill>
                  <a:srgbClr val="2A2118"/>
                </a:solidFill>
                <a:latin typeface="DM Sans"/>
              </a:rPr>
              <a:t>Restore TikTok posting cadence — down 30% this period (7 vs. 10 posts). Aim for 10+ posts next period.</a:t>
            </a:r>
          </a:p>
          <a:p>
            <a:pPr algn="l" marL="228600" indent="-228600">
              <a:spcAft>
                <a:spcPts val="800"/>
              </a:spcAft>
              <a:buFont typeface="Arial"/>
              <a:buChar char="●"/>
            </a:pPr>
            <a:r>
              <a:rPr sz="1400" b="0">
                <a:solidFill>
                  <a:srgbClr val="2A2118"/>
                </a:solidFill>
                <a:latin typeface="DM Sans"/>
              </a:rPr>
              <a:t>Improve Facebook engagement quality — rate fell from 2.43% to 0.00% this period.</a:t>
            </a:r>
          </a:p>
          <a:p>
            <a:pPr algn="l" marL="228600" indent="-228600">
              <a:spcAft>
                <a:spcPts val="800"/>
              </a:spcAft>
              <a:buFont typeface="Arial"/>
              <a:buChar char="●"/>
            </a:pPr>
            <a:r>
              <a:rPr sz="1400" b="0">
                <a:solidFill>
                  <a:srgbClr val="2A2118"/>
                </a:solidFill>
                <a:latin typeface="DM Sans"/>
              </a:rPr>
              <a:t>Publish at least one piece of content spotlighting a Milbon Gold Line package with a clear booking CTA — e.g. a treatment before/after paired with the five-week result window — to drive add-on revenue.</a:t>
            </a:r>
          </a:p>
        </p:txBody>
      </p:sp>
      <p:sp>
        <p:nvSpPr>
          <p:cNvPr id="5" name="TextBox 4"/>
          <p:cNvSpPr txBox="1"/>
          <p:nvPr/>
        </p:nvSpPr>
        <p:spPr>
          <a:xfrm>
            <a:off x="5376672" y="2587752"/>
            <a:ext cx="3108960" cy="502920"/>
          </a:xfrm>
          <a:prstGeom prst="rect">
            <a:avLst/>
          </a:prstGeom>
          <a:noFill/>
        </p:spPr>
        <p:txBody>
          <a:bodyPr wrap="square">
            <a:spAutoFit/>
          </a:bodyPr>
          <a:lstStyle/>
          <a:p>
            <a:r>
              <a:rPr sz="1100" i="1">
                <a:solidFill>
                  <a:srgbClr val="6B5F55"/>
                </a:solidFill>
                <a:latin typeface="DM Sans"/>
              </a:rPr>
              <a:t>What else? Goals for Month? 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Next Month - Goals for November</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Maintain Instagram's current posting cadence and engagement level — no concerning trend this period; keep up the consistency next period.</a:t>
            </a:r>
          </a:p>
          <a:p>
            <a:pPr algn="l" marL="228600" indent="-228600">
              <a:spcAft>
                <a:spcPts val="800"/>
              </a:spcAft>
              <a:buFont typeface="Arial"/>
              <a:buChar char="●"/>
            </a:pPr>
            <a:r>
              <a:rPr sz="1400" b="0">
                <a:solidFill>
                  <a:srgbClr val="2A2118"/>
                </a:solidFill>
                <a:latin typeface="DM Sans"/>
              </a:rPr>
              <a:t>Maintain TikTok's current posting cadence and engagement level — no concerning trend this period; keep up the consistency next period.</a:t>
            </a:r>
          </a:p>
          <a:p>
            <a:pPr algn="l" marL="228600" indent="-228600">
              <a:spcAft>
                <a:spcPts val="800"/>
              </a:spcAft>
              <a:buFont typeface="Arial"/>
              <a:buChar char="●"/>
            </a:pPr>
            <a:r>
              <a:rPr sz="1400" b="0">
                <a:solidFill>
                  <a:srgbClr val="2A2118"/>
                </a:solidFill>
                <a:latin typeface="DM Sans"/>
              </a:rPr>
              <a:t>Restore Facebook posting cadence — down 25% this period (6 vs. 8 posts). Aim for 8+ posts next period.</a:t>
            </a:r>
          </a:p>
          <a:p>
            <a:pPr algn="l" marL="228600" indent="-228600">
              <a:spcAft>
                <a:spcPts val="800"/>
              </a:spcAft>
              <a:buFont typeface="Arial"/>
              <a:buChar char="●"/>
            </a:pPr>
            <a:r>
              <a:rPr sz="1400" b="0">
                <a:solidFill>
                  <a:srgbClr val="2A2118"/>
                </a:solidFill>
                <a:latin typeface="DM Sans"/>
              </a:rPr>
              <a:t>Publish at least one piece of content spotlighting a Milbon Gold Line package with a clear booking CTA — e.g. a treatment before/after paired with the five-week result window — to drive add-on revenue.</a:t>
            </a:r>
          </a:p>
          <a:p>
            <a:pPr algn="l" marL="228600" indent="-228600">
              <a:spcAft>
                <a:spcPts val="800"/>
              </a:spcAft>
              <a:buFont typeface="Arial"/>
              <a:buChar char="●"/>
            </a:pPr>
            <a:r>
              <a:rPr sz="1400" b="0">
                <a:solidFill>
                  <a:srgbClr val="2A2118"/>
                </a:solidFill>
                <a:latin typeface="DM Sans"/>
              </a:rPr>
              <a:t>Close the engagement gap on Facebook — trailing Instagram by 6.4 points (0.00% vs. 6.35%). Borrow whatever content approach is working on Instagram.</a:t>
            </a:r>
          </a:p>
        </p:txBody>
      </p:sp>
      <p:sp>
        <p:nvSpPr>
          <p:cNvPr id="5" name="TextBox 4"/>
          <p:cNvSpPr txBox="1"/>
          <p:nvPr/>
        </p:nvSpPr>
        <p:spPr>
          <a:xfrm>
            <a:off x="5376672" y="2587752"/>
            <a:ext cx="3108960" cy="502920"/>
          </a:xfrm>
          <a:prstGeom prst="rect">
            <a:avLst/>
          </a:prstGeom>
          <a:noFill/>
        </p:spPr>
        <p:txBody>
          <a:bodyPr wrap="square">
            <a:spAutoFit/>
          </a:bodyPr>
          <a:lstStyle/>
          <a:p>
            <a:r>
              <a:rPr sz="1100" i="1">
                <a:solidFill>
                  <a:srgbClr val="6B5F55"/>
                </a:solidFill>
                <a:latin typeface="DM Sans"/>
              </a:rPr>
              <a:t>What else? Goals for Month?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